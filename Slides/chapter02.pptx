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2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0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10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1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8"/>
  </p:notesMasterIdLst>
  <p:sldIdLst>
    <p:sldId id="430" r:id="rId2"/>
    <p:sldId id="425" r:id="rId3"/>
    <p:sldId id="407" r:id="rId4"/>
    <p:sldId id="408" r:id="rId5"/>
    <p:sldId id="409" r:id="rId6"/>
    <p:sldId id="410" r:id="rId7"/>
    <p:sldId id="414" r:id="rId8"/>
    <p:sldId id="411" r:id="rId9"/>
    <p:sldId id="412" r:id="rId10"/>
    <p:sldId id="413" r:id="rId11"/>
    <p:sldId id="415" r:id="rId12"/>
    <p:sldId id="494" r:id="rId13"/>
    <p:sldId id="335" r:id="rId14"/>
    <p:sldId id="341" r:id="rId15"/>
    <p:sldId id="342" r:id="rId16"/>
    <p:sldId id="423" r:id="rId17"/>
    <p:sldId id="344" r:id="rId18"/>
    <p:sldId id="345" r:id="rId19"/>
    <p:sldId id="424" r:id="rId20"/>
    <p:sldId id="418" r:id="rId21"/>
    <p:sldId id="419" r:id="rId22"/>
    <p:sldId id="422" r:id="rId23"/>
    <p:sldId id="530" r:id="rId24"/>
    <p:sldId id="287" r:id="rId25"/>
    <p:sldId id="420" r:id="rId26"/>
    <p:sldId id="421" r:id="rId27"/>
    <p:sldId id="495" r:id="rId28"/>
    <p:sldId id="537" r:id="rId29"/>
    <p:sldId id="538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99" r:id="rId41"/>
    <p:sldId id="357" r:id="rId42"/>
    <p:sldId id="400" r:id="rId43"/>
    <p:sldId id="360" r:id="rId44"/>
    <p:sldId id="361" r:id="rId45"/>
    <p:sldId id="362" r:id="rId46"/>
    <p:sldId id="363" r:id="rId47"/>
    <p:sldId id="364" r:id="rId48"/>
    <p:sldId id="365" r:id="rId49"/>
    <p:sldId id="496" r:id="rId50"/>
    <p:sldId id="372" r:id="rId51"/>
    <p:sldId id="373" r:id="rId52"/>
    <p:sldId id="539" r:id="rId53"/>
    <p:sldId id="374" r:id="rId54"/>
    <p:sldId id="375" r:id="rId55"/>
    <p:sldId id="497" r:id="rId56"/>
    <p:sldId id="377" r:id="rId57"/>
    <p:sldId id="378" r:id="rId58"/>
    <p:sldId id="379" r:id="rId59"/>
    <p:sldId id="380" r:id="rId60"/>
    <p:sldId id="381" r:id="rId61"/>
    <p:sldId id="382" r:id="rId62"/>
    <p:sldId id="383" r:id="rId63"/>
    <p:sldId id="384" r:id="rId64"/>
    <p:sldId id="385" r:id="rId65"/>
    <p:sldId id="387" r:id="rId66"/>
    <p:sldId id="388" r:id="rId67"/>
    <p:sldId id="389" r:id="rId68"/>
    <p:sldId id="390" r:id="rId69"/>
    <p:sldId id="391" r:id="rId70"/>
    <p:sldId id="392" r:id="rId71"/>
    <p:sldId id="393" r:id="rId72"/>
    <p:sldId id="429" r:id="rId73"/>
    <p:sldId id="428" r:id="rId74"/>
    <p:sldId id="405" r:id="rId75"/>
    <p:sldId id="404" r:id="rId76"/>
    <p:sldId id="406" r:id="rId77"/>
    <p:sldId id="396" r:id="rId78"/>
    <p:sldId id="498" r:id="rId79"/>
    <p:sldId id="540" r:id="rId80"/>
    <p:sldId id="536" r:id="rId81"/>
    <p:sldId id="334" r:id="rId82"/>
    <p:sldId id="455" r:id="rId83"/>
    <p:sldId id="337" r:id="rId84"/>
    <p:sldId id="338" r:id="rId85"/>
    <p:sldId id="339" r:id="rId86"/>
    <p:sldId id="340" r:id="rId87"/>
    <p:sldId id="456" r:id="rId88"/>
    <p:sldId id="439" r:id="rId89"/>
    <p:sldId id="343" r:id="rId90"/>
    <p:sldId id="457" r:id="rId91"/>
    <p:sldId id="458" r:id="rId92"/>
    <p:sldId id="346" r:id="rId93"/>
    <p:sldId id="459" r:id="rId94"/>
    <p:sldId id="460" r:id="rId95"/>
    <p:sldId id="461" r:id="rId96"/>
    <p:sldId id="462" r:id="rId97"/>
    <p:sldId id="463" r:id="rId98"/>
    <p:sldId id="499" r:id="rId99"/>
    <p:sldId id="465" r:id="rId100"/>
    <p:sldId id="466" r:id="rId101"/>
    <p:sldId id="467" r:id="rId102"/>
    <p:sldId id="468" r:id="rId103"/>
    <p:sldId id="469" r:id="rId104"/>
    <p:sldId id="358" r:id="rId105"/>
    <p:sldId id="359" r:id="rId106"/>
    <p:sldId id="470" r:id="rId107"/>
    <p:sldId id="471" r:id="rId108"/>
    <p:sldId id="472" r:id="rId109"/>
    <p:sldId id="473" r:id="rId110"/>
    <p:sldId id="442" r:id="rId111"/>
    <p:sldId id="500" r:id="rId112"/>
    <p:sldId id="447" r:id="rId113"/>
    <p:sldId id="448" r:id="rId114"/>
    <p:sldId id="449" r:id="rId115"/>
    <p:sldId id="450" r:id="rId116"/>
    <p:sldId id="475" r:id="rId117"/>
    <p:sldId id="501" r:id="rId118"/>
    <p:sldId id="476" r:id="rId119"/>
    <p:sldId id="366" r:id="rId120"/>
    <p:sldId id="367" r:id="rId121"/>
    <p:sldId id="368" r:id="rId122"/>
    <p:sldId id="369" r:id="rId123"/>
    <p:sldId id="370" r:id="rId124"/>
    <p:sldId id="371" r:id="rId125"/>
    <p:sldId id="477" r:id="rId126"/>
    <p:sldId id="478" r:id="rId127"/>
    <p:sldId id="479" r:id="rId128"/>
    <p:sldId id="480" r:id="rId129"/>
    <p:sldId id="376" r:id="rId130"/>
    <p:sldId id="481" r:id="rId131"/>
    <p:sldId id="386" r:id="rId132"/>
    <p:sldId id="482" r:id="rId133"/>
    <p:sldId id="483" r:id="rId134"/>
    <p:sldId id="484" r:id="rId135"/>
    <p:sldId id="485" r:id="rId136"/>
    <p:sldId id="486" r:id="rId137"/>
    <p:sldId id="487" r:id="rId138"/>
    <p:sldId id="401" r:id="rId139"/>
    <p:sldId id="493" r:id="rId140"/>
    <p:sldId id="525" r:id="rId141"/>
    <p:sldId id="502" r:id="rId142"/>
    <p:sldId id="503" r:id="rId143"/>
    <p:sldId id="504" r:id="rId144"/>
    <p:sldId id="505" r:id="rId145"/>
    <p:sldId id="506" r:id="rId146"/>
    <p:sldId id="507" r:id="rId147"/>
    <p:sldId id="508" r:id="rId148"/>
    <p:sldId id="509" r:id="rId149"/>
    <p:sldId id="510" r:id="rId150"/>
    <p:sldId id="511" r:id="rId151"/>
    <p:sldId id="512" r:id="rId152"/>
    <p:sldId id="513" r:id="rId153"/>
    <p:sldId id="416" r:id="rId154"/>
    <p:sldId id="514" r:id="rId155"/>
    <p:sldId id="515" r:id="rId156"/>
    <p:sldId id="516" r:id="rId157"/>
    <p:sldId id="517" r:id="rId158"/>
    <p:sldId id="518" r:id="rId159"/>
    <p:sldId id="519" r:id="rId160"/>
    <p:sldId id="520" r:id="rId161"/>
    <p:sldId id="521" r:id="rId162"/>
    <p:sldId id="526" r:id="rId163"/>
    <p:sldId id="426" r:id="rId164"/>
    <p:sldId id="427" r:id="rId165"/>
    <p:sldId id="522" r:id="rId166"/>
    <p:sldId id="523" r:id="rId167"/>
    <p:sldId id="524" r:id="rId168"/>
    <p:sldId id="431" r:id="rId169"/>
    <p:sldId id="432" r:id="rId170"/>
    <p:sldId id="433" r:id="rId171"/>
    <p:sldId id="434" r:id="rId172"/>
    <p:sldId id="527" r:id="rId173"/>
    <p:sldId id="436" r:id="rId174"/>
    <p:sldId id="437" r:id="rId175"/>
    <p:sldId id="438" r:id="rId176"/>
    <p:sldId id="332" r:id="rId177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3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12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ableStyles" Target="tableStyle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08T18:25:01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22789 3793 6654 0,'0'0'359'0,"0"0"-277"16,0 0 61-16,0 0-111 15,0 0-32-15,0 0-162 0,0 0-8 16,0 0-146-16,0 0-1041 0</inkml:trace>
  <inkml:trace contextRef="#ctx0" brushRef="#br0" timeOffset="1156.08">24567 3851 7172 0,'0'0'257'0,"0"0"-88"16,0 0-53-16,0 0-69 0,0 0-47 16,0 0-11-16,0 0-63 0,0 0-65 15,0 0-291-15,0 0-2661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15T17:42:46.54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11916 13362 17 0,'0'0'0'0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9543F3-0831-4635-AD48-8E4410E96487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BBDC37B-729A-4393-B484-407F8F0B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1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5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2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6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36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04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57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FB9FC-93A1-4D9B-802C-BA99443E9032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9919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3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11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89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37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81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38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13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35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46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93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71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88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89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99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4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955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95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178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hardness</a:t>
            </a:r>
            <a:r>
              <a:rPr lang="en-US" baseline="0" dirty="0"/>
              <a:t> vs. randomness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33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98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71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46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559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66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897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357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780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208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667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561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65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13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0ECB0-4EB7-4C82-B74F-B25CEEB9B3FB}" type="slidenum">
              <a:rPr lang="it-IT" smtClean="0"/>
              <a:pPr/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06805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25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141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586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895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027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053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6631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751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100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525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594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71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34651-70A9-45C6-B731-CF08A1C4CD9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15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34651-70A9-45C6-B731-CF08A1C4CD95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163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CC71-148F-4D59-A62A-A6E6F1DFD9A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670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3330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695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203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600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515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01D60-B0F8-405B-BCBC-FFDCBDDCACC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97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820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855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642BEB-0B4E-43FA-9364-1939E84C8691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7229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608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1125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631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822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92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36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2775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740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5286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8247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93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210157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94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08165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95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75278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69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3809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0919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1589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056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2703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8659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7472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BD388-4146-4D41-AD38-26A5F5D85CAA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9535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0749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0D5D6-DA2C-4A0F-992A-49FCFB60F028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3002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1198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BD388-4146-4D41-AD38-26A5F5D85CAA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207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5425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517F6-136D-4FC4-A285-505CEA1809E4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0312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6614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9688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517F6-136D-4FC4-A285-505CEA1809E4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956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6798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818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517F6-136D-4FC4-A285-505CEA1809E4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3488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6DAE4-A1B9-4BF4-8D31-5B397891D409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5612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1127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7590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3616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125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1496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3577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5288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2927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1505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52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8228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9629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5028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8B9E4D-9EB2-4CD6-A883-260273BD05D9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916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7470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3883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F66F1-DE48-40B0-BB6B-0EE77A73D478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7727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144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8098042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147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418712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747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2930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07C8E-37DE-4EB2-8113-124839A949E8}" type="slidenum">
              <a:rPr lang="it-IT" smtClean="0"/>
              <a:pPr/>
              <a:t>159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42543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1285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3730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376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3201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823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460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15563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1410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92398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1BC9F-79EA-429A-BC5C-203BD211B4AF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451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9073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BD388-4146-4D41-AD38-26A5F5D85CAA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1343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966D703-4929-451F-99F4-8859751E62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2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FABD3-5AFF-4669-BE74-12D79B49C2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w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wmf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910.png"/><Relationship Id="rId4" Type="http://schemas.openxmlformats.org/officeDocument/2006/relationships/image" Target="../media/image25.png"/><Relationship Id="rId9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46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.wmf"/><Relationship Id="rId7" Type="http://schemas.openxmlformats.org/officeDocument/2006/relationships/image" Target="../media/image46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.wmf"/><Relationship Id="rId7" Type="http://schemas.openxmlformats.org/officeDocument/2006/relationships/image" Target="../media/image46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46.wmf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3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0.png"/><Relationship Id="rId4" Type="http://schemas.openxmlformats.org/officeDocument/2006/relationships/customXml" Target="../ink/ink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9" Type="http://schemas.openxmlformats.org/officeDocument/2006/relationships/image" Target="../media/image3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3.wmf"/><Relationship Id="rId4" Type="http://schemas.openxmlformats.org/officeDocument/2006/relationships/image" Target="../media/image11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c4nomore.com/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142.wmf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wmf"/><Relationship Id="rId11" Type="http://schemas.openxmlformats.org/officeDocument/2006/relationships/image" Target="../media/image148.png"/><Relationship Id="rId5" Type="http://schemas.openxmlformats.org/officeDocument/2006/relationships/image" Target="../media/image84.wmf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3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15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3" Type="http://schemas.openxmlformats.org/officeDocument/2006/relationships/image" Target="../media/image5.wmf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46.wmf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77.png"/><Relationship Id="rId3" Type="http://schemas.openxmlformats.org/officeDocument/2006/relationships/image" Target="../media/image5.wmf"/><Relationship Id="rId7" Type="http://schemas.openxmlformats.org/officeDocument/2006/relationships/image" Target="../media/image180.png"/><Relationship Id="rId12" Type="http://schemas.openxmlformats.org/officeDocument/2006/relationships/image" Target="../media/image17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5" Type="http://schemas.openxmlformats.org/officeDocument/2006/relationships/image" Target="../media/image183.png"/><Relationship Id="rId10" Type="http://schemas.openxmlformats.org/officeDocument/2006/relationships/image" Target="../media/image182.png"/><Relationship Id="rId4" Type="http://schemas.openxmlformats.org/officeDocument/2006/relationships/image" Target="../media/image178.png"/><Relationship Id="rId9" Type="http://schemas.openxmlformats.org/officeDocument/2006/relationships/image" Target="../media/image173.png"/><Relationship Id="rId14" Type="http://schemas.openxmlformats.org/officeDocument/2006/relationships/image" Target="../media/image46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5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5.wmf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9" Type="http://schemas.openxmlformats.org/officeDocument/2006/relationships/image" Target="../media/image19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42.wmf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5" Type="http://schemas.openxmlformats.org/officeDocument/2006/relationships/image" Target="../media/image197.png"/><Relationship Id="rId10" Type="http://schemas.openxmlformats.org/officeDocument/2006/relationships/image" Target="../media/image202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3.png"/><Relationship Id="rId3" Type="http://schemas.openxmlformats.org/officeDocument/2006/relationships/image" Target="../media/image142.wmf"/><Relationship Id="rId7" Type="http://schemas.openxmlformats.org/officeDocument/2006/relationships/image" Target="../media/image208.png"/><Relationship Id="rId12" Type="http://schemas.openxmlformats.org/officeDocument/2006/relationships/image" Target="../media/image20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3" Type="http://schemas.openxmlformats.org/officeDocument/2006/relationships/image" Target="../media/image142.wmf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10" Type="http://schemas.openxmlformats.org/officeDocument/2006/relationships/image" Target="../media/image22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228.png"/><Relationship Id="rId7" Type="http://schemas.openxmlformats.org/officeDocument/2006/relationships/image" Target="../media/image23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230.png"/><Relationship Id="rId4" Type="http://schemas.openxmlformats.org/officeDocument/2006/relationships/image" Target="../media/image229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18" Type="http://schemas.openxmlformats.org/officeDocument/2006/relationships/image" Target="../media/image249.png"/><Relationship Id="rId3" Type="http://schemas.openxmlformats.org/officeDocument/2006/relationships/image" Target="../media/image234.png"/><Relationship Id="rId21" Type="http://schemas.openxmlformats.org/officeDocument/2006/relationships/image" Target="../media/image252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" Type="http://schemas.openxmlformats.org/officeDocument/2006/relationships/notesSlide" Target="../notesSlides/notesSlide85.xml"/><Relationship Id="rId16" Type="http://schemas.openxmlformats.org/officeDocument/2006/relationships/image" Target="../media/image247.png"/><Relationship Id="rId20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236.png"/><Relationship Id="rId15" Type="http://schemas.openxmlformats.org/officeDocument/2006/relationships/image" Target="../media/image246.png"/><Relationship Id="rId23" Type="http://schemas.openxmlformats.org/officeDocument/2006/relationships/image" Target="../media/image254.png"/><Relationship Id="rId10" Type="http://schemas.openxmlformats.org/officeDocument/2006/relationships/image" Target="../media/image241.png"/><Relationship Id="rId19" Type="http://schemas.openxmlformats.org/officeDocument/2006/relationships/image" Target="../media/image250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Relationship Id="rId22" Type="http://schemas.openxmlformats.org/officeDocument/2006/relationships/image" Target="../media/image25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6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13" Type="http://schemas.openxmlformats.org/officeDocument/2006/relationships/image" Target="../media/image267.png"/><Relationship Id="rId3" Type="http://schemas.openxmlformats.org/officeDocument/2006/relationships/image" Target="../media/image257.png"/><Relationship Id="rId7" Type="http://schemas.openxmlformats.org/officeDocument/2006/relationships/image" Target="../media/image261.png"/><Relationship Id="rId12" Type="http://schemas.openxmlformats.org/officeDocument/2006/relationships/image" Target="../media/image26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65.png"/><Relationship Id="rId5" Type="http://schemas.openxmlformats.org/officeDocument/2006/relationships/image" Target="../media/image259.png"/><Relationship Id="rId10" Type="http://schemas.openxmlformats.org/officeDocument/2006/relationships/image" Target="../media/image264.png"/><Relationship Id="rId4" Type="http://schemas.openxmlformats.org/officeDocument/2006/relationships/image" Target="../media/image258.png"/><Relationship Id="rId9" Type="http://schemas.openxmlformats.org/officeDocument/2006/relationships/image" Target="../media/image263.png"/><Relationship Id="rId14" Type="http://schemas.openxmlformats.org/officeDocument/2006/relationships/image" Target="../media/image268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13" Type="http://schemas.openxmlformats.org/officeDocument/2006/relationships/image" Target="../media/image279.png"/><Relationship Id="rId3" Type="http://schemas.openxmlformats.org/officeDocument/2006/relationships/image" Target="../media/image269.png"/><Relationship Id="rId7" Type="http://schemas.openxmlformats.org/officeDocument/2006/relationships/image" Target="../media/image273.png"/><Relationship Id="rId12" Type="http://schemas.openxmlformats.org/officeDocument/2006/relationships/image" Target="../media/image27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11" Type="http://schemas.openxmlformats.org/officeDocument/2006/relationships/image" Target="../media/image277.png"/><Relationship Id="rId5" Type="http://schemas.openxmlformats.org/officeDocument/2006/relationships/image" Target="../media/image271.png"/><Relationship Id="rId10" Type="http://schemas.openxmlformats.org/officeDocument/2006/relationships/image" Target="../media/image276.png"/><Relationship Id="rId4" Type="http://schemas.openxmlformats.org/officeDocument/2006/relationships/image" Target="../media/image270.png"/><Relationship Id="rId9" Type="http://schemas.openxmlformats.org/officeDocument/2006/relationships/image" Target="../media/image275.png"/><Relationship Id="rId14" Type="http://schemas.openxmlformats.org/officeDocument/2006/relationships/image" Target="../media/image28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3.wmf"/><Relationship Id="rId4" Type="http://schemas.openxmlformats.org/officeDocument/2006/relationships/image" Target="../media/image282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Relationship Id="rId5" Type="http://schemas.openxmlformats.org/officeDocument/2006/relationships/image" Target="../media/image286.png"/><Relationship Id="rId4" Type="http://schemas.openxmlformats.org/officeDocument/2006/relationships/image" Target="../media/image285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png"/><Relationship Id="rId13" Type="http://schemas.openxmlformats.org/officeDocument/2006/relationships/image" Target="../media/image298.png"/><Relationship Id="rId3" Type="http://schemas.openxmlformats.org/officeDocument/2006/relationships/image" Target="../media/image288.png"/><Relationship Id="rId7" Type="http://schemas.openxmlformats.org/officeDocument/2006/relationships/image" Target="../media/image292.png"/><Relationship Id="rId12" Type="http://schemas.openxmlformats.org/officeDocument/2006/relationships/image" Target="../media/image29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11" Type="http://schemas.openxmlformats.org/officeDocument/2006/relationships/image" Target="../media/image296.png"/><Relationship Id="rId5" Type="http://schemas.openxmlformats.org/officeDocument/2006/relationships/image" Target="../media/image290.png"/><Relationship Id="rId15" Type="http://schemas.openxmlformats.org/officeDocument/2006/relationships/image" Target="../media/image300.png"/><Relationship Id="rId10" Type="http://schemas.openxmlformats.org/officeDocument/2006/relationships/image" Target="../media/image295.png"/><Relationship Id="rId4" Type="http://schemas.openxmlformats.org/officeDocument/2006/relationships/image" Target="../media/image289.png"/><Relationship Id="rId9" Type="http://schemas.openxmlformats.org/officeDocument/2006/relationships/image" Target="../media/image294.png"/><Relationship Id="rId14" Type="http://schemas.openxmlformats.org/officeDocument/2006/relationships/image" Target="../media/image29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7" Type="http://schemas.openxmlformats.org/officeDocument/2006/relationships/image" Target="../media/image30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5" Type="http://schemas.openxmlformats.org/officeDocument/2006/relationships/image" Target="../media/image294.png"/><Relationship Id="rId4" Type="http://schemas.openxmlformats.org/officeDocument/2006/relationships/image" Target="../media/image29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3.wmf"/><Relationship Id="rId4" Type="http://schemas.openxmlformats.org/officeDocument/2006/relationships/image" Target="../media/image282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16.png"/><Relationship Id="rId3" Type="http://schemas.openxmlformats.org/officeDocument/2006/relationships/image" Target="../media/image306.png"/><Relationship Id="rId7" Type="http://schemas.openxmlformats.org/officeDocument/2006/relationships/image" Target="../media/image310.png"/><Relationship Id="rId12" Type="http://schemas.openxmlformats.org/officeDocument/2006/relationships/image" Target="../media/image315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.png"/><Relationship Id="rId11" Type="http://schemas.openxmlformats.org/officeDocument/2006/relationships/image" Target="../media/image314.png"/><Relationship Id="rId5" Type="http://schemas.openxmlformats.org/officeDocument/2006/relationships/image" Target="../media/image308.png"/><Relationship Id="rId10" Type="http://schemas.openxmlformats.org/officeDocument/2006/relationships/image" Target="../media/image313.png"/><Relationship Id="rId4" Type="http://schemas.openxmlformats.org/officeDocument/2006/relationships/image" Target="../media/image307.png"/><Relationship Id="rId9" Type="http://schemas.openxmlformats.org/officeDocument/2006/relationships/image" Target="../media/image312.png"/><Relationship Id="rId14" Type="http://schemas.openxmlformats.org/officeDocument/2006/relationships/image" Target="../media/image317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8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32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4" Type="http://schemas.openxmlformats.org/officeDocument/2006/relationships/image" Target="../media/image32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search.ibm.com/journal/rd/383/coppersmith.pdf" TargetMode="External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35.png"/><Relationship Id="rId18" Type="http://schemas.openxmlformats.org/officeDocument/2006/relationships/image" Target="../media/image340.png"/><Relationship Id="rId3" Type="http://schemas.openxmlformats.org/officeDocument/2006/relationships/tags" Target="../tags/tag3.xml"/><Relationship Id="rId21" Type="http://schemas.openxmlformats.org/officeDocument/2006/relationships/image" Target="../media/image343.png"/><Relationship Id="rId7" Type="http://schemas.openxmlformats.org/officeDocument/2006/relationships/image" Target="../media/image329.png"/><Relationship Id="rId12" Type="http://schemas.openxmlformats.org/officeDocument/2006/relationships/image" Target="../media/image334.png"/><Relationship Id="rId17" Type="http://schemas.openxmlformats.org/officeDocument/2006/relationships/image" Target="../media/image339.png"/><Relationship Id="rId2" Type="http://schemas.openxmlformats.org/officeDocument/2006/relationships/tags" Target="../tags/tag2.xml"/><Relationship Id="rId16" Type="http://schemas.openxmlformats.org/officeDocument/2006/relationships/image" Target="../media/image338.png"/><Relationship Id="rId20" Type="http://schemas.openxmlformats.org/officeDocument/2006/relationships/image" Target="../media/image342.png"/><Relationship Id="rId1" Type="http://schemas.openxmlformats.org/officeDocument/2006/relationships/tags" Target="../tags/tag1.xml"/><Relationship Id="rId6" Type="http://schemas.openxmlformats.org/officeDocument/2006/relationships/image" Target="../media/image328.png"/><Relationship Id="rId11" Type="http://schemas.openxmlformats.org/officeDocument/2006/relationships/image" Target="../media/image333.png"/><Relationship Id="rId5" Type="http://schemas.openxmlformats.org/officeDocument/2006/relationships/notesSlide" Target="../notesSlides/notesSlide109.xml"/><Relationship Id="rId15" Type="http://schemas.openxmlformats.org/officeDocument/2006/relationships/image" Target="../media/image337.png"/><Relationship Id="rId10" Type="http://schemas.openxmlformats.org/officeDocument/2006/relationships/image" Target="../media/image332.png"/><Relationship Id="rId19" Type="http://schemas.openxmlformats.org/officeDocument/2006/relationships/image" Target="../media/image341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31.png"/><Relationship Id="rId14" Type="http://schemas.openxmlformats.org/officeDocument/2006/relationships/image" Target="../media/image336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13" Type="http://schemas.openxmlformats.org/officeDocument/2006/relationships/image" Target="../media/image35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45.png"/><Relationship Id="rId12" Type="http://schemas.openxmlformats.org/officeDocument/2006/relationships/image" Target="../media/image350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29.png"/><Relationship Id="rId11" Type="http://schemas.openxmlformats.org/officeDocument/2006/relationships/image" Target="../media/image349.png"/><Relationship Id="rId5" Type="http://schemas.openxmlformats.org/officeDocument/2006/relationships/image" Target="../media/image344.png"/><Relationship Id="rId10" Type="http://schemas.openxmlformats.org/officeDocument/2006/relationships/image" Target="../media/image348.png"/><Relationship Id="rId4" Type="http://schemas.openxmlformats.org/officeDocument/2006/relationships/notesSlide" Target="../notesSlides/notesSlide110.xml"/><Relationship Id="rId9" Type="http://schemas.openxmlformats.org/officeDocument/2006/relationships/image" Target="../media/image347.png"/><Relationship Id="rId14" Type="http://schemas.openxmlformats.org/officeDocument/2006/relationships/image" Target="../media/image352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1.xml"/><Relationship Id="rId13" Type="http://schemas.openxmlformats.org/officeDocument/2006/relationships/image" Target="../media/image356.png"/><Relationship Id="rId18" Type="http://schemas.openxmlformats.org/officeDocument/2006/relationships/image" Target="../media/image361.png"/><Relationship Id="rId26" Type="http://schemas.openxmlformats.org/officeDocument/2006/relationships/image" Target="../media/image369.png"/><Relationship Id="rId3" Type="http://schemas.openxmlformats.org/officeDocument/2006/relationships/tags" Target="../tags/tag8.xml"/><Relationship Id="rId21" Type="http://schemas.openxmlformats.org/officeDocument/2006/relationships/image" Target="../media/image364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55.png"/><Relationship Id="rId17" Type="http://schemas.openxmlformats.org/officeDocument/2006/relationships/image" Target="../media/image360.png"/><Relationship Id="rId25" Type="http://schemas.openxmlformats.org/officeDocument/2006/relationships/image" Target="../media/image368.png"/><Relationship Id="rId2" Type="http://schemas.openxmlformats.org/officeDocument/2006/relationships/tags" Target="../tags/tag7.xml"/><Relationship Id="rId16" Type="http://schemas.openxmlformats.org/officeDocument/2006/relationships/image" Target="../media/image359.png"/><Relationship Id="rId20" Type="http://schemas.openxmlformats.org/officeDocument/2006/relationships/image" Target="../media/image363.png"/><Relationship Id="rId29" Type="http://schemas.openxmlformats.org/officeDocument/2006/relationships/image" Target="../media/image372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329.png"/><Relationship Id="rId24" Type="http://schemas.openxmlformats.org/officeDocument/2006/relationships/image" Target="../media/image367.png"/><Relationship Id="rId5" Type="http://schemas.openxmlformats.org/officeDocument/2006/relationships/tags" Target="../tags/tag10.xml"/><Relationship Id="rId15" Type="http://schemas.openxmlformats.org/officeDocument/2006/relationships/image" Target="../media/image358.png"/><Relationship Id="rId23" Type="http://schemas.openxmlformats.org/officeDocument/2006/relationships/image" Target="../media/image366.png"/><Relationship Id="rId28" Type="http://schemas.openxmlformats.org/officeDocument/2006/relationships/image" Target="../media/image371.png"/><Relationship Id="rId10" Type="http://schemas.openxmlformats.org/officeDocument/2006/relationships/image" Target="../media/image354.png"/><Relationship Id="rId19" Type="http://schemas.openxmlformats.org/officeDocument/2006/relationships/image" Target="../media/image362.png"/><Relationship Id="rId31" Type="http://schemas.openxmlformats.org/officeDocument/2006/relationships/image" Target="../media/image374.png"/><Relationship Id="rId4" Type="http://schemas.openxmlformats.org/officeDocument/2006/relationships/tags" Target="../tags/tag9.xml"/><Relationship Id="rId9" Type="http://schemas.openxmlformats.org/officeDocument/2006/relationships/image" Target="../media/image353.png"/><Relationship Id="rId14" Type="http://schemas.openxmlformats.org/officeDocument/2006/relationships/image" Target="../media/image357.png"/><Relationship Id="rId22" Type="http://schemas.openxmlformats.org/officeDocument/2006/relationships/image" Target="../media/image365.png"/><Relationship Id="rId27" Type="http://schemas.openxmlformats.org/officeDocument/2006/relationships/image" Target="../media/image370.png"/><Relationship Id="rId30" Type="http://schemas.openxmlformats.org/officeDocument/2006/relationships/image" Target="../media/image373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2.xml"/><Relationship Id="rId13" Type="http://schemas.openxmlformats.org/officeDocument/2006/relationships/image" Target="../media/image355.png"/><Relationship Id="rId18" Type="http://schemas.openxmlformats.org/officeDocument/2006/relationships/image" Target="../media/image360.png"/><Relationship Id="rId26" Type="http://schemas.openxmlformats.org/officeDocument/2006/relationships/image" Target="../media/image373.png"/><Relationship Id="rId3" Type="http://schemas.openxmlformats.org/officeDocument/2006/relationships/tags" Target="../tags/tag14.xml"/><Relationship Id="rId21" Type="http://schemas.openxmlformats.org/officeDocument/2006/relationships/image" Target="../media/image363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54.png"/><Relationship Id="rId17" Type="http://schemas.openxmlformats.org/officeDocument/2006/relationships/image" Target="../media/image359.png"/><Relationship Id="rId25" Type="http://schemas.openxmlformats.org/officeDocument/2006/relationships/image" Target="../media/image370.png"/><Relationship Id="rId2" Type="http://schemas.openxmlformats.org/officeDocument/2006/relationships/tags" Target="../tags/tag13.xml"/><Relationship Id="rId16" Type="http://schemas.openxmlformats.org/officeDocument/2006/relationships/image" Target="../media/image358.png"/><Relationship Id="rId20" Type="http://schemas.openxmlformats.org/officeDocument/2006/relationships/image" Target="../media/image362.png"/><Relationship Id="rId29" Type="http://schemas.openxmlformats.org/officeDocument/2006/relationships/image" Target="../media/image377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353.png"/><Relationship Id="rId24" Type="http://schemas.openxmlformats.org/officeDocument/2006/relationships/image" Target="../media/image369.png"/><Relationship Id="rId5" Type="http://schemas.openxmlformats.org/officeDocument/2006/relationships/tags" Target="../tags/tag16.xml"/><Relationship Id="rId15" Type="http://schemas.openxmlformats.org/officeDocument/2006/relationships/image" Target="../media/image357.png"/><Relationship Id="rId23" Type="http://schemas.openxmlformats.org/officeDocument/2006/relationships/image" Target="../media/image366.png"/><Relationship Id="rId28" Type="http://schemas.openxmlformats.org/officeDocument/2006/relationships/image" Target="../media/image376.png"/><Relationship Id="rId10" Type="http://schemas.openxmlformats.org/officeDocument/2006/relationships/image" Target="../media/image329.png"/><Relationship Id="rId19" Type="http://schemas.openxmlformats.org/officeDocument/2006/relationships/image" Target="../media/image361.png"/><Relationship Id="rId31" Type="http://schemas.openxmlformats.org/officeDocument/2006/relationships/image" Target="../media/image372.png"/><Relationship Id="rId4" Type="http://schemas.openxmlformats.org/officeDocument/2006/relationships/tags" Target="../tags/tag15.xml"/><Relationship Id="rId9" Type="http://schemas.openxmlformats.org/officeDocument/2006/relationships/image" Target="../media/image375.png"/><Relationship Id="rId14" Type="http://schemas.openxmlformats.org/officeDocument/2006/relationships/image" Target="../media/image356.png"/><Relationship Id="rId22" Type="http://schemas.openxmlformats.org/officeDocument/2006/relationships/image" Target="../media/image365.png"/><Relationship Id="rId27" Type="http://schemas.openxmlformats.org/officeDocument/2006/relationships/image" Target="../media/image374.png"/><Relationship Id="rId30" Type="http://schemas.openxmlformats.org/officeDocument/2006/relationships/image" Target="../media/image371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35.png"/><Relationship Id="rId18" Type="http://schemas.openxmlformats.org/officeDocument/2006/relationships/image" Target="../media/image381.png"/><Relationship Id="rId3" Type="http://schemas.openxmlformats.org/officeDocument/2006/relationships/tags" Target="../tags/tag20.xml"/><Relationship Id="rId7" Type="http://schemas.openxmlformats.org/officeDocument/2006/relationships/image" Target="../media/image329.png"/><Relationship Id="rId12" Type="http://schemas.openxmlformats.org/officeDocument/2006/relationships/image" Target="../media/image334.png"/><Relationship Id="rId17" Type="http://schemas.openxmlformats.org/officeDocument/2006/relationships/image" Target="../media/image380.png"/><Relationship Id="rId2" Type="http://schemas.openxmlformats.org/officeDocument/2006/relationships/tags" Target="../tags/tag19.xml"/><Relationship Id="rId16" Type="http://schemas.openxmlformats.org/officeDocument/2006/relationships/image" Target="../media/image379.png"/><Relationship Id="rId20" Type="http://schemas.openxmlformats.org/officeDocument/2006/relationships/image" Target="../media/image383.png"/><Relationship Id="rId1" Type="http://schemas.openxmlformats.org/officeDocument/2006/relationships/tags" Target="../tags/tag18.xml"/><Relationship Id="rId6" Type="http://schemas.openxmlformats.org/officeDocument/2006/relationships/image" Target="../media/image328.png"/><Relationship Id="rId11" Type="http://schemas.openxmlformats.org/officeDocument/2006/relationships/image" Target="../media/image333.png"/><Relationship Id="rId5" Type="http://schemas.openxmlformats.org/officeDocument/2006/relationships/notesSlide" Target="../notesSlides/notesSlide113.xml"/><Relationship Id="rId15" Type="http://schemas.openxmlformats.org/officeDocument/2006/relationships/image" Target="../media/image378.png"/><Relationship Id="rId10" Type="http://schemas.openxmlformats.org/officeDocument/2006/relationships/image" Target="../media/image332.png"/><Relationship Id="rId19" Type="http://schemas.openxmlformats.org/officeDocument/2006/relationships/image" Target="../media/image38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31.png"/><Relationship Id="rId14" Type="http://schemas.openxmlformats.org/officeDocument/2006/relationships/image" Target="../media/image33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7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jpe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2.png"/><Relationship Id="rId7" Type="http://schemas.openxmlformats.org/officeDocument/2006/relationships/image" Target="../media/image396.png"/><Relationship Id="rId12" Type="http://schemas.openxmlformats.org/officeDocument/2006/relationships/image" Target="../media/image401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5.png"/><Relationship Id="rId11" Type="http://schemas.openxmlformats.org/officeDocument/2006/relationships/image" Target="../media/image400.png"/><Relationship Id="rId5" Type="http://schemas.openxmlformats.org/officeDocument/2006/relationships/image" Target="../media/image394.png"/><Relationship Id="rId10" Type="http://schemas.openxmlformats.org/officeDocument/2006/relationships/image" Target="../media/image399.png"/><Relationship Id="rId4" Type="http://schemas.openxmlformats.org/officeDocument/2006/relationships/image" Target="../media/image393.png"/><Relationship Id="rId9" Type="http://schemas.openxmlformats.org/officeDocument/2006/relationships/image" Target="../media/image398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png"/><Relationship Id="rId13" Type="http://schemas.openxmlformats.org/officeDocument/2006/relationships/image" Target="../media/image412.png"/><Relationship Id="rId18" Type="http://schemas.openxmlformats.org/officeDocument/2006/relationships/image" Target="../media/image417.png"/><Relationship Id="rId3" Type="http://schemas.openxmlformats.org/officeDocument/2006/relationships/image" Target="../media/image402.png"/><Relationship Id="rId21" Type="http://schemas.openxmlformats.org/officeDocument/2006/relationships/image" Target="../media/image420.png"/><Relationship Id="rId7" Type="http://schemas.openxmlformats.org/officeDocument/2006/relationships/image" Target="../media/image406.png"/><Relationship Id="rId12" Type="http://schemas.openxmlformats.org/officeDocument/2006/relationships/image" Target="../media/image411.png"/><Relationship Id="rId17" Type="http://schemas.openxmlformats.org/officeDocument/2006/relationships/image" Target="../media/image416.png"/><Relationship Id="rId2" Type="http://schemas.openxmlformats.org/officeDocument/2006/relationships/notesSlide" Target="../notesSlides/notesSlide120.xml"/><Relationship Id="rId16" Type="http://schemas.openxmlformats.org/officeDocument/2006/relationships/image" Target="../media/image415.png"/><Relationship Id="rId20" Type="http://schemas.openxmlformats.org/officeDocument/2006/relationships/image" Target="../media/image4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5.png"/><Relationship Id="rId11" Type="http://schemas.openxmlformats.org/officeDocument/2006/relationships/image" Target="../media/image410.png"/><Relationship Id="rId5" Type="http://schemas.openxmlformats.org/officeDocument/2006/relationships/image" Target="../media/image404.png"/><Relationship Id="rId15" Type="http://schemas.openxmlformats.org/officeDocument/2006/relationships/image" Target="../media/image414.png"/><Relationship Id="rId10" Type="http://schemas.openxmlformats.org/officeDocument/2006/relationships/image" Target="../media/image409.png"/><Relationship Id="rId19" Type="http://schemas.openxmlformats.org/officeDocument/2006/relationships/image" Target="../media/image418.png"/><Relationship Id="rId4" Type="http://schemas.openxmlformats.org/officeDocument/2006/relationships/image" Target="../media/image403.png"/><Relationship Id="rId9" Type="http://schemas.openxmlformats.org/officeDocument/2006/relationships/image" Target="../media/image408.png"/><Relationship Id="rId14" Type="http://schemas.openxmlformats.org/officeDocument/2006/relationships/image" Target="../media/image413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2.png"/><Relationship Id="rId7" Type="http://schemas.openxmlformats.org/officeDocument/2006/relationships/image" Target="../media/image426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5" Type="http://schemas.openxmlformats.org/officeDocument/2006/relationships/image" Target="../media/image424.png"/><Relationship Id="rId4" Type="http://schemas.openxmlformats.org/officeDocument/2006/relationships/image" Target="../media/image423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13" Type="http://schemas.openxmlformats.org/officeDocument/2006/relationships/image" Target="../media/image438.png"/><Relationship Id="rId3" Type="http://schemas.openxmlformats.org/officeDocument/2006/relationships/image" Target="../media/image428.png"/><Relationship Id="rId7" Type="http://schemas.openxmlformats.org/officeDocument/2006/relationships/image" Target="../media/image432.png"/><Relationship Id="rId12" Type="http://schemas.openxmlformats.org/officeDocument/2006/relationships/image" Target="../media/image437.png"/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1.png"/><Relationship Id="rId11" Type="http://schemas.openxmlformats.org/officeDocument/2006/relationships/image" Target="../media/image436.png"/><Relationship Id="rId5" Type="http://schemas.openxmlformats.org/officeDocument/2006/relationships/image" Target="../media/image430.png"/><Relationship Id="rId10" Type="http://schemas.openxmlformats.org/officeDocument/2006/relationships/image" Target="../media/image435.png"/><Relationship Id="rId4" Type="http://schemas.openxmlformats.org/officeDocument/2006/relationships/image" Target="../media/image429.png"/><Relationship Id="rId9" Type="http://schemas.openxmlformats.org/officeDocument/2006/relationships/image" Target="../media/image434.png"/><Relationship Id="rId14" Type="http://schemas.openxmlformats.org/officeDocument/2006/relationships/image" Target="../media/image439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png"/><Relationship Id="rId3" Type="http://schemas.openxmlformats.org/officeDocument/2006/relationships/image" Target="../media/image440.png"/><Relationship Id="rId7" Type="http://schemas.openxmlformats.org/officeDocument/2006/relationships/image" Target="../media/image444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3.png"/><Relationship Id="rId5" Type="http://schemas.openxmlformats.org/officeDocument/2006/relationships/image" Target="../media/image442.png"/><Relationship Id="rId4" Type="http://schemas.openxmlformats.org/officeDocument/2006/relationships/image" Target="../media/image441.png"/><Relationship Id="rId9" Type="http://schemas.openxmlformats.org/officeDocument/2006/relationships/image" Target="../media/image446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8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png"/><Relationship Id="rId2" Type="http://schemas.openxmlformats.org/officeDocument/2006/relationships/image" Target="../media/image453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png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7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9.png"/><Relationship Id="rId2" Type="http://schemas.openxmlformats.org/officeDocument/2006/relationships/image" Target="../media/image4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2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5.png"/><Relationship Id="rId5" Type="http://schemas.openxmlformats.org/officeDocument/2006/relationships/image" Target="../media/image464.png"/><Relationship Id="rId4" Type="http://schemas.openxmlformats.org/officeDocument/2006/relationships/image" Target="../media/image463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png"/><Relationship Id="rId2" Type="http://schemas.openxmlformats.org/officeDocument/2006/relationships/image" Target="../media/image4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9.png"/><Relationship Id="rId4" Type="http://schemas.openxmlformats.org/officeDocument/2006/relationships/image" Target="../media/image468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1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png"/><Relationship Id="rId3" Type="http://schemas.openxmlformats.org/officeDocument/2006/relationships/image" Target="../media/image473.png"/><Relationship Id="rId7" Type="http://schemas.openxmlformats.org/officeDocument/2006/relationships/image" Target="../media/image477.png"/><Relationship Id="rId2" Type="http://schemas.openxmlformats.org/officeDocument/2006/relationships/image" Target="../media/image4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6.png"/><Relationship Id="rId5" Type="http://schemas.openxmlformats.org/officeDocument/2006/relationships/image" Target="../media/image475.png"/><Relationship Id="rId10" Type="http://schemas.openxmlformats.org/officeDocument/2006/relationships/image" Target="../media/image480.png"/><Relationship Id="rId4" Type="http://schemas.openxmlformats.org/officeDocument/2006/relationships/image" Target="../media/image474.png"/><Relationship Id="rId9" Type="http://schemas.openxmlformats.org/officeDocument/2006/relationships/image" Target="../media/image479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8.png"/><Relationship Id="rId3" Type="http://schemas.openxmlformats.org/officeDocument/2006/relationships/image" Target="../media/image483.png"/><Relationship Id="rId7" Type="http://schemas.openxmlformats.org/officeDocument/2006/relationships/image" Target="../media/image48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6.png"/><Relationship Id="rId5" Type="http://schemas.openxmlformats.org/officeDocument/2006/relationships/image" Target="../media/image485.png"/><Relationship Id="rId10" Type="http://schemas.openxmlformats.org/officeDocument/2006/relationships/image" Target="../media/image490.png"/><Relationship Id="rId4" Type="http://schemas.openxmlformats.org/officeDocument/2006/relationships/image" Target="../media/image484.png"/><Relationship Id="rId9" Type="http://schemas.openxmlformats.org/officeDocument/2006/relationships/image" Target="../media/image489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2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png"/><Relationship Id="rId13" Type="http://schemas.openxmlformats.org/officeDocument/2006/relationships/image" Target="../media/image503.png"/><Relationship Id="rId18" Type="http://schemas.openxmlformats.org/officeDocument/2006/relationships/image" Target="../media/image508.png"/><Relationship Id="rId3" Type="http://schemas.openxmlformats.org/officeDocument/2006/relationships/image" Target="../media/image493.png"/><Relationship Id="rId7" Type="http://schemas.openxmlformats.org/officeDocument/2006/relationships/image" Target="../media/image497.png"/><Relationship Id="rId12" Type="http://schemas.openxmlformats.org/officeDocument/2006/relationships/image" Target="../media/image502.png"/><Relationship Id="rId17" Type="http://schemas.openxmlformats.org/officeDocument/2006/relationships/image" Target="../media/image507.png"/><Relationship Id="rId2" Type="http://schemas.openxmlformats.org/officeDocument/2006/relationships/notesSlide" Target="../notesSlides/notesSlide129.xml"/><Relationship Id="rId16" Type="http://schemas.openxmlformats.org/officeDocument/2006/relationships/image" Target="../media/image5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6.png"/><Relationship Id="rId11" Type="http://schemas.openxmlformats.org/officeDocument/2006/relationships/image" Target="../media/image501.png"/><Relationship Id="rId5" Type="http://schemas.openxmlformats.org/officeDocument/2006/relationships/image" Target="../media/image495.png"/><Relationship Id="rId15" Type="http://schemas.openxmlformats.org/officeDocument/2006/relationships/image" Target="../media/image505.png"/><Relationship Id="rId10" Type="http://schemas.openxmlformats.org/officeDocument/2006/relationships/image" Target="../media/image500.png"/><Relationship Id="rId19" Type="http://schemas.openxmlformats.org/officeDocument/2006/relationships/image" Target="../media/image509.png"/><Relationship Id="rId4" Type="http://schemas.openxmlformats.org/officeDocument/2006/relationships/image" Target="../media/image494.png"/><Relationship Id="rId9" Type="http://schemas.openxmlformats.org/officeDocument/2006/relationships/image" Target="../media/image499.png"/><Relationship Id="rId14" Type="http://schemas.openxmlformats.org/officeDocument/2006/relationships/image" Target="../media/image50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3.png"/><Relationship Id="rId4" Type="http://schemas.openxmlformats.org/officeDocument/2006/relationships/image" Target="../media/image512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6.png"/><Relationship Id="rId4" Type="http://schemas.openxmlformats.org/officeDocument/2006/relationships/image" Target="../media/image515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2.png"/><Relationship Id="rId13" Type="http://schemas.openxmlformats.org/officeDocument/2006/relationships/image" Target="../media/image527.png"/><Relationship Id="rId3" Type="http://schemas.openxmlformats.org/officeDocument/2006/relationships/image" Target="../media/image517.png"/><Relationship Id="rId7" Type="http://schemas.openxmlformats.org/officeDocument/2006/relationships/image" Target="../media/image521.png"/><Relationship Id="rId12" Type="http://schemas.openxmlformats.org/officeDocument/2006/relationships/image" Target="../media/image526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25.png"/><Relationship Id="rId5" Type="http://schemas.openxmlformats.org/officeDocument/2006/relationships/image" Target="../media/image519.png"/><Relationship Id="rId10" Type="http://schemas.openxmlformats.org/officeDocument/2006/relationships/image" Target="../media/image524.png"/><Relationship Id="rId4" Type="http://schemas.openxmlformats.org/officeDocument/2006/relationships/image" Target="../media/image518.png"/><Relationship Id="rId9" Type="http://schemas.openxmlformats.org/officeDocument/2006/relationships/image" Target="../media/image523.png"/><Relationship Id="rId14" Type="http://schemas.openxmlformats.org/officeDocument/2006/relationships/image" Target="../media/image528.png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9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3694" y="818935"/>
            <a:ext cx="7772400" cy="2124792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Chapter 2</a:t>
            </a:r>
            <a:br>
              <a:rPr lang="en-US" noProof="0" dirty="0"/>
            </a:br>
            <a:r>
              <a:rPr lang="en-US" b="1" noProof="0" dirty="0">
                <a:solidFill>
                  <a:srgbClr val="0070C0"/>
                </a:solidFill>
              </a:rPr>
              <a:t> Symmetric Encryption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444052" y="3021332"/>
            <a:ext cx="4686664" cy="1015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noProof="0" dirty="0">
                <a:solidFill>
                  <a:srgbClr val="FF0000"/>
                </a:solidFill>
              </a:rPr>
              <a:t>Stefan</a:t>
            </a:r>
            <a:r>
              <a:rPr lang="en-US" sz="3000" noProof="0" dirty="0">
                <a:solidFill>
                  <a:srgbClr val="FF0000"/>
                </a:solidFill>
              </a:rPr>
              <a:t> </a:t>
            </a:r>
            <a:r>
              <a:rPr lang="en-US" sz="3000" b="1" noProof="0" dirty="0">
                <a:solidFill>
                  <a:srgbClr val="FF0000"/>
                </a:solidFill>
              </a:rPr>
              <a:t>Dziembowski</a:t>
            </a:r>
            <a:br>
              <a:rPr lang="en-US" sz="3000" b="1" noProof="0" dirty="0">
                <a:solidFill>
                  <a:srgbClr val="FF0000"/>
                </a:solidFill>
              </a:rPr>
            </a:br>
            <a:r>
              <a:rPr lang="en-US" sz="1800" noProof="0" dirty="0" err="1">
                <a:solidFill>
                  <a:srgbClr val="FF0000"/>
                </a:solidFill>
              </a:rPr>
              <a:t>www.crypto.edu.pl</a:t>
            </a:r>
            <a:r>
              <a:rPr lang="en-US" sz="1800" noProof="0" dirty="0">
                <a:solidFill>
                  <a:srgbClr val="FF0000"/>
                </a:solidFill>
              </a:rPr>
              <a:t>/Dziembowski</a:t>
            </a:r>
            <a:br>
              <a:rPr lang="en-US" sz="1800" noProof="0" dirty="0">
                <a:solidFill>
                  <a:srgbClr val="FF0000"/>
                </a:solidFill>
              </a:rPr>
            </a:br>
            <a:br>
              <a:rPr lang="en-US" sz="3000" noProof="0" dirty="0">
                <a:solidFill>
                  <a:srgbClr val="FF0000"/>
                </a:solidFill>
              </a:rPr>
            </a:br>
            <a:r>
              <a:rPr lang="en-US" sz="2600" b="1" noProof="0" dirty="0">
                <a:solidFill>
                  <a:schemeClr val="tx1"/>
                </a:solidFill>
              </a:rPr>
              <a:t>University of Warsaw</a:t>
            </a:r>
          </a:p>
          <a:p>
            <a:endParaRPr lang="en-US" noProof="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862505" y="5129105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1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352406" y="129312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818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How to change the security definition?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4282" y="2857496"/>
                <a:ext cx="8643998" cy="1071570"/>
              </a:xfrm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en-US" sz="2000" noProof="0" dirty="0"/>
                  <a:t>An encryption scheme is </a:t>
                </a:r>
                <a:r>
                  <a:rPr lang="en-US" sz="2000" b="1" noProof="0" dirty="0">
                    <a:solidFill>
                      <a:srgbClr val="002060"/>
                    </a:solidFill>
                  </a:rPr>
                  <a:t>perfectly secret</a:t>
                </a:r>
                <a:r>
                  <a:rPr lang="en-US" sz="2000" noProof="0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noProof="0" dirty="0"/>
                  <a:t>if for every </a:t>
                </a:r>
                <a:r>
                  <a:rPr lang="en-US" sz="2000" b="1" i="1" noProof="0" dirty="0">
                    <a:solidFill>
                      <a:srgbClr val="FF0000"/>
                    </a:solidFill>
                  </a:rPr>
                  <a:t>m</a:t>
                </a:r>
                <a:r>
                  <a:rPr lang="en-US" sz="2000" b="1" baseline="-25000" noProof="0" dirty="0">
                    <a:solidFill>
                      <a:srgbClr val="FF0000"/>
                    </a:solidFill>
                  </a:rPr>
                  <a:t>0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,</a:t>
                </a:r>
                <a:r>
                  <a:rPr lang="en-US" sz="2000" b="1" i="1" noProof="0" dirty="0">
                    <a:solidFill>
                      <a:srgbClr val="FF0000"/>
                    </a:solidFill>
                  </a:rPr>
                  <a:t>m</a:t>
                </a:r>
                <a:r>
                  <a:rPr lang="en-US" sz="2000" b="1" baseline="-25000" noProof="0" dirty="0">
                    <a:solidFill>
                      <a:srgbClr val="FF0000"/>
                    </a:solidFill>
                  </a:rPr>
                  <a:t>1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  <a:latin typeface="Lucida Calligraphy"/>
                  </a:rPr>
                  <a:t> M</a:t>
                </a:r>
                <a:r>
                  <a:rPr lang="en-US" sz="1600" b="1" noProof="0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</a:p>
              <a:p>
                <a:pPr algn="ctr">
                  <a:buNone/>
                </a:pPr>
                <a:r>
                  <a:rPr lang="en-US" sz="2000" b="1" noProof="0" dirty="0">
                    <a:solidFill>
                      <a:srgbClr val="FF0000"/>
                    </a:solidFill>
                    <a:cs typeface="Arial"/>
                  </a:rPr>
                  <a:t>Enc(</a:t>
                </a:r>
                <a:r>
                  <a:rPr lang="en-US" sz="2000" b="1" i="1" noProof="0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en-US" sz="2000" b="1" noProof="0" dirty="0">
                    <a:solidFill>
                      <a:srgbClr val="FF0000"/>
                    </a:solidFill>
                    <a:cs typeface="Arial"/>
                  </a:rPr>
                  <a:t>, </a:t>
                </a:r>
                <a:r>
                  <a:rPr lang="en-US" sz="2000" b="1" i="1" noProof="0" dirty="0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en-US" sz="2000" b="1" baseline="-25000" noProof="0" dirty="0">
                    <a:solidFill>
                      <a:srgbClr val="FF0000"/>
                    </a:solidFill>
                    <a:cs typeface="Arial"/>
                  </a:rPr>
                  <a:t>0</a:t>
                </a:r>
                <a:r>
                  <a:rPr lang="en-US" sz="2000" b="1" noProof="0" dirty="0">
                    <a:solidFill>
                      <a:srgbClr val="FF0000"/>
                    </a:solidFill>
                    <a:cs typeface="Arial"/>
                  </a:rPr>
                  <a:t>) </a:t>
                </a:r>
                <a:r>
                  <a:rPr lang="en-US" sz="2000" b="1" noProof="0" dirty="0">
                    <a:cs typeface="Arial"/>
                  </a:rPr>
                  <a:t>and</a:t>
                </a:r>
                <a:r>
                  <a:rPr lang="en-US" sz="2000" b="1" noProof="0" dirty="0">
                    <a:solidFill>
                      <a:srgbClr val="FF0000"/>
                    </a:solidFill>
                    <a:cs typeface="Arial"/>
                  </a:rPr>
                  <a:t> Enc(</a:t>
                </a:r>
                <a:r>
                  <a:rPr lang="en-US" sz="2000" b="1" i="1" noProof="0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en-US" sz="2000" b="1" noProof="0" dirty="0">
                    <a:solidFill>
                      <a:srgbClr val="FF0000"/>
                    </a:solidFill>
                    <a:cs typeface="Arial"/>
                  </a:rPr>
                  <a:t>, </a:t>
                </a:r>
                <a:r>
                  <a:rPr lang="en-US" sz="2000" b="1" i="1" noProof="0" dirty="0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en-US" sz="2000" b="1" baseline="-25000" noProof="0" dirty="0">
                    <a:solidFill>
                      <a:srgbClr val="FF0000"/>
                    </a:solidFill>
                    <a:cs typeface="Arial"/>
                  </a:rPr>
                  <a:t>1</a:t>
                </a:r>
                <a:r>
                  <a:rPr lang="en-US" sz="2000" b="1" noProof="0" dirty="0">
                    <a:solidFill>
                      <a:srgbClr val="FF0000"/>
                    </a:solidFill>
                    <a:cs typeface="Arial"/>
                  </a:rPr>
                  <a:t>) </a:t>
                </a:r>
                <a:r>
                  <a:rPr lang="en-US" sz="2000" b="1" noProof="0" dirty="0">
                    <a:cs typeface="Arial"/>
                  </a:rPr>
                  <a:t>are identically distributed</a:t>
                </a:r>
                <a:endParaRPr lang="en-US" sz="2800" noProof="0" dirty="0"/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282" y="2857496"/>
                <a:ext cx="8643998" cy="1071570"/>
              </a:xfrm>
              <a:blipFill>
                <a:blip r:embed="rId3"/>
                <a:stretch>
                  <a:fillRect t="-705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714348" y="1714488"/>
            <a:ext cx="7715304" cy="857256"/>
          </a:xfrm>
          <a:prstGeom prst="wedgeRoundRectCallout">
            <a:avLst>
              <a:gd name="adj1" fmla="val 36719"/>
              <a:gd name="adj2" fmla="val 8647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noProof="0" dirty="0"/>
              <a:t>we will require that </a:t>
            </a:r>
            <a:r>
              <a:rPr lang="en-US" sz="2000" b="1" i="1" noProof="0" dirty="0">
                <a:solidFill>
                  <a:srgbClr val="FF0000"/>
                </a:solidFill>
              </a:rPr>
              <a:t>m</a:t>
            </a:r>
            <a:r>
              <a:rPr lang="en-US" sz="2000" b="1" baseline="-25000" noProof="0" dirty="0">
                <a:solidFill>
                  <a:srgbClr val="FF0000"/>
                </a:solidFill>
              </a:rPr>
              <a:t>0</a:t>
            </a:r>
            <a:r>
              <a:rPr lang="en-US" sz="2000" b="1" noProof="0" dirty="0">
                <a:solidFill>
                  <a:srgbClr val="FF0000"/>
                </a:solidFill>
              </a:rPr>
              <a:t>,</a:t>
            </a:r>
            <a:r>
              <a:rPr lang="en-US" sz="2000" b="1" i="1" noProof="0" dirty="0">
                <a:solidFill>
                  <a:srgbClr val="FF0000"/>
                </a:solidFill>
              </a:rPr>
              <a:t>m</a:t>
            </a:r>
            <a:r>
              <a:rPr lang="en-US" sz="2000" b="1" baseline="-25000" noProof="0" dirty="0">
                <a:solidFill>
                  <a:srgbClr val="FF0000"/>
                </a:solidFill>
              </a:rPr>
              <a:t>1</a:t>
            </a:r>
            <a:r>
              <a:rPr lang="en-US" sz="2000" b="1" baseline="-25000" noProof="0" dirty="0">
                <a:solidFill>
                  <a:srgbClr val="C00000"/>
                </a:solidFill>
              </a:rPr>
              <a:t> </a:t>
            </a:r>
            <a:r>
              <a:rPr lang="en-US" sz="2000" noProof="0" dirty="0">
                <a:solidFill>
                  <a:schemeClr val="tx1"/>
                </a:solidFill>
              </a:rPr>
              <a:t>are chosen by a </a:t>
            </a:r>
            <a:r>
              <a:rPr lang="en-US" sz="2000" b="1" noProof="0" dirty="0">
                <a:solidFill>
                  <a:schemeClr val="tx1"/>
                </a:solidFill>
              </a:rPr>
              <a:t>poly-time adversary 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857224" y="4500570"/>
            <a:ext cx="7715304" cy="857256"/>
          </a:xfrm>
          <a:prstGeom prst="wedgeRoundRectCallout">
            <a:avLst>
              <a:gd name="adj1" fmla="val -701"/>
              <a:gd name="adj2" fmla="val -15682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we will require that no </a:t>
            </a:r>
            <a:r>
              <a:rPr lang="en-US" sz="2000" b="1" noProof="0" dirty="0"/>
              <a:t>poly-time adversary </a:t>
            </a:r>
            <a:r>
              <a:rPr lang="en-US" sz="2000" noProof="0" dirty="0"/>
              <a:t>can distinguish</a:t>
            </a:r>
            <a:br>
              <a:rPr lang="en-US" sz="2000" noProof="0" dirty="0"/>
            </a:br>
            <a:r>
              <a:rPr lang="en-US" sz="2000" b="1" noProof="0" dirty="0">
                <a:solidFill>
                  <a:srgbClr val="FF0000"/>
                </a:solidFill>
                <a:cs typeface="Arial"/>
              </a:rPr>
              <a:t>Enc(</a:t>
            </a:r>
            <a:r>
              <a:rPr lang="en-US" sz="2000" b="1" i="1" noProof="0" dirty="0">
                <a:solidFill>
                  <a:srgbClr val="FF0000"/>
                </a:solidFill>
                <a:cs typeface="Arial"/>
              </a:rPr>
              <a:t>K</a:t>
            </a:r>
            <a:r>
              <a:rPr lang="en-US" sz="2000" b="1" noProof="0" dirty="0">
                <a:solidFill>
                  <a:srgbClr val="FF0000"/>
                </a:solidFill>
                <a:cs typeface="Arial"/>
              </a:rPr>
              <a:t>, </a:t>
            </a:r>
            <a:r>
              <a:rPr lang="en-US" sz="2000" b="1" i="1" noProof="0" dirty="0">
                <a:solidFill>
                  <a:srgbClr val="FF0000"/>
                </a:solidFill>
                <a:cs typeface="Arial"/>
              </a:rPr>
              <a:t>m</a:t>
            </a:r>
            <a:r>
              <a:rPr lang="en-US" sz="2000" b="1" baseline="-25000" noProof="0" dirty="0">
                <a:solidFill>
                  <a:srgbClr val="FF0000"/>
                </a:solidFill>
                <a:cs typeface="Arial"/>
              </a:rPr>
              <a:t>0</a:t>
            </a:r>
            <a:r>
              <a:rPr lang="en-US" sz="2000" b="1" noProof="0" dirty="0">
                <a:solidFill>
                  <a:srgbClr val="FF0000"/>
                </a:solidFill>
                <a:cs typeface="Arial"/>
              </a:rPr>
              <a:t>) </a:t>
            </a:r>
            <a:r>
              <a:rPr lang="en-US" sz="2000" noProof="0" dirty="0">
                <a:solidFill>
                  <a:schemeClr val="tx1"/>
                </a:solidFill>
                <a:cs typeface="Arial"/>
              </a:rPr>
              <a:t>from</a:t>
            </a:r>
            <a:r>
              <a:rPr lang="en-US" sz="2000" b="1" noProof="0" dirty="0">
                <a:solidFill>
                  <a:srgbClr val="C00000"/>
                </a:solidFill>
                <a:cs typeface="Arial"/>
              </a:rPr>
              <a:t> </a:t>
            </a:r>
            <a:r>
              <a:rPr lang="en-US" sz="2000" b="1" noProof="0" dirty="0">
                <a:solidFill>
                  <a:srgbClr val="FF0000"/>
                </a:solidFill>
                <a:cs typeface="Arial"/>
              </a:rPr>
              <a:t>Enc(</a:t>
            </a:r>
            <a:r>
              <a:rPr lang="en-US" sz="2000" b="1" i="1" noProof="0" dirty="0">
                <a:solidFill>
                  <a:srgbClr val="FF0000"/>
                </a:solidFill>
                <a:cs typeface="Arial"/>
              </a:rPr>
              <a:t>K</a:t>
            </a:r>
            <a:r>
              <a:rPr lang="en-US" sz="2000" b="1" noProof="0" dirty="0">
                <a:solidFill>
                  <a:srgbClr val="FF0000"/>
                </a:solidFill>
                <a:cs typeface="Arial"/>
              </a:rPr>
              <a:t>, </a:t>
            </a:r>
            <a:r>
              <a:rPr lang="en-US" sz="2000" b="1" i="1" noProof="0" dirty="0">
                <a:solidFill>
                  <a:srgbClr val="FF0000"/>
                </a:solidFill>
                <a:cs typeface="Arial"/>
              </a:rPr>
              <a:t>m</a:t>
            </a:r>
            <a:r>
              <a:rPr lang="en-US" sz="2000" b="1" baseline="-25000" noProof="0" dirty="0">
                <a:solidFill>
                  <a:srgbClr val="FF0000"/>
                </a:solidFill>
                <a:cs typeface="Arial"/>
              </a:rPr>
              <a:t>1</a:t>
            </a:r>
            <a:r>
              <a:rPr lang="en-US" sz="2000" b="1" noProof="0" dirty="0">
                <a:solidFill>
                  <a:srgbClr val="FF0000"/>
                </a:solidFill>
                <a:cs typeface="Arial"/>
              </a:rPr>
              <a:t>)</a:t>
            </a:r>
            <a:endParaRPr lang="en-US" sz="20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8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/>
          <a:lstStyle/>
          <a:p>
            <a:r>
              <a:rPr lang="en-US" noProof="0" dirty="0"/>
              <a:t>A game</a:t>
            </a:r>
          </a:p>
        </p:txBody>
      </p:sp>
      <p:pic>
        <p:nvPicPr>
          <p:cNvPr id="54276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14400"/>
            <a:ext cx="2057400" cy="1422400"/>
          </a:xfrm>
          <a:prstGeom prst="rect">
            <a:avLst/>
          </a:prstGeom>
          <a:noFill/>
        </p:spPr>
      </p:pic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609600" y="2362200"/>
            <a:ext cx="5181600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adversary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(polynomial-time proba</a:t>
            </a:r>
            <a:r>
              <a:rPr lang="en-US" noProof="0" dirty="0"/>
              <a:t>bilistic </a:t>
            </a:r>
            <a:r>
              <a:rPr lang="en-US" sz="1800" b="0" noProof="0" dirty="0">
                <a:solidFill>
                  <a:schemeClr val="tx1"/>
                </a:solidFill>
              </a:rPr>
              <a:t>Turing machine)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7467600" y="26670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oracle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381000" y="3124200"/>
            <a:ext cx="2819400" cy="6445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chooses</a:t>
            </a:r>
            <a:r>
              <a:rPr lang="en-US" sz="1800" noProof="0" dirty="0">
                <a:solidFill>
                  <a:srgbClr val="990000"/>
                </a:solidFill>
              </a:rPr>
              <a:t> </a:t>
            </a: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  <a:r>
              <a:rPr lang="en-US" sz="1800" b="1" baseline="-25000" noProof="0" dirty="0">
                <a:solidFill>
                  <a:srgbClr val="FF0000"/>
                </a:solidFill>
              </a:rPr>
              <a:t>0</a:t>
            </a:r>
            <a:r>
              <a:rPr lang="en-US" sz="1800" b="1" noProof="0" dirty="0">
                <a:solidFill>
                  <a:srgbClr val="FF0000"/>
                </a:solidFill>
              </a:rPr>
              <a:t>,</a:t>
            </a: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  <a:r>
              <a:rPr lang="en-US" sz="1800" b="1" baseline="-25000" noProof="0" dirty="0">
                <a:solidFill>
                  <a:srgbClr val="FF0000"/>
                </a:solidFill>
              </a:rPr>
              <a:t>1</a:t>
            </a:r>
            <a:r>
              <a:rPr lang="en-US" sz="1800" baseline="-25000" noProof="0" dirty="0">
                <a:solidFill>
                  <a:srgbClr val="990000"/>
                </a:solidFill>
              </a:rPr>
              <a:t> </a:t>
            </a:r>
            <a:r>
              <a:rPr lang="en-US" sz="1800" b="0" noProof="0" dirty="0">
                <a:solidFill>
                  <a:schemeClr val="tx1"/>
                </a:solidFill>
              </a:rPr>
              <a:t>such that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|</a:t>
            </a: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  <a:r>
              <a:rPr lang="en-US" sz="1800" b="1" baseline="-25000" noProof="0" dirty="0">
                <a:solidFill>
                  <a:srgbClr val="FF0000"/>
                </a:solidFill>
              </a:rPr>
              <a:t>0</a:t>
            </a:r>
            <a:r>
              <a:rPr lang="en-US" sz="1800" b="1" noProof="0" dirty="0">
                <a:solidFill>
                  <a:srgbClr val="FF0000"/>
                </a:solidFill>
              </a:rPr>
              <a:t>|=|</a:t>
            </a: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  <a:r>
              <a:rPr lang="en-US" sz="1800" b="1" baseline="-25000" noProof="0" dirty="0">
                <a:solidFill>
                  <a:srgbClr val="FF0000"/>
                </a:solidFill>
              </a:rPr>
              <a:t>1</a:t>
            </a:r>
            <a:r>
              <a:rPr lang="en-US" sz="1800" b="1" noProof="0" dirty="0">
                <a:solidFill>
                  <a:srgbClr val="FF0000"/>
                </a:solidFill>
              </a:rPr>
              <a:t>|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429000" y="3200400"/>
            <a:ext cx="2286000" cy="369888"/>
            <a:chOff x="2112" y="2423"/>
            <a:chExt cx="1440" cy="233"/>
          </a:xfrm>
        </p:grpSpPr>
        <p:sp>
          <p:nvSpPr>
            <p:cNvPr id="54281" name="Line 9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54283" name="Text Box 11"/>
            <p:cNvSpPr txBox="1">
              <a:spLocks noChangeArrowheads="1"/>
            </p:cNvSpPr>
            <p:nvPr/>
          </p:nvSpPr>
          <p:spPr bwMode="auto">
            <a:xfrm>
              <a:off x="2544" y="2423"/>
              <a:ext cx="520" cy="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m</a:t>
              </a:r>
              <a:r>
                <a:rPr lang="en-US" sz="1800" b="1" baseline="-25000" noProof="0" dirty="0">
                  <a:solidFill>
                    <a:srgbClr val="FF0000"/>
                  </a:solidFill>
                </a:rPr>
                <a:t>0</a:t>
              </a:r>
              <a:r>
                <a:rPr lang="en-US" sz="1800" b="1" noProof="0" dirty="0">
                  <a:solidFill>
                    <a:srgbClr val="FF0000"/>
                  </a:solidFill>
                </a:rPr>
                <a:t>,</a:t>
              </a:r>
              <a:r>
                <a:rPr lang="en-US" sz="1800" b="1" i="1" noProof="0" dirty="0">
                  <a:solidFill>
                    <a:srgbClr val="FF0000"/>
                  </a:solidFill>
                </a:rPr>
                <a:t>m</a:t>
              </a:r>
              <a:r>
                <a:rPr lang="en-US" sz="1800" b="1" baseline="-25000" noProof="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5791200" y="3276600"/>
            <a:ext cx="3200400" cy="147732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800" b="0" noProof="0" dirty="0">
                <a:solidFill>
                  <a:schemeClr val="tx1"/>
                </a:solidFill>
              </a:rPr>
              <a:t>selects</a:t>
            </a:r>
            <a:r>
              <a:rPr lang="en-US" sz="1800" noProof="0" dirty="0">
                <a:solidFill>
                  <a:srgbClr val="993300"/>
                </a:solidFill>
              </a:rPr>
              <a:t> </a:t>
            </a:r>
            <a:r>
              <a:rPr lang="en-US" sz="1800" b="1" i="1" noProof="0" dirty="0">
                <a:solidFill>
                  <a:srgbClr val="FF0000"/>
                </a:solidFill>
              </a:rPr>
              <a:t>k</a:t>
            </a:r>
            <a:r>
              <a:rPr lang="en-US" sz="1800" b="1" noProof="0" dirty="0">
                <a:solidFill>
                  <a:srgbClr val="993300"/>
                </a:solidFill>
              </a:rPr>
              <a:t> </a:t>
            </a:r>
            <a:r>
              <a:rPr lang="en-US" sz="1800" noProof="0" dirty="0"/>
              <a:t>randomly from </a:t>
            </a:r>
            <a:r>
              <a:rPr lang="en-US" b="1" noProof="0" dirty="0">
                <a:solidFill>
                  <a:srgbClr val="FF0000"/>
                </a:solidFill>
              </a:rPr>
              <a:t>{0,1}</a:t>
            </a:r>
            <a:r>
              <a:rPr lang="en-US" sz="1800" b="1" i="1" baseline="30000" noProof="0" dirty="0">
                <a:solidFill>
                  <a:srgbClr val="FF0000"/>
                </a:solidFill>
              </a:rPr>
              <a:t>n</a:t>
            </a:r>
            <a:endParaRPr lang="en-US" sz="1800" b="1" i="1" noProof="0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800" b="0" noProof="0" dirty="0">
                <a:solidFill>
                  <a:schemeClr val="tx1"/>
                </a:solidFill>
              </a:rPr>
              <a:t>chooses a random </a:t>
            </a:r>
            <a:r>
              <a:rPr lang="en-US" sz="1800" b="1" i="1" noProof="0" dirty="0">
                <a:solidFill>
                  <a:srgbClr val="FF0000"/>
                </a:solidFill>
              </a:rPr>
              <a:t>b</a:t>
            </a:r>
            <a:r>
              <a:rPr lang="en-US" sz="1800" b="1" noProof="0" dirty="0">
                <a:solidFill>
                  <a:srgbClr val="FF0000"/>
                </a:solidFill>
              </a:rPr>
              <a:t> = 0,1</a:t>
            </a: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800" b="0" noProof="0" dirty="0">
                <a:solidFill>
                  <a:schemeClr val="tx1"/>
                </a:solidFill>
              </a:rPr>
              <a:t>calculates</a:t>
            </a:r>
            <a:br>
              <a:rPr lang="en-US" sz="1800" b="0" noProof="0" dirty="0">
                <a:solidFill>
                  <a:schemeClr val="tx1"/>
                </a:solidFill>
              </a:rPr>
            </a:br>
            <a:r>
              <a:rPr lang="en-US" sz="1800" b="0" noProof="0" dirty="0">
                <a:solidFill>
                  <a:schemeClr val="tx1"/>
                </a:solidFill>
              </a:rPr>
              <a:t>        </a:t>
            </a:r>
            <a:r>
              <a:rPr lang="en-US" sz="1800" b="1" i="1" noProof="0" dirty="0">
                <a:solidFill>
                  <a:srgbClr val="FF0000"/>
                </a:solidFill>
              </a:rPr>
              <a:t>c</a:t>
            </a:r>
            <a:r>
              <a:rPr lang="en-US" sz="1800" b="1" noProof="0" dirty="0">
                <a:solidFill>
                  <a:srgbClr val="FF0000"/>
                </a:solidFill>
              </a:rPr>
              <a:t> := Enc(</a:t>
            </a:r>
            <a:r>
              <a:rPr lang="en-US" sz="1800" b="1" i="1" noProof="0" dirty="0" err="1">
                <a:solidFill>
                  <a:srgbClr val="FF0000"/>
                </a:solidFill>
              </a:rPr>
              <a:t>k</a:t>
            </a:r>
            <a:r>
              <a:rPr lang="en-US" sz="1800" b="1" noProof="0" dirty="0" err="1">
                <a:solidFill>
                  <a:srgbClr val="FF0000"/>
                </a:solidFill>
              </a:rPr>
              <a:t>,</a:t>
            </a:r>
            <a:r>
              <a:rPr lang="en-US" sz="1800" b="1" i="1" noProof="0" dirty="0" err="1">
                <a:solidFill>
                  <a:srgbClr val="FF0000"/>
                </a:solidFill>
              </a:rPr>
              <a:t>m</a:t>
            </a:r>
            <a:r>
              <a:rPr lang="en-US" sz="1800" b="1" i="1" baseline="-25000" noProof="0" dirty="0" err="1">
                <a:solidFill>
                  <a:srgbClr val="FF0000"/>
                </a:solidFill>
              </a:rPr>
              <a:t>b</a:t>
            </a:r>
            <a:r>
              <a:rPr lang="en-US" sz="1800" b="1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5013064" y="228600"/>
            <a:ext cx="3975361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(</a:t>
            </a:r>
            <a:r>
              <a:rPr lang="en-US" sz="1800" b="1" noProof="0" dirty="0" err="1">
                <a:solidFill>
                  <a:srgbClr val="FF0000"/>
                </a:solidFill>
              </a:rPr>
              <a:t>Enc,Dec</a:t>
            </a:r>
            <a:r>
              <a:rPr lang="en-US" sz="1800" b="1" noProof="0" dirty="0">
                <a:solidFill>
                  <a:srgbClr val="FF0000"/>
                </a:solidFill>
              </a:rPr>
              <a:t>) </a:t>
            </a:r>
            <a:r>
              <a:rPr lang="en-US" sz="1800" b="0" noProof="0" dirty="0">
                <a:solidFill>
                  <a:schemeClr val="tx1"/>
                </a:solidFill>
              </a:rPr>
              <a:t>– an encryption scheme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3276600" y="4114800"/>
            <a:ext cx="2362200" cy="369888"/>
            <a:chOff x="2064" y="3024"/>
            <a:chExt cx="1488" cy="233"/>
          </a:xfrm>
        </p:grpSpPr>
        <p:sp>
          <p:nvSpPr>
            <p:cNvPr id="54286" name="Line 14"/>
            <p:cNvSpPr>
              <a:spLocks noChangeShapeType="1"/>
            </p:cNvSpPr>
            <p:nvPr/>
          </p:nvSpPr>
          <p:spPr bwMode="auto">
            <a:xfrm>
              <a:off x="2064" y="3168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54287" name="Text Box 15"/>
            <p:cNvSpPr txBox="1">
              <a:spLocks noChangeArrowheads="1"/>
            </p:cNvSpPr>
            <p:nvPr/>
          </p:nvSpPr>
          <p:spPr bwMode="auto">
            <a:xfrm>
              <a:off x="2688" y="3024"/>
              <a:ext cx="198" cy="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c</a:t>
              </a:r>
              <a:endParaRPr lang="en-US" sz="1800" b="1" i="1" baseline="-250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952500" y="4114800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has to guess </a:t>
            </a:r>
            <a:r>
              <a:rPr lang="en-US" sz="1800" b="1" i="1" noProof="0" dirty="0">
                <a:solidFill>
                  <a:srgbClr val="FF0000"/>
                </a:solidFill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290" name="Text Box 18"/>
              <p:cNvSpPr txBox="1">
                <a:spLocks noChangeArrowheads="1"/>
              </p:cNvSpPr>
              <p:nvPr/>
            </p:nvSpPr>
            <p:spPr bwMode="auto">
              <a:xfrm>
                <a:off x="304800" y="5562600"/>
                <a:ext cx="8458200" cy="10450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800" b="1" noProof="0" dirty="0">
                    <a:solidFill>
                      <a:srgbClr val="002060"/>
                    </a:solidFill>
                  </a:rPr>
                  <a:t>Security definition</a:t>
                </a:r>
                <a:r>
                  <a:rPr lang="en-US" sz="1800" u="sng" noProof="0" dirty="0">
                    <a:solidFill>
                      <a:schemeClr val="tx2"/>
                    </a:solidFill>
                  </a:rPr>
                  <a:t>: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800" b="0" noProof="0" dirty="0">
                    <a:solidFill>
                      <a:schemeClr val="tx1"/>
                    </a:solidFill>
                  </a:rPr>
                  <a:t>We say that </a:t>
                </a:r>
                <a:r>
                  <a:rPr lang="en-US" sz="1800" b="1" noProof="0" dirty="0">
                    <a:solidFill>
                      <a:srgbClr val="FF0000"/>
                    </a:solidFill>
                  </a:rPr>
                  <a:t>(</a:t>
                </a:r>
                <a:r>
                  <a:rPr lang="en-US" sz="1800" b="1" noProof="0" dirty="0" err="1">
                    <a:solidFill>
                      <a:srgbClr val="FF0000"/>
                    </a:solidFill>
                  </a:rPr>
                  <a:t>Enc,Dec</a:t>
                </a:r>
                <a:r>
                  <a:rPr lang="en-US" sz="1800" b="1" noProof="0" dirty="0">
                    <a:solidFill>
                      <a:srgbClr val="FF0000"/>
                    </a:solidFill>
                  </a:rPr>
                  <a:t>)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is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semantically-secure</a:t>
                </a:r>
                <a:r>
                  <a:rPr lang="en-US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if any </a:t>
                </a:r>
                <a:r>
                  <a:rPr lang="en-US" sz="1800" b="1" noProof="0" dirty="0">
                    <a:solidFill>
                      <a:srgbClr val="002060"/>
                    </a:solidFill>
                  </a:rPr>
                  <a:t>polynomial time</a:t>
                </a:r>
                <a:r>
                  <a:rPr lang="en-US" sz="18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adversary guesses </a:t>
                </a:r>
                <a:r>
                  <a:rPr lang="en-US" sz="1800" b="1" i="1" noProof="0" dirty="0">
                    <a:solidFill>
                      <a:srgbClr val="FF0000"/>
                    </a:solidFill>
                  </a:rPr>
                  <a:t>b</a:t>
                </a:r>
                <a:r>
                  <a:rPr lang="en-US" sz="1800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correctly with probability at most</a:t>
                </a:r>
                <a:r>
                  <a:rPr lang="en-US" sz="1800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noProof="0" dirty="0">
                    <a:solidFill>
                      <a:srgbClr val="FF0000"/>
                    </a:solidFill>
                  </a:rPr>
                  <a:t> + </a:t>
                </a:r>
                <a:r>
                  <a:rPr lang="en-US" sz="1800" b="1" noProof="0" dirty="0" err="1">
                    <a:solidFill>
                      <a:srgbClr val="FF0000"/>
                    </a:solidFill>
                    <a:cs typeface="Arial" charset="0"/>
                  </a:rPr>
                  <a:t>ε</a:t>
                </a:r>
                <a:r>
                  <a:rPr lang="en-US" sz="1800" b="1" noProof="0" dirty="0">
                    <a:solidFill>
                      <a:srgbClr val="FF0000"/>
                    </a:solidFill>
                  </a:rPr>
                  <a:t>(</a:t>
                </a:r>
                <a:r>
                  <a:rPr lang="en-US" sz="1800" b="1" i="1" noProof="0" dirty="0">
                    <a:solidFill>
                      <a:srgbClr val="FF0000"/>
                    </a:solidFill>
                  </a:rPr>
                  <a:t>n</a:t>
                </a:r>
                <a:r>
                  <a:rPr lang="en-US" sz="1800" b="1" noProof="0" dirty="0">
                    <a:solidFill>
                      <a:srgbClr val="FF0000"/>
                    </a:solidFill>
                  </a:rPr>
                  <a:t>)</a:t>
                </a:r>
                <a:r>
                  <a:rPr lang="en-US" sz="1800" b="1" noProof="0" dirty="0">
                    <a:solidFill>
                      <a:schemeClr val="tx1"/>
                    </a:solidFill>
                  </a:rPr>
                  <a:t>,</a:t>
                </a:r>
                <a:r>
                  <a:rPr lang="en-US" sz="18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1800" b="1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where</a:t>
                </a:r>
                <a:r>
                  <a:rPr lang="en-US" sz="1800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1800" b="1" noProof="0" dirty="0" err="1">
                    <a:solidFill>
                      <a:srgbClr val="FF0000"/>
                    </a:solidFill>
                  </a:rPr>
                  <a:t>ε</a:t>
                </a:r>
                <a:r>
                  <a:rPr lang="en-US" sz="1800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is negligible.</a:t>
                </a:r>
              </a:p>
            </p:txBody>
          </p:sp>
        </mc:Choice>
        <mc:Fallback>
          <p:sp>
            <p:nvSpPr>
              <p:cNvPr id="5429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562600"/>
                <a:ext cx="8458200" cy="1045094"/>
              </a:xfrm>
              <a:prstGeom prst="rect">
                <a:avLst/>
              </a:prstGeom>
              <a:blipFill>
                <a:blip r:embed="rId4"/>
                <a:stretch>
                  <a:fillRect l="-448" t="-235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3447316" y="1219200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security parameter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1</a:t>
            </a:r>
            <a:r>
              <a:rPr lang="en-US" sz="1800" b="1" i="1" baseline="30000" noProof="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54292" name="Line 20"/>
          <p:cNvSpPr>
            <a:spLocks noChangeShapeType="1"/>
          </p:cNvSpPr>
          <p:nvPr/>
        </p:nvSpPr>
        <p:spPr bwMode="auto">
          <a:xfrm flipH="1">
            <a:off x="2057400" y="19812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54293" name="Line 21"/>
          <p:cNvSpPr>
            <a:spLocks noChangeShapeType="1"/>
          </p:cNvSpPr>
          <p:nvPr/>
        </p:nvSpPr>
        <p:spPr bwMode="auto">
          <a:xfrm>
            <a:off x="5562600" y="20574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54296" name="AutoShape 24"/>
          <p:cNvSpPr>
            <a:spLocks noChangeArrowheads="1"/>
          </p:cNvSpPr>
          <p:nvPr/>
        </p:nvSpPr>
        <p:spPr bwMode="auto">
          <a:xfrm>
            <a:off x="2644725" y="4846637"/>
            <a:ext cx="5816163" cy="625485"/>
          </a:xfrm>
          <a:prstGeom prst="wedgeRectCallout">
            <a:avLst>
              <a:gd name="adj1" fmla="val -1843"/>
              <a:gd name="adj2" fmla="val 127546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noProof="0" dirty="0">
                <a:solidFill>
                  <a:schemeClr val="tx1"/>
                </a:solidFill>
              </a:rPr>
              <a:t>Alternative name</a:t>
            </a:r>
            <a:r>
              <a:rPr lang="en-US" noProof="0" dirty="0"/>
              <a:t>: </a:t>
            </a:r>
            <a:r>
              <a:rPr lang="en-US" b="1" noProof="0" dirty="0">
                <a:solidFill>
                  <a:srgbClr val="002060"/>
                </a:solidFill>
              </a:rPr>
              <a:t>has indistinguishable encryptions in the presence of an eavesdropper</a:t>
            </a:r>
            <a:endParaRPr lang="en-US" sz="1800" b="1" noProof="0" dirty="0">
              <a:solidFill>
                <a:srgbClr val="002060"/>
              </a:solidFill>
            </a:endParaRPr>
          </a:p>
        </p:txBody>
      </p:sp>
      <p:pic>
        <p:nvPicPr>
          <p:cNvPr id="22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6578" y="714356"/>
            <a:ext cx="2002325" cy="18378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986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 animBg="1"/>
      <p:bldP spid="54280" grpId="0" animBg="1"/>
      <p:bldP spid="54282" grpId="0" animBg="1"/>
      <p:bldP spid="54284" grpId="0" animBg="1"/>
      <p:bldP spid="54285" grpId="0" animBg="1"/>
      <p:bldP spid="54288" grpId="0" animBg="1"/>
      <p:bldP spid="54290" grpId="0" animBg="1"/>
      <p:bldP spid="54291" grpId="0" animBg="1"/>
      <p:bldP spid="54292" grpId="0" animBg="1"/>
      <p:bldP spid="54293" grpId="0" animBg="1"/>
      <p:bldP spid="5429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7498080" cy="1143000"/>
          </a:xfrm>
        </p:spPr>
        <p:txBody>
          <a:bodyPr/>
          <a:lstStyle/>
          <a:p>
            <a:r>
              <a:rPr lang="en-US" noProof="0" dirty="0"/>
              <a:t>Testing the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5786" y="2059536"/>
            <a:ext cx="7305032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noProof="0" dirty="0"/>
              <a:t>Suppose the adversary can compute </a:t>
            </a:r>
            <a:r>
              <a:rPr lang="en-US" sz="2400" b="1" i="1" noProof="0" dirty="0">
                <a:solidFill>
                  <a:srgbClr val="FF0000"/>
                </a:solidFill>
              </a:rPr>
              <a:t>k</a:t>
            </a:r>
            <a:r>
              <a:rPr lang="en-US" sz="2400" b="1" noProof="0" dirty="0">
                <a:solidFill>
                  <a:srgbClr val="993300"/>
                </a:solidFill>
              </a:rPr>
              <a:t> </a:t>
            </a:r>
            <a:r>
              <a:rPr lang="en-US" sz="2400" noProof="0" dirty="0"/>
              <a:t>from</a:t>
            </a:r>
            <a:r>
              <a:rPr lang="en-US" sz="2400" b="1" noProof="0" dirty="0"/>
              <a:t> </a:t>
            </a:r>
            <a:r>
              <a:rPr lang="en-US" sz="2400" b="1" noProof="0" dirty="0">
                <a:solidFill>
                  <a:srgbClr val="FF0000"/>
                </a:solidFill>
              </a:rPr>
              <a:t>Enc(</a:t>
            </a:r>
            <a:r>
              <a:rPr lang="en-US" sz="2400" b="1" i="1" noProof="0" dirty="0" err="1">
                <a:solidFill>
                  <a:srgbClr val="FF0000"/>
                </a:solidFill>
              </a:rPr>
              <a:t>k</a:t>
            </a:r>
            <a:r>
              <a:rPr lang="en-US" sz="2400" b="1" noProof="0" dirty="0" err="1">
                <a:solidFill>
                  <a:srgbClr val="FF0000"/>
                </a:solidFill>
              </a:rPr>
              <a:t>,</a:t>
            </a:r>
            <a:r>
              <a:rPr lang="en-US" sz="2400" b="1" i="1" noProof="0" dirty="0" err="1">
                <a:solidFill>
                  <a:srgbClr val="FF0000"/>
                </a:solidFill>
              </a:rPr>
              <a:t>m</a:t>
            </a:r>
            <a:r>
              <a:rPr lang="en-US" sz="2400" b="1" noProof="0" dirty="0">
                <a:solidFill>
                  <a:srgbClr val="FF0000"/>
                </a:solidFill>
              </a:rPr>
              <a:t>)</a:t>
            </a:r>
            <a:r>
              <a:rPr lang="en-US" sz="2400" noProof="0" dirty="0">
                <a:solidFill>
                  <a:schemeClr val="tx1"/>
                </a:solidFill>
              </a:rPr>
              <a:t>.</a:t>
            </a:r>
            <a:r>
              <a:rPr lang="en-US" sz="2400" noProof="0" dirty="0"/>
              <a:t>  Can he win the game?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590752" y="2773916"/>
            <a:ext cx="696024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b="1" noProof="0" dirty="0"/>
              <a:t>YES!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224" y="4345552"/>
            <a:ext cx="7215238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noProof="0" dirty="0"/>
              <a:t>Suppose the adversary can compute </a:t>
            </a:r>
            <a:r>
              <a:rPr lang="en-US" sz="2400" b="1" noProof="0" dirty="0">
                <a:solidFill>
                  <a:schemeClr val="tx1"/>
                </a:solidFill>
              </a:rPr>
              <a:t>some bit of</a:t>
            </a:r>
            <a:r>
              <a:rPr lang="en-US" sz="2400" noProof="0" dirty="0">
                <a:solidFill>
                  <a:schemeClr val="tx1"/>
                </a:solidFill>
              </a:rPr>
              <a:t> </a:t>
            </a:r>
            <a:r>
              <a:rPr lang="en-US" sz="2400" b="1" i="1" noProof="0" dirty="0">
                <a:solidFill>
                  <a:srgbClr val="FF0000"/>
                </a:solidFill>
              </a:rPr>
              <a:t>m</a:t>
            </a:r>
            <a:r>
              <a:rPr lang="en-US" sz="2400" noProof="0" dirty="0"/>
              <a:t> from </a:t>
            </a:r>
            <a:r>
              <a:rPr lang="en-US" sz="2400" b="1" noProof="0" dirty="0">
                <a:solidFill>
                  <a:srgbClr val="FF0000"/>
                </a:solidFill>
              </a:rPr>
              <a:t>Enc(</a:t>
            </a:r>
            <a:r>
              <a:rPr lang="en-US" sz="2400" b="1" i="1" noProof="0" dirty="0" err="1">
                <a:solidFill>
                  <a:srgbClr val="FF0000"/>
                </a:solidFill>
              </a:rPr>
              <a:t>k</a:t>
            </a:r>
            <a:r>
              <a:rPr lang="en-US" sz="2400" b="1" noProof="0" dirty="0" err="1">
                <a:solidFill>
                  <a:srgbClr val="FF0000"/>
                </a:solidFill>
              </a:rPr>
              <a:t>,</a:t>
            </a:r>
            <a:r>
              <a:rPr lang="en-US" sz="2400" b="1" i="1" noProof="0" dirty="0" err="1">
                <a:solidFill>
                  <a:srgbClr val="FF0000"/>
                </a:solidFill>
              </a:rPr>
              <a:t>m</a:t>
            </a:r>
            <a:r>
              <a:rPr lang="en-US" sz="2400" b="1" noProof="0" dirty="0">
                <a:solidFill>
                  <a:srgbClr val="FF0000"/>
                </a:solidFill>
              </a:rPr>
              <a:t>)</a:t>
            </a:r>
            <a:r>
              <a:rPr lang="en-US" sz="2400" noProof="0" dirty="0"/>
              <a:t>. Can he win the game?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519314" y="4988494"/>
            <a:ext cx="696024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b="1" noProof="0" dirty="0"/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406073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647968" cy="1143000"/>
          </a:xfrm>
        </p:spPr>
        <p:txBody>
          <a:bodyPr/>
          <a:lstStyle/>
          <a:p>
            <a:r>
              <a:rPr lang="en-US" noProof="0" dirty="0"/>
              <a:t>Multiple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429684" cy="37147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noProof="0" dirty="0"/>
              <a:t>In real-life applications we need to encrypt </a:t>
            </a:r>
            <a:r>
              <a:rPr lang="en-US" b="1" noProof="0" dirty="0">
                <a:solidFill>
                  <a:srgbClr val="FF0000"/>
                </a:solidFill>
              </a:rPr>
              <a:t>multiple messages with one key</a:t>
            </a:r>
            <a:r>
              <a:rPr lang="en-US" noProof="0" dirty="0"/>
              <a:t>.</a:t>
            </a:r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r>
              <a:rPr lang="en-US" noProof="0" dirty="0"/>
              <a:t>The adversary may learn something about the key by looking at </a:t>
            </a:r>
          </a:p>
          <a:p>
            <a:pPr algn="ctr">
              <a:buNone/>
            </a:pPr>
            <a:r>
              <a:rPr lang="en-US" noProof="0" dirty="0"/>
              <a:t>ciphertexts </a:t>
            </a:r>
            <a:r>
              <a:rPr lang="en-US" b="1" i="1" noProof="0" dirty="0">
                <a:solidFill>
                  <a:srgbClr val="FF0000"/>
                </a:solidFill>
              </a:rPr>
              <a:t>c</a:t>
            </a:r>
            <a:r>
              <a:rPr lang="en-US" b="1" baseline="-25000" noProof="0" dirty="0">
                <a:solidFill>
                  <a:srgbClr val="FF0000"/>
                </a:solidFill>
              </a:rPr>
              <a:t>1</a:t>
            </a:r>
            <a:r>
              <a:rPr lang="en-US" b="1" noProof="0" dirty="0">
                <a:solidFill>
                  <a:srgbClr val="FF0000"/>
                </a:solidFill>
              </a:rPr>
              <a:t>,...,</a:t>
            </a:r>
            <a:r>
              <a:rPr lang="en-US" b="1" i="1" noProof="0" dirty="0" err="1">
                <a:solidFill>
                  <a:srgbClr val="FF0000"/>
                </a:solidFill>
              </a:rPr>
              <a:t>c</a:t>
            </a:r>
            <a:r>
              <a:rPr lang="en-US" b="1" i="1" baseline="-25000" noProof="0" dirty="0" err="1">
                <a:solidFill>
                  <a:srgbClr val="FF0000"/>
                </a:solidFill>
              </a:rPr>
              <a:t>t</a:t>
            </a:r>
            <a:r>
              <a:rPr lang="en-US" b="1" noProof="0" dirty="0">
                <a:solidFill>
                  <a:srgbClr val="FF0000"/>
                </a:solidFill>
              </a:rPr>
              <a:t> </a:t>
            </a:r>
            <a:r>
              <a:rPr lang="en-US" noProof="0" dirty="0"/>
              <a:t>of </a:t>
            </a:r>
          </a:p>
          <a:p>
            <a:pPr algn="ctr">
              <a:buNone/>
            </a:pPr>
            <a:r>
              <a:rPr lang="en-US" noProof="0" dirty="0"/>
              <a:t>some messages </a:t>
            </a:r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baseline="-25000" noProof="0" dirty="0">
                <a:solidFill>
                  <a:srgbClr val="FF0000"/>
                </a:solidFill>
              </a:rPr>
              <a:t>1</a:t>
            </a:r>
            <a:r>
              <a:rPr lang="en-US" b="1" noProof="0" dirty="0">
                <a:solidFill>
                  <a:srgbClr val="FF0000"/>
                </a:solidFill>
              </a:rPr>
              <a:t>,...,</a:t>
            </a:r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i="1" baseline="-25000" noProof="0" dirty="0">
                <a:solidFill>
                  <a:srgbClr val="FF0000"/>
                </a:solidFill>
              </a:rPr>
              <a:t>t</a:t>
            </a:r>
            <a:r>
              <a:rPr lang="en-US" noProof="0" dirty="0"/>
              <a:t>.</a:t>
            </a:r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endParaRPr lang="en-US" noProof="0" dirty="0"/>
          </a:p>
        </p:txBody>
      </p:sp>
      <p:sp>
        <p:nvSpPr>
          <p:cNvPr id="4" name="Right Arrow Callout 3"/>
          <p:cNvSpPr/>
          <p:nvPr/>
        </p:nvSpPr>
        <p:spPr>
          <a:xfrm rot="16200000">
            <a:off x="3428992" y="1857364"/>
            <a:ext cx="2143140" cy="7429552"/>
          </a:xfrm>
          <a:prstGeom prst="rightArrowCallout">
            <a:avLst>
              <a:gd name="adj1" fmla="val 21902"/>
              <a:gd name="adj2" fmla="val 25000"/>
              <a:gd name="adj3" fmla="val 25000"/>
              <a:gd name="adj4" fmla="val 750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noProof="0" dirty="0"/>
              <a:t> </a:t>
            </a:r>
            <a:r>
              <a:rPr lang="en-US" sz="2400" b="1" noProof="0" dirty="0">
                <a:solidFill>
                  <a:schemeClr val="tx1"/>
                </a:solidFill>
              </a:rPr>
              <a:t>How are these messages chosen?</a:t>
            </a:r>
          </a:p>
          <a:p>
            <a:pPr algn="ctr"/>
            <a:r>
              <a:rPr lang="en-US" sz="2400" b="1" noProof="0" dirty="0">
                <a:solidFill>
                  <a:schemeClr val="tx1"/>
                </a:solidFill>
              </a:rPr>
              <a:t>let’s say: the adversary can choose them!</a:t>
            </a:r>
            <a:br>
              <a:rPr lang="en-US" sz="2400" b="1" noProof="0" dirty="0">
                <a:solidFill>
                  <a:schemeClr val="tx1"/>
                </a:solidFill>
              </a:rPr>
            </a:br>
            <a:endParaRPr lang="en-US" sz="2400" b="1" noProof="0" dirty="0">
              <a:solidFill>
                <a:schemeClr val="tx1"/>
              </a:solidFill>
            </a:endParaRPr>
          </a:p>
          <a:p>
            <a:pPr algn="ctr"/>
            <a:r>
              <a:rPr lang="en-US" sz="2400" b="1" noProof="0" dirty="0">
                <a:solidFill>
                  <a:schemeClr val="tx1"/>
                </a:solidFill>
              </a:rPr>
              <a:t>(good tradition: be as pessimistic as possible)</a:t>
            </a:r>
          </a:p>
        </p:txBody>
      </p:sp>
    </p:spTree>
    <p:extLst>
      <p:ext uri="{BB962C8B-B14F-4D97-AF65-F5344CB8AC3E}">
        <p14:creationId xmlns:p14="http://schemas.microsoft.com/office/powerpoint/2010/main" val="99826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own Arrow 57"/>
          <p:cNvSpPr/>
          <p:nvPr/>
        </p:nvSpPr>
        <p:spPr>
          <a:xfrm rot="18721483">
            <a:off x="6300626" y="3487349"/>
            <a:ext cx="262611" cy="1061319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59" name="Down Arrow 58"/>
          <p:cNvSpPr/>
          <p:nvPr/>
        </p:nvSpPr>
        <p:spPr>
          <a:xfrm rot="13935738">
            <a:off x="2103699" y="3463185"/>
            <a:ext cx="262611" cy="1061319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noProof="0" dirty="0"/>
              <a:t>A real-life example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235181" y="1707829"/>
            <a:ext cx="26260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sng" noProof="0" dirty="0">
                <a:solidFill>
                  <a:srgbClr val="008000"/>
                </a:solidFill>
              </a:rPr>
              <a:t>Example</a:t>
            </a:r>
            <a:r>
              <a:rPr lang="en-US" sz="2400" b="1" noProof="0" dirty="0">
                <a:solidFill>
                  <a:srgbClr val="008000"/>
                </a:solidFill>
              </a:rPr>
              <a:t>: routing</a:t>
            </a:r>
          </a:p>
        </p:txBody>
      </p:sp>
      <p:pic>
        <p:nvPicPr>
          <p:cNvPr id="23" name="Picture 10" descr="MCj0424790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2239" y="2493647"/>
            <a:ext cx="1122363" cy="1168400"/>
          </a:xfrm>
          <a:prstGeom prst="rect">
            <a:avLst/>
          </a:prstGeom>
          <a:noFill/>
        </p:spPr>
      </p:pic>
      <p:pic>
        <p:nvPicPr>
          <p:cNvPr id="24" name="Picture 11" descr="MCj0424790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1155" y="2446035"/>
            <a:ext cx="1195388" cy="1244600"/>
          </a:xfrm>
          <a:prstGeom prst="rect">
            <a:avLst/>
          </a:prstGeom>
          <a:noFill/>
        </p:spPr>
      </p:pic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1992155" y="3817635"/>
            <a:ext cx="396875" cy="376238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</a:p>
        </p:txBody>
      </p:sp>
      <p:pic>
        <p:nvPicPr>
          <p:cNvPr id="33" name="Picture 1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6355" y="4351035"/>
            <a:ext cx="1066800" cy="738188"/>
          </a:xfrm>
          <a:prstGeom prst="rect">
            <a:avLst/>
          </a:prstGeom>
          <a:noFill/>
        </p:spPr>
      </p:pic>
      <p:sp>
        <p:nvSpPr>
          <p:cNvPr id="34" name="Text Box 39"/>
          <p:cNvSpPr txBox="1">
            <a:spLocks noChangeArrowheads="1"/>
          </p:cNvSpPr>
          <p:nvPr/>
        </p:nvSpPr>
        <p:spPr bwMode="auto">
          <a:xfrm>
            <a:off x="2754155" y="2750835"/>
            <a:ext cx="308098" cy="369332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i="1" noProof="0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5" name="Text Box 40"/>
          <p:cNvSpPr txBox="1">
            <a:spLocks noChangeArrowheads="1"/>
          </p:cNvSpPr>
          <p:nvPr/>
        </p:nvSpPr>
        <p:spPr bwMode="auto">
          <a:xfrm>
            <a:off x="5573555" y="2750835"/>
            <a:ext cx="308098" cy="369332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i="1" noProof="0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54" name="Shape 53"/>
          <p:cNvCxnSpPr>
            <a:endCxn id="33" idx="3"/>
          </p:cNvCxnSpPr>
          <p:nvPr/>
        </p:nvCxnSpPr>
        <p:spPr>
          <a:xfrm rot="10800000" flipV="1">
            <a:off x="2373155" y="2993713"/>
            <a:ext cx="2179400" cy="1726416"/>
          </a:xfrm>
          <a:prstGeom prst="curvedConnector3">
            <a:avLst>
              <a:gd name="adj1" fmla="val 6115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own Arrow 59"/>
          <p:cNvSpPr/>
          <p:nvPr/>
        </p:nvSpPr>
        <p:spPr>
          <a:xfrm rot="16200000">
            <a:off x="4354042" y="1946290"/>
            <a:ext cx="262611" cy="1785951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4020999" y="2636523"/>
            <a:ext cx="1051891" cy="369332"/>
          </a:xfrm>
          <a:prstGeom prst="rect">
            <a:avLst/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noProof="0" dirty="0">
                <a:solidFill>
                  <a:srgbClr val="FF0000"/>
                </a:solidFill>
              </a:rPr>
              <a:t>Enc</a:t>
            </a:r>
            <a:r>
              <a:rPr lang="en-US" sz="1800" b="1" i="1" baseline="-25000" noProof="0" dirty="0">
                <a:solidFill>
                  <a:srgbClr val="FF0000"/>
                </a:solidFill>
              </a:rPr>
              <a:t>k</a:t>
            </a:r>
            <a:r>
              <a:rPr lang="en-US" sz="1800" b="1" noProof="0" dirty="0">
                <a:solidFill>
                  <a:srgbClr val="FF0000"/>
                </a:solidFill>
              </a:rPr>
              <a:t>(</a:t>
            </a: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  <a:r>
              <a:rPr lang="en-US" sz="1800" b="1" noProof="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63" name="Picture 1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8519" y="4136721"/>
            <a:ext cx="1066800" cy="738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786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9220" grpId="0"/>
      <p:bldP spid="31" grpId="0" animBg="1"/>
      <p:bldP spid="34" grpId="0" animBg="1"/>
      <p:bldP spid="35" grpId="0" animBg="1"/>
      <p:bldP spid="60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1071546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0" y="4419600"/>
            <a:ext cx="9144000" cy="1066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r>
              <a:rPr lang="en-US" noProof="0" dirty="0"/>
              <a:t>A chosen-plaintext attack (CPA)</a:t>
            </a:r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066800"/>
            <a:ext cx="1676400" cy="1158875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391400" y="25146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noProof="0" dirty="0"/>
              <a:t>oracle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74" name="Text Box 6"/>
              <p:cNvSpPr txBox="1">
                <a:spLocks noChangeArrowheads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noProof="0" dirty="0"/>
                  <a:t>chooses</a:t>
                </a:r>
                <a:r>
                  <a:rPr lang="en-US" b="1" noProof="0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blipFill>
                <a:blip r:embed="rId5"/>
                <a:stretch>
                  <a:fillRect t="-13333" b="-2000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5" name="Line 7"/>
          <p:cNvSpPr>
            <a:spLocks noChangeShapeType="1"/>
          </p:cNvSpPr>
          <p:nvPr/>
        </p:nvSpPr>
        <p:spPr bwMode="auto">
          <a:xfrm>
            <a:off x="2743200" y="22860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76" name="Text Box 8"/>
              <p:cNvSpPr txBox="1">
                <a:spLocks noChangeArrowheads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2743200" y="2743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78" name="Text Box 10"/>
              <p:cNvSpPr txBox="1">
                <a:spLocks noChangeArrowheads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 i="1" noProof="0" dirty="0">
                    <a:solidFill>
                      <a:srgbClr val="FF0000"/>
                    </a:solidFill>
                  </a:rPr>
                  <a:t>c</a:t>
                </a:r>
                <a:r>
                  <a:rPr lang="en-US" b="1" baseline="-25000" noProof="0" dirty="0">
                    <a:solidFill>
                      <a:srgbClr val="FF0000"/>
                    </a:solidFill>
                  </a:rPr>
                  <a:t>1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= Enc(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k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)</a:t>
                </a:r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7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blipFill>
                <a:blip r:embed="rId7"/>
                <a:stretch>
                  <a:fillRect t="-13333" b="-2333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533400" y="6019800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noProof="0" dirty="0"/>
              <a:t>has to guess </a:t>
            </a:r>
            <a:r>
              <a:rPr lang="en-US" b="1" i="1" noProof="0" dirty="0">
                <a:solidFill>
                  <a:srgbClr val="FF0000"/>
                </a:solidFill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80" name="Text Box 12"/>
              <p:cNvSpPr txBox="1">
                <a:spLocks noChangeArrowheads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noProof="0" dirty="0"/>
                  <a:t>chooses</a:t>
                </a:r>
                <a:r>
                  <a:rPr lang="en-US" b="1" noProof="0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blipFill>
                <a:blip r:embed="rId8"/>
                <a:stretch>
                  <a:fillRect t="-9677" b="-1935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1" name="Line 13"/>
          <p:cNvSpPr>
            <a:spLocks noChangeShapeType="1"/>
          </p:cNvSpPr>
          <p:nvPr/>
        </p:nvSpPr>
        <p:spPr bwMode="auto">
          <a:xfrm>
            <a:off x="2819400" y="35814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82" name="Text Box 14"/>
              <p:cNvSpPr txBox="1">
                <a:spLocks noChangeArrowheads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8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2819400" y="41148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84" name="Text Box 16"/>
              <p:cNvSpPr txBox="1">
                <a:spLocks noChangeArrowheads="1"/>
              </p:cNvSpPr>
              <p:nvPr/>
            </p:nvSpPr>
            <p:spPr bwMode="auto">
              <a:xfrm>
                <a:off x="3581400" y="3962400"/>
                <a:ext cx="20574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 i="1" noProof="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b="1" i="1" baseline="-25000" noProof="0" dirty="0" err="1">
                    <a:solidFill>
                      <a:srgbClr val="FF0000"/>
                    </a:solidFill>
                  </a:rPr>
                  <a:t>t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= Enc(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)</a:t>
                </a:r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8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3962400"/>
                <a:ext cx="2057400" cy="369888"/>
              </a:xfrm>
              <a:prstGeom prst="rect">
                <a:avLst/>
              </a:prstGeom>
              <a:blipFill>
                <a:blip r:embed="rId10"/>
                <a:stretch>
                  <a:fillRect t="-6667" b="-2333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819400" y="4648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343400" y="4495800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baseline="-25000" noProof="0" dirty="0">
                <a:solidFill>
                  <a:srgbClr val="FF0000"/>
                </a:solidFill>
              </a:rPr>
              <a:t>0</a:t>
            </a:r>
            <a:r>
              <a:rPr lang="en-US" b="1" noProof="0" dirty="0">
                <a:solidFill>
                  <a:srgbClr val="FF0000"/>
                </a:solidFill>
              </a:rPr>
              <a:t>,</a:t>
            </a:r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baseline="-25000" noProof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819400" y="51816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3657600" y="5029200"/>
            <a:ext cx="19812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 i="1" noProof="0" dirty="0">
                <a:solidFill>
                  <a:srgbClr val="FF0000"/>
                </a:solidFill>
              </a:rPr>
              <a:t>c</a:t>
            </a:r>
            <a:r>
              <a:rPr lang="en-US" b="1" noProof="0" dirty="0">
                <a:solidFill>
                  <a:srgbClr val="FF0000"/>
                </a:solidFill>
              </a:rPr>
              <a:t> = Enc(</a:t>
            </a:r>
            <a:r>
              <a:rPr lang="en-US" b="1" i="1" noProof="0" dirty="0" err="1">
                <a:solidFill>
                  <a:srgbClr val="FF0000"/>
                </a:solidFill>
              </a:rPr>
              <a:t>k</a:t>
            </a:r>
            <a:r>
              <a:rPr lang="en-US" b="1" noProof="0" dirty="0" err="1">
                <a:solidFill>
                  <a:srgbClr val="FF0000"/>
                </a:solidFill>
              </a:rPr>
              <a:t>,</a:t>
            </a:r>
            <a:r>
              <a:rPr lang="en-US" b="1" i="1" noProof="0" dirty="0" err="1">
                <a:solidFill>
                  <a:srgbClr val="FF0000"/>
                </a:solidFill>
              </a:rPr>
              <a:t>m</a:t>
            </a:r>
            <a:r>
              <a:rPr lang="en-US" b="1" i="1" baseline="-25000" noProof="0" dirty="0" err="1">
                <a:solidFill>
                  <a:srgbClr val="FF0000"/>
                </a:solidFill>
              </a:rPr>
              <a:t>b</a:t>
            </a:r>
            <a:r>
              <a:rPr lang="en-US" b="1" noProof="0" dirty="0">
                <a:solidFill>
                  <a:srgbClr val="FF0000"/>
                </a:solidFill>
              </a:rPr>
              <a:t>)</a:t>
            </a:r>
            <a:endParaRPr lang="en-US" b="1" baseline="-25000" noProof="0" dirty="0">
              <a:solidFill>
                <a:srgbClr val="FF0000"/>
              </a:solidFill>
            </a:endParaRP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38200" y="44958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noProof="0" dirty="0"/>
              <a:t>chooses</a:t>
            </a:r>
            <a:r>
              <a:rPr lang="en-US" b="1" noProof="0" dirty="0">
                <a:solidFill>
                  <a:srgbClr val="990000"/>
                </a:solidFill>
              </a:rPr>
              <a:t> </a:t>
            </a:r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baseline="-25000" noProof="0" dirty="0">
                <a:solidFill>
                  <a:srgbClr val="FF0000"/>
                </a:solidFill>
              </a:rPr>
              <a:t>0</a:t>
            </a:r>
            <a:r>
              <a:rPr lang="en-US" b="1" noProof="0" dirty="0">
                <a:solidFill>
                  <a:srgbClr val="FF0000"/>
                </a:solidFill>
              </a:rPr>
              <a:t>,</a:t>
            </a:r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baseline="-25000" noProof="0" dirty="0">
                <a:solidFill>
                  <a:srgbClr val="FF0000"/>
                </a:solidFill>
              </a:rPr>
              <a:t>1</a:t>
            </a:r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3082925" y="5629275"/>
            <a:ext cx="2872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noProof="0" dirty="0"/>
              <a:t>the interaction continues . . .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3220303" y="914400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noProof="0" dirty="0"/>
              <a:t>security parameter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1</a:t>
            </a:r>
            <a:r>
              <a:rPr lang="en-US" b="1" baseline="30000" noProof="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52600" y="1219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5334000" y="1295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562600" y="990600"/>
                <a:ext cx="3429000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342900" indent="-342900" algn="l">
                  <a:buFontTx/>
                  <a:buAutoNum type="arabicPeriod"/>
                </a:pPr>
                <a:r>
                  <a:rPr lang="en-US" noProof="0" dirty="0"/>
                  <a:t>chooses random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b="1" noProof="0" dirty="0">
                  <a:solidFill>
                    <a:srgbClr val="9933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noProof="0" dirty="0"/>
                  <a:t>chooses random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1" noProof="0" dirty="0">
                  <a:solidFill>
                    <a:srgbClr val="993300"/>
                  </a:solidFill>
                </a:endParaRPr>
              </a:p>
            </p:txBody>
          </p:sp>
        </mc:Choice>
        <mc:Fallback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2600" y="990600"/>
                <a:ext cx="3429000" cy="646331"/>
              </a:xfrm>
              <a:prstGeom prst="rect">
                <a:avLst/>
              </a:prstGeom>
              <a:blipFill>
                <a:blip r:embed="rId11"/>
                <a:stretch>
                  <a:fillRect l="-1476" t="-5769" b="-1153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95" name="Text Box 27"/>
          <p:cNvSpPr txBox="1">
            <a:spLocks noChangeArrowheads="1"/>
          </p:cNvSpPr>
          <p:nvPr/>
        </p:nvSpPr>
        <p:spPr bwMode="auto">
          <a:xfrm rot="5400000">
            <a:off x="4303779" y="3037959"/>
            <a:ext cx="4459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. . .</a:t>
            </a:r>
          </a:p>
        </p:txBody>
      </p:sp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0" y="40386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noProof="0" dirty="0"/>
              <a:t>challenge phase:</a:t>
            </a:r>
          </a:p>
        </p:txBody>
      </p:sp>
    </p:spTree>
    <p:extLst>
      <p:ext uri="{BB962C8B-B14F-4D97-AF65-F5344CB8AC3E}">
        <p14:creationId xmlns:p14="http://schemas.microsoft.com/office/powerpoint/2010/main" val="164900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0" grpId="0" animBg="1"/>
      <p:bldP spid="58374" grpId="0" animBg="1"/>
      <p:bldP spid="58375" grpId="0" animBg="1"/>
      <p:bldP spid="58376" grpId="0" animBg="1"/>
      <p:bldP spid="58377" grpId="0" animBg="1"/>
      <p:bldP spid="58378" grpId="0" animBg="1"/>
      <p:bldP spid="58379" grpId="0" animBg="1"/>
      <p:bldP spid="58380" grpId="0" animBg="1"/>
      <p:bldP spid="58381" grpId="0" animBg="1"/>
      <p:bldP spid="58382" grpId="0" animBg="1"/>
      <p:bldP spid="58383" grpId="0" animBg="1"/>
      <p:bldP spid="58384" grpId="0" animBg="1"/>
      <p:bldP spid="58385" grpId="0" animBg="1"/>
      <p:bldP spid="58386" grpId="0" animBg="1"/>
      <p:bldP spid="58387" grpId="0" animBg="1"/>
      <p:bldP spid="58388" grpId="0" animBg="1"/>
      <p:bldP spid="58389" grpId="0" animBg="1"/>
      <p:bldP spid="58390" grpId="0"/>
      <p:bldP spid="58394" grpId="0" animBg="1"/>
      <p:bldP spid="58395" grpId="0"/>
      <p:bldP spid="584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noProof="0" dirty="0"/>
              <a:t>CPA-security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6" name="Text Box 4"/>
              <p:cNvSpPr txBox="1">
                <a:spLocks noChangeArrowheads="1"/>
              </p:cNvSpPr>
              <p:nvPr/>
            </p:nvSpPr>
            <p:spPr bwMode="auto">
              <a:xfrm>
                <a:off x="335643" y="2784034"/>
                <a:ext cx="8458200" cy="284007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>
                <a:spAutoFit/>
              </a:bodyPr>
              <a:lstStyle/>
              <a:p>
                <a:pPr algn="l"/>
                <a:endParaRPr lang="en-US" sz="2400" noProof="0" dirty="0"/>
              </a:p>
              <a:p>
                <a:pPr algn="l"/>
                <a:r>
                  <a:rPr lang="en-US" sz="2400" noProof="0" dirty="0"/>
                  <a:t>We say that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(</a:t>
                </a:r>
                <a:r>
                  <a:rPr lang="en-US" sz="2400" b="1" noProof="0" dirty="0" err="1">
                    <a:solidFill>
                      <a:srgbClr val="FF0000"/>
                    </a:solidFill>
                  </a:rPr>
                  <a:t>Enc,Dec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)</a:t>
                </a:r>
                <a:r>
                  <a:rPr lang="en-US" sz="24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has</a:t>
                </a:r>
                <a:r>
                  <a:rPr lang="en-US" sz="2400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indistinguishable encryptions under a chosen-plaintext attack (CPA)</a:t>
                </a:r>
                <a:r>
                  <a:rPr lang="en-US" sz="2400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noProof="0" dirty="0"/>
                  <a:t>if </a:t>
                </a:r>
                <a:br>
                  <a:rPr lang="en-US" sz="2400" noProof="0" dirty="0"/>
                </a:br>
                <a:endParaRPr lang="en-US" sz="2400" noProof="0" dirty="0"/>
              </a:p>
              <a:p>
                <a:pPr algn="ctr"/>
                <a:r>
                  <a:rPr lang="en-US" sz="2400" noProof="0" dirty="0"/>
                  <a:t>every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randomized polynomial time</a:t>
                </a:r>
                <a:r>
                  <a:rPr lang="en-US" sz="2400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noProof="0" dirty="0"/>
                  <a:t>adversary </a:t>
                </a:r>
                <a:br>
                  <a:rPr lang="en-US" sz="2400" noProof="0" dirty="0"/>
                </a:br>
                <a:r>
                  <a:rPr lang="en-US" sz="2400" noProof="0" dirty="0"/>
                  <a:t>guesses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b</a:t>
                </a:r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2400" noProof="0" dirty="0"/>
                  <a:t>correctly </a:t>
                </a:r>
                <a:br>
                  <a:rPr lang="en-US" sz="2400" b="1" noProof="0" dirty="0"/>
                </a:br>
                <a:r>
                  <a:rPr lang="en-US" sz="2400" noProof="0" dirty="0"/>
                  <a:t>with probability at most</a:t>
                </a:r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d>
                      <m:d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400" b="1" noProof="0" dirty="0">
                    <a:solidFill>
                      <a:srgbClr val="993300"/>
                    </a:solidFill>
                  </a:rPr>
                  <a:t>,</a:t>
                </a:r>
                <a:r>
                  <a:rPr lang="en-US" sz="2400" noProof="0" dirty="0"/>
                  <a:t> where</a:t>
                </a:r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2400" noProof="0" dirty="0"/>
                  <a:t>is negligible.</a:t>
                </a:r>
                <a:endParaRPr lang="en-US" sz="2000" noProof="0" dirty="0"/>
              </a:p>
            </p:txBody>
          </p:sp>
        </mc:Choice>
        <mc:Fallback>
          <p:sp>
            <p:nvSpPr>
              <p:cNvPr id="819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643" y="2784034"/>
                <a:ext cx="8458200" cy="2840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3717891" y="1130760"/>
            <a:ext cx="5269413" cy="555171"/>
          </a:xfrm>
          <a:prstGeom prst="wedgeRectCallout">
            <a:avLst>
              <a:gd name="adj1" fmla="val 908"/>
              <a:gd name="adj2" fmla="val 298979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2000" b="1" noProof="0" dirty="0"/>
              <a:t>We will sometimes say:</a:t>
            </a:r>
            <a:r>
              <a:rPr lang="en-US" sz="2000" noProof="0" dirty="0"/>
              <a:t> </a:t>
            </a:r>
            <a:r>
              <a:rPr lang="en-US" sz="2000" b="1" noProof="0" dirty="0">
                <a:solidFill>
                  <a:srgbClr val="0070C0"/>
                </a:solidFill>
              </a:rPr>
              <a:t>IND-CPA-secure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5511" y="2355406"/>
            <a:ext cx="3286148" cy="42862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rgbClr val="0070C0"/>
                </a:solidFill>
              </a:rPr>
              <a:t>Security definition</a:t>
            </a:r>
          </a:p>
        </p:txBody>
      </p:sp>
    </p:spTree>
    <p:extLst>
      <p:ext uri="{BB962C8B-B14F-4D97-AF65-F5344CB8AC3E}">
        <p14:creationId xmlns:p14="http://schemas.microsoft.com/office/powerpoint/2010/main" val="387477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A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CPA-secure</a:t>
                </a:r>
                <a:r>
                  <a:rPr lang="en-US" noProof="0" dirty="0"/>
                  <a:t> encryption scheme cannot be deterministic.</a:t>
                </a:r>
              </a:p>
              <a:p>
                <a:pPr marL="0" indent="0">
                  <a:buNone/>
                </a:pPr>
                <a:r>
                  <a:rPr lang="en-US" noProof="0" dirty="0"/>
                  <a:t>Typical options:</a:t>
                </a:r>
              </a:p>
              <a:p>
                <a:r>
                  <a:rPr lang="en-US" b="1" noProof="0" dirty="0">
                    <a:solidFill>
                      <a:srgbClr val="FF0000"/>
                    </a:solidFill>
                  </a:rPr>
                  <a:t>Enc </a:t>
                </a:r>
                <a:r>
                  <a:rPr lang="en-US" noProof="0" dirty="0"/>
                  <a:t>has a “state” (e.g. a counter)</a:t>
                </a:r>
              </a:p>
              <a:p>
                <a:r>
                  <a:rPr lang="en-US" b="1" noProof="0" dirty="0">
                    <a:solidFill>
                      <a:srgbClr val="FF0000"/>
                    </a:solidFill>
                  </a:rPr>
                  <a:t>Enc </a:t>
                </a:r>
                <a:r>
                  <a:rPr lang="en-US" noProof="0" dirty="0"/>
                  <a:t>is randomized, i.e., it takes as additional input:</a:t>
                </a:r>
              </a:p>
              <a:p>
                <a:pPr lvl="1"/>
                <a:r>
                  <a:rPr lang="en-US" noProof="0" dirty="0"/>
                  <a:t>some perfect randomness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noProof="0" dirty="0"/>
                  <a:t>, or</a:t>
                </a:r>
              </a:p>
              <a:p>
                <a:pPr lvl="1"/>
                <a:r>
                  <a:rPr lang="en-US" noProof="0" dirty="0"/>
                  <a:t>takes as an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nonce</a:t>
                </a:r>
                <a:r>
                  <a:rPr lang="en-US" b="1" noProof="0" dirty="0"/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endParaRPr lang="en-US" noProof="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08" t="-232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ular Callout 3"/>
          <p:cNvSpPr/>
          <p:nvPr/>
        </p:nvSpPr>
        <p:spPr>
          <a:xfrm>
            <a:off x="6390715" y="4693485"/>
            <a:ext cx="2533426" cy="870830"/>
          </a:xfrm>
          <a:prstGeom prst="wedgeRoundRectCallout">
            <a:avLst>
              <a:gd name="adj1" fmla="val -128264"/>
              <a:gd name="adj2" fmla="val 1370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weaker requirement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1699709" y="5870639"/>
            <a:ext cx="4491317" cy="612648"/>
          </a:xfrm>
          <a:prstGeom prst="wedgeRoundRectCallout">
            <a:avLst>
              <a:gd name="adj1" fmla="val -20953"/>
              <a:gd name="adj2" fmla="val -11923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rgbClr val="0070C0"/>
                </a:solidFill>
              </a:rPr>
              <a:t>nonce</a:t>
            </a:r>
            <a:r>
              <a:rPr lang="en-US" sz="2400" noProof="0" dirty="0">
                <a:solidFill>
                  <a:srgbClr val="0070C0"/>
                </a:solidFill>
              </a:rPr>
              <a:t> </a:t>
            </a:r>
            <a:r>
              <a:rPr lang="en-US" sz="2400" noProof="0" dirty="0"/>
              <a:t>= “</a:t>
            </a:r>
            <a:r>
              <a:rPr lang="en-US" sz="2400" b="1" noProof="0" dirty="0">
                <a:solidFill>
                  <a:srgbClr val="0070C0"/>
                </a:solidFill>
              </a:rPr>
              <a:t>n</a:t>
            </a:r>
            <a:r>
              <a:rPr lang="en-US" sz="2400" noProof="0" dirty="0"/>
              <a:t>umber used </a:t>
            </a:r>
            <a:r>
              <a:rPr lang="en-US" sz="2400" b="1" noProof="0" dirty="0">
                <a:solidFill>
                  <a:srgbClr val="0070C0"/>
                </a:solidFill>
              </a:rPr>
              <a:t>once</a:t>
            </a:r>
            <a:r>
              <a:rPr lang="en-US" sz="2400" noProof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767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52"/>
            <a:ext cx="8929718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Other attacks known in the literature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8728" y="1500174"/>
                <a:ext cx="7715272" cy="5043510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noProof="0" dirty="0">
                    <a:solidFill>
                      <a:srgbClr val="0070C0"/>
                    </a:solidFill>
                  </a:rPr>
                  <a:t>ciphertext-only attack</a:t>
                </a:r>
                <a:r>
                  <a:rPr lang="en-US" sz="2400" b="1" noProof="0" dirty="0"/>
                  <a:t> </a:t>
                </a:r>
                <a:r>
                  <a:rPr lang="en-US" sz="2400" noProof="0" dirty="0"/>
                  <a:t>– the adversary has no information about the plaintext</a:t>
                </a:r>
                <a:br>
                  <a:rPr lang="en-US" sz="2400" noProof="0" dirty="0"/>
                </a:br>
                <a:endParaRPr lang="en-US" sz="2400" b="1" noProof="0" dirty="0"/>
              </a:p>
              <a:p>
                <a:r>
                  <a:rPr lang="en-US" sz="2400" b="1" noProof="0" dirty="0">
                    <a:solidFill>
                      <a:srgbClr val="0070C0"/>
                    </a:solidFill>
                  </a:rPr>
                  <a:t>known plaintext attack </a:t>
                </a:r>
                <a:r>
                  <a:rPr lang="en-US" sz="2400" noProof="0" dirty="0"/>
                  <a:t>– the plaintext are drawn from some distribution that the adversary does not control</a:t>
                </a:r>
                <a:br>
                  <a:rPr lang="en-US" sz="2400" noProof="0" dirty="0"/>
                </a:br>
                <a:endParaRPr lang="en-US" sz="2400" b="1" noProof="0" dirty="0"/>
              </a:p>
              <a:p>
                <a:r>
                  <a:rPr lang="en-US" sz="2400" b="1" noProof="0" dirty="0">
                    <a:solidFill>
                      <a:srgbClr val="C00000"/>
                    </a:solidFill>
                  </a:rPr>
                  <a:t>batch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 chosen-plaintext attack </a:t>
                </a:r>
                <a:r>
                  <a:rPr lang="en-US" sz="2400" noProof="0" dirty="0"/>
                  <a:t>– like the </a:t>
                </a:r>
                <a:r>
                  <a:rPr lang="en-US" sz="2400" b="1" noProof="0" dirty="0"/>
                  <a:t>CPA</a:t>
                </a:r>
                <a:r>
                  <a:rPr lang="en-US" sz="2400" noProof="0" dirty="0"/>
                  <a:t> attack, but the adversary has to choose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b="1" noProof="0" dirty="0">
                    <a:solidFill>
                      <a:srgbClr val="FF0000"/>
                    </a:solidFill>
                  </a:rPr>
                  <a:t>,...,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b="1" baseline="-250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noProof="0" dirty="0"/>
                  <a:t>at once.</a:t>
                </a:r>
                <a:br>
                  <a:rPr lang="en-US" sz="2400" noProof="0" dirty="0"/>
                </a:br>
                <a:br>
                  <a:rPr lang="en-US" sz="2400" noProof="0" dirty="0"/>
                </a:br>
                <a:br>
                  <a:rPr lang="en-US" sz="2400" noProof="0" dirty="0"/>
                </a:br>
                <a:endParaRPr lang="en-US" sz="2400" noProof="0" dirty="0"/>
              </a:p>
              <a:p>
                <a:r>
                  <a:rPr lang="en-US" sz="2400" b="1" noProof="0" dirty="0">
                    <a:solidFill>
                      <a:srgbClr val="0070C0"/>
                    </a:solidFill>
                  </a:rPr>
                  <a:t>chosen ciphertext attack</a:t>
                </a:r>
                <a:r>
                  <a:rPr lang="en-US" sz="2400" b="1" noProof="0" dirty="0"/>
                  <a:t> </a:t>
                </a:r>
                <a:r>
                  <a:rPr lang="en-US" sz="2400" noProof="0" dirty="0"/>
                  <a:t>–  we will discuss it later…</a:t>
                </a:r>
              </a:p>
              <a:p>
                <a:endParaRPr lang="en-US" sz="2400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28" y="1500174"/>
                <a:ext cx="7715272" cy="5043510"/>
              </a:xfrm>
              <a:blipFill>
                <a:blip r:embed="rId3"/>
                <a:stretch>
                  <a:fillRect l="-987" t="-1759" r="-131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1628740" y="4658563"/>
            <a:ext cx="7315248" cy="642942"/>
          </a:xfrm>
          <a:prstGeom prst="wedgeRectCallout">
            <a:avLst>
              <a:gd name="adj1" fmla="val -13775"/>
              <a:gd name="adj2" fmla="val -7885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(“our” </a:t>
            </a:r>
            <a:r>
              <a:rPr lang="en-US" sz="2000" b="1" noProof="0" dirty="0"/>
              <a:t>CPA</a:t>
            </a:r>
            <a:r>
              <a:rPr lang="en-US" sz="2000" noProof="0" dirty="0"/>
              <a:t>-attack is also called the “</a:t>
            </a:r>
            <a:r>
              <a:rPr lang="en-US" sz="2000" b="1" noProof="0" dirty="0">
                <a:solidFill>
                  <a:srgbClr val="FF0000"/>
                </a:solidFill>
              </a:rPr>
              <a:t>adaptive </a:t>
            </a:r>
            <a:r>
              <a:rPr lang="en-US" sz="2000" b="1" noProof="0" dirty="0"/>
              <a:t>CPA-attack</a:t>
            </a:r>
            <a:r>
              <a:rPr lang="en-US" b="1" noProof="0" dirty="0"/>
              <a:t>”</a:t>
            </a:r>
            <a:r>
              <a:rPr lang="en-US" noProof="0" dirty="0"/>
              <a:t>)</a:t>
            </a:r>
            <a:endParaRPr lang="en-US" sz="2000" noProof="0" dirty="0"/>
          </a:p>
        </p:txBody>
      </p:sp>
      <p:sp>
        <p:nvSpPr>
          <p:cNvPr id="5" name="Up-Down Arrow 4"/>
          <p:cNvSpPr/>
          <p:nvPr/>
        </p:nvSpPr>
        <p:spPr>
          <a:xfrm>
            <a:off x="285720" y="1571612"/>
            <a:ext cx="1000100" cy="442915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noProof="0" dirty="0"/>
              <a:t>strong                                           weak</a:t>
            </a:r>
          </a:p>
        </p:txBody>
      </p:sp>
    </p:spTree>
    <p:extLst>
      <p:ext uri="{BB962C8B-B14F-4D97-AF65-F5344CB8AC3E}">
        <p14:creationId xmlns:p14="http://schemas.microsoft.com/office/powerpoint/2010/main" val="373323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412563" y="1794442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1404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792" y="4837"/>
            <a:ext cx="7886700" cy="1325563"/>
          </a:xfrm>
        </p:spPr>
        <p:txBody>
          <a:bodyPr/>
          <a:lstStyle/>
          <a:p>
            <a:r>
              <a:rPr lang="en-US" noProof="0" dirty="0"/>
              <a:t>Is it possible to prove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564" y="1330400"/>
            <a:ext cx="8229600" cy="168592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noProof="0" dirty="0"/>
              <a:t>Bad news:</a:t>
            </a:r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r>
              <a:rPr lang="en-US" b="1" u="sng" noProof="0" dirty="0"/>
              <a:t>Theorem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003857" y="4945133"/>
            <a:ext cx="394126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b="1" noProof="0" dirty="0">
                <a:solidFill>
                  <a:srgbClr val="FF0000"/>
                </a:solidFill>
              </a:rPr>
              <a:t>P ≠ NP 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008604" y="2659133"/>
            <a:ext cx="3902109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If semantically-secure encryption exists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(with </a:t>
            </a:r>
            <a:r>
              <a:rPr lang="en-US" sz="2400" b="1" noProof="0" dirty="0">
                <a:solidFill>
                  <a:srgbClr val="FF0000"/>
                </a:solidFill>
              </a:rPr>
              <a:t>|</a:t>
            </a:r>
            <a:r>
              <a:rPr lang="en-US" sz="2400" b="1" i="1" noProof="0" dirty="0">
                <a:solidFill>
                  <a:srgbClr val="FF0000"/>
                </a:solidFill>
              </a:rPr>
              <a:t>k</a:t>
            </a:r>
            <a:r>
              <a:rPr lang="en-US" sz="2400" b="1" noProof="0" dirty="0">
                <a:solidFill>
                  <a:srgbClr val="FF0000"/>
                </a:solidFill>
              </a:rPr>
              <a:t>| &lt; |</a:t>
            </a:r>
            <a:r>
              <a:rPr lang="en-US" sz="2400" b="1" i="1" noProof="0" dirty="0">
                <a:solidFill>
                  <a:srgbClr val="FF0000"/>
                </a:solidFill>
              </a:rPr>
              <a:t>m</a:t>
            </a:r>
            <a:r>
              <a:rPr lang="en-US" sz="2400" b="1" noProof="0" dirty="0">
                <a:solidFill>
                  <a:srgbClr val="FF0000"/>
                </a:solidFill>
              </a:rPr>
              <a:t>| </a:t>
            </a:r>
            <a:r>
              <a:rPr lang="en-US" sz="2400" noProof="0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4151612" y="4016455"/>
            <a:ext cx="1790697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000" b="1" noProof="0" dirty="0"/>
              <a:t>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836" y="5730967"/>
            <a:ext cx="7783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>
                <a:solidFill>
                  <a:srgbClr val="0070C0"/>
                </a:solidFill>
              </a:rPr>
              <a:t>Intuition</a:t>
            </a:r>
            <a:r>
              <a:rPr lang="en-US" sz="2400" noProof="0" dirty="0"/>
              <a:t>: if </a:t>
            </a:r>
            <a:r>
              <a:rPr lang="en-US" sz="2400" b="1" noProof="0" dirty="0">
                <a:solidFill>
                  <a:srgbClr val="FF0000"/>
                </a:solidFill>
              </a:rPr>
              <a:t>P = NP </a:t>
            </a:r>
            <a:r>
              <a:rPr lang="en-US" sz="2400" noProof="0" dirty="0"/>
              <a:t>then the adversary can guess the key...</a:t>
            </a:r>
          </a:p>
          <a:p>
            <a:pPr algn="r"/>
            <a:r>
              <a:rPr lang="en-US" sz="2400" noProof="0" dirty="0"/>
              <a:t>(formal proof – exercises)</a:t>
            </a:r>
          </a:p>
        </p:txBody>
      </p:sp>
    </p:spTree>
    <p:extLst>
      <p:ext uri="{BB962C8B-B14F-4D97-AF65-F5344CB8AC3E}">
        <p14:creationId xmlns:p14="http://schemas.microsoft.com/office/powerpoint/2010/main" val="410492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1333488"/>
          </a:xfrm>
        </p:spPr>
        <p:txBody>
          <a:bodyPr>
            <a:normAutofit fontScale="90000"/>
          </a:bodyPr>
          <a:lstStyle/>
          <a:p>
            <a:r>
              <a:rPr lang="en-US" sz="3200" b="1" noProof="0" dirty="0">
                <a:solidFill>
                  <a:schemeClr val="tx1"/>
                </a:solidFill>
              </a:rPr>
              <a:t>Moral</a:t>
            </a:r>
            <a:r>
              <a:rPr lang="en-US" sz="3200" noProof="0" dirty="0">
                <a:solidFill>
                  <a:schemeClr val="tx1"/>
                </a:solidFill>
              </a:rPr>
              <a:t>:</a:t>
            </a:r>
            <a:br>
              <a:rPr lang="en-US" sz="3200" noProof="0" dirty="0">
                <a:solidFill>
                  <a:schemeClr val="tx1"/>
                </a:solidFill>
              </a:rPr>
            </a:br>
            <a:r>
              <a:rPr lang="en-US" sz="3200" noProof="0" dirty="0">
                <a:solidFill>
                  <a:schemeClr val="tx1"/>
                </a:solidFill>
              </a:rPr>
              <a:t>“If </a:t>
            </a:r>
            <a:r>
              <a:rPr lang="en-US" sz="3200" b="1" noProof="0" dirty="0">
                <a:solidFill>
                  <a:srgbClr val="FF0000"/>
                </a:solidFill>
              </a:rPr>
              <a:t>P=NP</a:t>
            </a:r>
            <a:r>
              <a:rPr lang="en-US" sz="3200" noProof="0" dirty="0">
                <a:solidFill>
                  <a:schemeClr val="tx1"/>
                </a:solidFill>
              </a:rPr>
              <a:t>, then the semantically-secure encryption is broken”</a:t>
            </a:r>
            <a:br>
              <a:rPr lang="en-US" sz="4000" noProof="0" dirty="0">
                <a:solidFill>
                  <a:schemeClr val="tx1"/>
                </a:solidFill>
              </a:rPr>
            </a:br>
            <a:endParaRPr lang="en-US" sz="4000" noProof="0" dirty="0">
              <a:solidFill>
                <a:schemeClr val="tx1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28" y="3214686"/>
            <a:ext cx="7498080" cy="4800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>
              <a:lnSpc>
                <a:spcPct val="90000"/>
              </a:lnSpc>
              <a:buFontTx/>
              <a:buNone/>
            </a:pPr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571472" y="1928802"/>
            <a:ext cx="7858180" cy="4801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noProof="0" dirty="0"/>
              <a:t>Is it 100% true?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7620" y="2643182"/>
            <a:ext cx="1862048" cy="4801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r">
              <a:lnSpc>
                <a:spcPct val="90000"/>
              </a:lnSpc>
              <a:buFontTx/>
              <a:buNone/>
            </a:pPr>
            <a:r>
              <a:rPr lang="en-US" sz="2800" noProof="0" dirty="0"/>
              <a:t>Not really...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596" y="4143380"/>
            <a:ext cx="7929618" cy="8679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noProof="0" dirty="0"/>
              <a:t>This is because even if </a:t>
            </a:r>
            <a:r>
              <a:rPr lang="en-US" sz="2800" b="1" noProof="0" dirty="0">
                <a:solidFill>
                  <a:srgbClr val="FF0000"/>
                </a:solidFill>
              </a:rPr>
              <a:t>P=NP</a:t>
            </a:r>
            <a:r>
              <a:rPr lang="en-US" sz="2800" noProof="0" dirty="0"/>
              <a:t> we do not know what are the constants.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3042" y="5357826"/>
            <a:ext cx="6340518" cy="4801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noProof="0" dirty="0"/>
              <a:t>Maybe </a:t>
            </a:r>
            <a:r>
              <a:rPr lang="en-US" sz="2800" b="1" noProof="0" dirty="0">
                <a:solidFill>
                  <a:srgbClr val="FF0000"/>
                </a:solidFill>
              </a:rPr>
              <a:t>P=NP</a:t>
            </a:r>
            <a:r>
              <a:rPr lang="en-US" sz="2800" noProof="0" dirty="0"/>
              <a:t> in a very “inefficient way”...</a:t>
            </a:r>
          </a:p>
        </p:txBody>
      </p:sp>
    </p:spTree>
    <p:extLst>
      <p:ext uri="{BB962C8B-B14F-4D97-AF65-F5344CB8AC3E}">
        <p14:creationId xmlns:p14="http://schemas.microsoft.com/office/powerpoint/2010/main" val="138186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8596" y="357166"/>
            <a:ext cx="8286808" cy="9787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noProof="0" dirty="0"/>
              <a:t>To prove security of a cryptographic scheme we need to show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u="sng" noProof="0" dirty="0"/>
              <a:t>a lower bound on the computational complexity of some problem.</a:t>
            </a:r>
            <a:endParaRPr lang="en-US" sz="2400" noProof="0" dirty="0"/>
          </a:p>
        </p:txBody>
      </p:sp>
      <p:sp>
        <p:nvSpPr>
          <p:cNvPr id="9" name="Rectangle 8"/>
          <p:cNvSpPr/>
          <p:nvPr/>
        </p:nvSpPr>
        <p:spPr>
          <a:xfrm>
            <a:off x="428596" y="1500174"/>
            <a:ext cx="8294299" cy="9787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noProof="0" dirty="0"/>
              <a:t>In the “asymptotic setting” that would mean that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noProof="0" dirty="0"/>
              <a:t>at least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noProof="0" dirty="0"/>
              <a:t>we show that </a:t>
            </a:r>
            <a:r>
              <a:rPr lang="en-US" sz="2400" b="1" noProof="0" dirty="0">
                <a:solidFill>
                  <a:srgbClr val="FF0000"/>
                </a:solidFill>
              </a:rPr>
              <a:t>P </a:t>
            </a:r>
            <a:r>
              <a:rPr lang="en-US" sz="2400" b="1" noProof="0" dirty="0">
                <a:solidFill>
                  <a:srgbClr val="FF0000"/>
                </a:solidFill>
                <a:cs typeface="Arial" charset="0"/>
              </a:rPr>
              <a:t>≠</a:t>
            </a:r>
            <a:r>
              <a:rPr lang="en-US" sz="2400" b="1" noProof="0" dirty="0">
                <a:solidFill>
                  <a:srgbClr val="FF0000"/>
                </a:solidFill>
              </a:rPr>
              <a:t> NP</a:t>
            </a:r>
            <a:r>
              <a:rPr lang="en-US" sz="2400" noProof="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96" y="3541268"/>
            <a:ext cx="8286808" cy="6832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noProof="0" dirty="0"/>
              <a:t>Does the implication in the other direction hold?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noProof="0" dirty="0"/>
              <a:t>(that is: does </a:t>
            </a:r>
            <a:r>
              <a:rPr lang="en-US" sz="2400" b="1" noProof="0" dirty="0">
                <a:solidFill>
                  <a:srgbClr val="FF0000"/>
                </a:solidFill>
              </a:rPr>
              <a:t>P </a:t>
            </a:r>
            <a:r>
              <a:rPr lang="en-US" sz="2400" b="1" noProof="0" dirty="0">
                <a:solidFill>
                  <a:srgbClr val="FF0000"/>
                </a:solidFill>
                <a:cs typeface="Arial" charset="0"/>
              </a:rPr>
              <a:t>≠</a:t>
            </a:r>
            <a:r>
              <a:rPr lang="en-US" sz="2400" b="1" noProof="0" dirty="0">
                <a:solidFill>
                  <a:srgbClr val="FF0000"/>
                </a:solidFill>
              </a:rPr>
              <a:t> NP</a:t>
            </a:r>
            <a:r>
              <a:rPr lang="en-US" sz="2400" noProof="0" dirty="0">
                <a:solidFill>
                  <a:srgbClr val="FF0000"/>
                </a:solidFill>
              </a:rPr>
              <a:t> </a:t>
            </a:r>
            <a:r>
              <a:rPr lang="en-US" sz="2400" noProof="0" dirty="0"/>
              <a:t>imply anything for cryptography?)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596" y="4612838"/>
            <a:ext cx="8286808" cy="3877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noProof="0" dirty="0">
                <a:solidFill>
                  <a:srgbClr val="FF0000"/>
                </a:solidFill>
              </a:rPr>
              <a:t>No!</a:t>
            </a:r>
            <a:r>
              <a:rPr lang="en-US" sz="2400" noProof="0" dirty="0"/>
              <a:t> (at least as far as we know)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8600" y="5486400"/>
            <a:ext cx="16764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noProof="0" dirty="0"/>
              <a:t>Therefore</a:t>
            </a:r>
            <a:r>
              <a:rPr lang="en-US" sz="2400" noProof="0" dirty="0"/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596" y="5929330"/>
            <a:ext cx="8286808" cy="6832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noProof="0" dirty="0"/>
              <a:t>proving that an encryption scheme is secure is probably much harder than proving that </a:t>
            </a:r>
            <a:r>
              <a:rPr lang="en-US" sz="2400" b="1" noProof="0" dirty="0">
                <a:solidFill>
                  <a:srgbClr val="FF0000"/>
                </a:solidFill>
              </a:rPr>
              <a:t>P </a:t>
            </a:r>
            <a:r>
              <a:rPr lang="en-US" sz="2400" b="1" noProof="0" dirty="0">
                <a:solidFill>
                  <a:srgbClr val="FF0000"/>
                </a:solidFill>
                <a:cs typeface="Arial" charset="0"/>
              </a:rPr>
              <a:t>≠ </a:t>
            </a:r>
            <a:r>
              <a:rPr lang="en-US" sz="2400" b="1" noProof="0" dirty="0">
                <a:solidFill>
                  <a:srgbClr val="FF0000"/>
                </a:solidFill>
              </a:rPr>
              <a:t>NP</a:t>
            </a:r>
            <a:r>
              <a:rPr lang="en-US" sz="24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28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14290"/>
            <a:ext cx="7498080" cy="1143000"/>
          </a:xfrm>
        </p:spPr>
        <p:txBody>
          <a:bodyPr/>
          <a:lstStyle/>
          <a:p>
            <a:r>
              <a:rPr lang="en-US" noProof="0" dirty="0"/>
              <a:t>What can we prove?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500174"/>
            <a:ext cx="8229600" cy="1643074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noProof="0" dirty="0"/>
              <a:t>We can prove conditional results.</a:t>
            </a:r>
          </a:p>
          <a:p>
            <a:pPr>
              <a:buFontTx/>
              <a:buNone/>
            </a:pPr>
            <a:endParaRPr lang="en-US" noProof="0" dirty="0"/>
          </a:p>
          <a:p>
            <a:pPr>
              <a:buFontTx/>
              <a:buNone/>
            </a:pPr>
            <a:r>
              <a:rPr lang="en-US" noProof="0" dirty="0"/>
              <a:t>That is, we can show theorems of a type: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786446" y="3786190"/>
            <a:ext cx="2373313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noProof="0" dirty="0">
                <a:solidFill>
                  <a:schemeClr val="tx1"/>
                </a:solidFill>
              </a:rPr>
              <a:t>Suppose that some </a:t>
            </a:r>
            <a:br>
              <a:rPr lang="en-US" sz="2000" b="0" noProof="0" dirty="0">
                <a:solidFill>
                  <a:schemeClr val="tx1"/>
                </a:solidFill>
              </a:rPr>
            </a:br>
            <a:r>
              <a:rPr lang="en-US" sz="2000" b="0" noProof="0" dirty="0">
                <a:solidFill>
                  <a:schemeClr val="tx1"/>
                </a:solidFill>
              </a:rPr>
              <a:t>scheme </a:t>
            </a:r>
            <a:r>
              <a:rPr lang="en-US" sz="2000" b="1" noProof="0" dirty="0">
                <a:solidFill>
                  <a:srgbClr val="FF0000"/>
                </a:solidFill>
              </a:rPr>
              <a:t>Y</a:t>
            </a:r>
            <a:r>
              <a:rPr lang="en-US" sz="2000" b="0" noProof="0" dirty="0">
                <a:solidFill>
                  <a:schemeClr val="tx1"/>
                </a:solidFill>
              </a:rPr>
              <a:t> is secure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219200" y="5715000"/>
            <a:ext cx="2397125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noProof="0" dirty="0">
                <a:solidFill>
                  <a:schemeClr val="tx1"/>
                </a:solidFill>
              </a:rPr>
              <a:t>then scheme </a:t>
            </a:r>
            <a:r>
              <a:rPr lang="en-US" sz="2000" b="1" noProof="0" dirty="0">
                <a:solidFill>
                  <a:srgbClr val="FF0000"/>
                </a:solidFill>
              </a:rPr>
              <a:t>X</a:t>
            </a:r>
            <a:r>
              <a:rPr lang="en-US" sz="2000" b="0" noProof="0" dirty="0">
                <a:solidFill>
                  <a:schemeClr val="tx1"/>
                </a:solidFill>
              </a:rPr>
              <a:t> is secure.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1214414" y="3429000"/>
            <a:ext cx="2373313" cy="13234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noProof="0" dirty="0">
                <a:solidFill>
                  <a:schemeClr val="tx1"/>
                </a:solidFill>
              </a:rPr>
              <a:t>Suppose that some “computational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000" b="0" noProof="0" dirty="0">
                <a:solidFill>
                  <a:schemeClr val="tx1"/>
                </a:solidFill>
              </a:rPr>
              <a:t>assumption </a:t>
            </a:r>
            <a:r>
              <a:rPr lang="en-US" sz="2000" b="1" noProof="0" dirty="0">
                <a:solidFill>
                  <a:srgbClr val="FF0000"/>
                </a:solidFill>
              </a:rPr>
              <a:t>A</a:t>
            </a:r>
            <a:r>
              <a:rPr lang="en-US" sz="2000" noProof="0" dirty="0">
                <a:solidFill>
                  <a:srgbClr val="800000"/>
                </a:solidFill>
              </a:rPr>
              <a:t>”</a:t>
            </a:r>
            <a:r>
              <a:rPr lang="en-US" sz="2000" b="0" noProof="0" dirty="0">
                <a:solidFill>
                  <a:schemeClr val="tx1"/>
                </a:solidFill>
              </a:rPr>
              <a:t> </a:t>
            </a:r>
            <a:br>
              <a:rPr lang="en-US" sz="2000" b="0" noProof="0" dirty="0">
                <a:solidFill>
                  <a:schemeClr val="tx1"/>
                </a:solidFill>
              </a:rPr>
            </a:br>
            <a:r>
              <a:rPr lang="en-US" sz="2000" b="0" noProof="0" dirty="0">
                <a:solidFill>
                  <a:schemeClr val="tx1"/>
                </a:solidFill>
              </a:rPr>
              <a:t>holds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5867400" y="5502269"/>
            <a:ext cx="228600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0" noProof="0" dirty="0">
                <a:solidFill>
                  <a:schemeClr val="tx1"/>
                </a:solidFill>
              </a:rPr>
              <a:t>then scheme</a:t>
            </a:r>
            <a:r>
              <a:rPr lang="en-US" sz="2000" noProof="0" dirty="0">
                <a:solidFill>
                  <a:srgbClr val="800000"/>
                </a:solidFill>
              </a:rPr>
              <a:t> </a:t>
            </a:r>
            <a:r>
              <a:rPr lang="en-US" sz="2000" b="1" noProof="0" dirty="0">
                <a:solidFill>
                  <a:srgbClr val="FF0000"/>
                </a:solidFill>
              </a:rPr>
              <a:t>X</a:t>
            </a:r>
            <a:r>
              <a:rPr lang="en-US" sz="2000" b="0" noProof="0" dirty="0">
                <a:solidFill>
                  <a:schemeClr val="tx1"/>
                </a:solidFill>
              </a:rPr>
              <a:t> is secure.</a:t>
            </a:r>
          </a:p>
        </p:txBody>
      </p:sp>
      <p:sp>
        <p:nvSpPr>
          <p:cNvPr id="57352" name="AutoShape 8"/>
          <p:cNvSpPr>
            <a:spLocks noChangeArrowheads="1"/>
          </p:cNvSpPr>
          <p:nvPr/>
        </p:nvSpPr>
        <p:spPr bwMode="auto">
          <a:xfrm>
            <a:off x="6858016" y="4643446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pic>
        <p:nvPicPr>
          <p:cNvPr id="57354" name="Picture 10" descr="MCj0429827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0" y="762000"/>
            <a:ext cx="1163638" cy="1422400"/>
          </a:xfrm>
          <a:prstGeom prst="rect">
            <a:avLst/>
          </a:prstGeom>
          <a:noFill/>
        </p:spPr>
      </p:pic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2214546" y="4857760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403738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/>
      <p:bldP spid="57349" grpId="0" animBg="1"/>
      <p:bldP spid="57350" grpId="0" animBg="1"/>
      <p:bldP spid="57351" grpId="0" animBg="1"/>
      <p:bldP spid="57352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noProof="0" dirty="0"/>
              <a:t>Research program in cryptography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914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noProof="0" dirty="0"/>
              <a:t>Base the security of cryptographic schemes on a small number of well-specified “computational assumptions”.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noProof="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noProof="0" dirty="0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079812" y="5758030"/>
            <a:ext cx="2397125" cy="6445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then scheme </a:t>
            </a:r>
            <a:r>
              <a:rPr lang="en-US" sz="1800" b="1" noProof="0" dirty="0">
                <a:solidFill>
                  <a:srgbClr val="FF0000"/>
                </a:solidFill>
              </a:rPr>
              <a:t>X</a:t>
            </a:r>
            <a:r>
              <a:rPr lang="en-US" sz="1800" b="0" noProof="0" dirty="0">
                <a:solidFill>
                  <a:schemeClr val="tx1"/>
                </a:solidFill>
              </a:rPr>
              <a:t> is secure.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2079812" y="3700630"/>
            <a:ext cx="2373313" cy="9191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Some “computational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assumption </a:t>
            </a:r>
            <a:r>
              <a:rPr lang="en-US" sz="1800" b="1" noProof="0" dirty="0">
                <a:solidFill>
                  <a:srgbClr val="FF0000"/>
                </a:solidFill>
              </a:rPr>
              <a:t>A</a:t>
            </a:r>
            <a:r>
              <a:rPr lang="en-US" sz="1800" noProof="0" dirty="0">
                <a:solidFill>
                  <a:srgbClr val="800000"/>
                </a:solidFill>
              </a:rPr>
              <a:t>”</a:t>
            </a:r>
            <a:r>
              <a:rPr lang="en-US" sz="1800" b="0" noProof="0" dirty="0">
                <a:solidFill>
                  <a:schemeClr val="tx1"/>
                </a:solidFill>
              </a:rPr>
              <a:t> </a:t>
            </a:r>
            <a:br>
              <a:rPr lang="en-US" sz="1800" b="0" noProof="0" dirty="0">
                <a:solidFill>
                  <a:schemeClr val="tx1"/>
                </a:solidFill>
              </a:rPr>
            </a:br>
            <a:r>
              <a:rPr lang="en-US" sz="1800" b="0" noProof="0" dirty="0">
                <a:solidFill>
                  <a:schemeClr val="tx1"/>
                </a:solidFill>
              </a:rPr>
              <a:t>holds</a:t>
            </a:r>
          </a:p>
        </p:txBody>
      </p:sp>
      <p:sp>
        <p:nvSpPr>
          <p:cNvPr id="70663" name="AutoShape 7"/>
          <p:cNvSpPr>
            <a:spLocks noChangeArrowheads="1"/>
          </p:cNvSpPr>
          <p:nvPr/>
        </p:nvSpPr>
        <p:spPr bwMode="auto">
          <a:xfrm>
            <a:off x="6521661" y="3398211"/>
            <a:ext cx="2079078" cy="1524000"/>
          </a:xfrm>
          <a:prstGeom prst="wedgeRoundRectCallout">
            <a:avLst>
              <a:gd name="adj1" fmla="val -127986"/>
              <a:gd name="adj2" fmla="val 6981"/>
              <a:gd name="adj3" fmla="val 16667"/>
            </a:avLst>
          </a:prstGeom>
          <a:ln>
            <a:headEnd/>
            <a:tailEnd/>
          </a:ln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1"/>
          <a:lstStyle/>
          <a:p>
            <a:pPr marL="609600" indent="-609600" algn="ctr"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in this we</a:t>
            </a:r>
          </a:p>
          <a:p>
            <a:pPr marL="609600" indent="-609600" algn="ctr"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have to</a:t>
            </a:r>
          </a:p>
          <a:p>
            <a:pPr marL="609600" indent="-609600" algn="ctr"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 “believe”</a:t>
            </a:r>
          </a:p>
        </p:txBody>
      </p:sp>
      <p:sp>
        <p:nvSpPr>
          <p:cNvPr id="70664" name="AutoShape 8"/>
          <p:cNvSpPr>
            <a:spLocks noChangeArrowheads="1"/>
          </p:cNvSpPr>
          <p:nvPr/>
        </p:nvSpPr>
        <p:spPr bwMode="auto">
          <a:xfrm>
            <a:off x="6218430" y="5400856"/>
            <a:ext cx="2436097" cy="1295400"/>
          </a:xfrm>
          <a:prstGeom prst="wedgeRoundRectCallout">
            <a:avLst>
              <a:gd name="adj1" fmla="val -116208"/>
              <a:gd name="adj2" fmla="val -34190"/>
              <a:gd name="adj3" fmla="val 16667"/>
            </a:avLst>
          </a:prstGeom>
          <a:ln>
            <a:headEnd/>
            <a:tailEnd/>
          </a:ln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1"/>
          <a:lstStyle/>
          <a:p>
            <a:pPr marL="609600" indent="-609600" algn="ctr">
              <a:buFontTx/>
              <a:buNone/>
            </a:pPr>
            <a:r>
              <a:rPr lang="en-US" sz="2400" noProof="0" dirty="0"/>
              <a:t>the rest is </a:t>
            </a:r>
          </a:p>
          <a:p>
            <a:pPr marL="609600" indent="-609600" algn="ctr">
              <a:buFontTx/>
              <a:buNone/>
            </a:pPr>
            <a:r>
              <a:rPr lang="en-US" sz="2400" noProof="0" dirty="0"/>
              <a:t>provable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665" name="AutoShape 9"/>
              <p:cNvSpPr>
                <a:spLocks noChangeArrowheads="1"/>
              </p:cNvSpPr>
              <p:nvPr/>
            </p:nvSpPr>
            <p:spPr bwMode="auto">
              <a:xfrm>
                <a:off x="1546412" y="1912947"/>
                <a:ext cx="5257800" cy="1482883"/>
              </a:xfrm>
              <a:prstGeom prst="wedgeRoundRectCallout">
                <a:avLst>
                  <a:gd name="adj1" fmla="val 634"/>
                  <a:gd name="adj2" fmla="val 111690"/>
                  <a:gd name="adj3" fmla="val 16667"/>
                </a:avLst>
              </a:prstGeom>
              <a:ln>
                <a:headEnd/>
                <a:tailEnd/>
              </a:ln>
              <a:effectLst>
                <a:innerShdw blurRad="114300">
                  <a:prstClr val="black"/>
                </a:innerShdw>
              </a:effectLst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609600" indent="-609600" algn="ctr">
                  <a:buFontTx/>
                  <a:buNone/>
                </a:pPr>
                <a:r>
                  <a:rPr lang="en-US" sz="2000" u="sng" noProof="0" dirty="0">
                    <a:solidFill>
                      <a:schemeClr val="tx1"/>
                    </a:solidFill>
                  </a:rPr>
                  <a:t>Examples of </a:t>
                </a:r>
                <a:r>
                  <a:rPr lang="en-US" sz="2000" b="1" u="sng" noProof="0" dirty="0">
                    <a:solidFill>
                      <a:srgbClr val="FF0000"/>
                    </a:solidFill>
                  </a:rPr>
                  <a:t>A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609600" indent="-609600" algn="ctr"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is one-way</a:t>
                </a:r>
              </a:p>
              <a:p>
                <a:pPr marL="609600" indent="-609600" algn="ctr">
                  <a:buFontTx/>
                  <a:buNone/>
                </a:pPr>
                <a:r>
                  <a:rPr lang="en-US" sz="2000" b="0" noProof="0" dirty="0">
                    <a:solidFill>
                      <a:schemeClr val="tx1"/>
                    </a:solidFill>
                  </a:rPr>
                  <a:t>“decisional Diffie-Hellman assumption”</a:t>
                </a:r>
              </a:p>
              <a:p>
                <a:pPr marL="609600" indent="-609600" algn="ctr">
                  <a:buFontTx/>
                  <a:buNone/>
                </a:pPr>
                <a:r>
                  <a:rPr lang="en-US" sz="2000" b="0" noProof="0" dirty="0">
                    <a:solidFill>
                      <a:schemeClr val="tx1"/>
                    </a:solidFill>
                  </a:rPr>
                  <a:t>“strong RSA assumption”</a:t>
                </a:r>
              </a:p>
              <a:p>
                <a:pPr marL="609600" indent="-609600" algn="ctr">
                  <a:buFontTx/>
                  <a:buNone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665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6412" y="1912947"/>
                <a:ext cx="5257800" cy="1482883"/>
              </a:xfrm>
              <a:prstGeom prst="wedgeRoundRectCallout">
                <a:avLst>
                  <a:gd name="adj1" fmla="val 634"/>
                  <a:gd name="adj2" fmla="val 111690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  <a:effectLst>
                <a:innerShdw blurRad="114300">
                  <a:prstClr val="black"/>
                </a:innerShd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075158" y="4829352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457200" y="4574542"/>
            <a:ext cx="2281413" cy="1228740"/>
          </a:xfrm>
          <a:prstGeom prst="wedgeRoundRectCallout">
            <a:avLst>
              <a:gd name="adj1" fmla="val 70712"/>
              <a:gd name="adj2" fmla="val 3315"/>
              <a:gd name="adj3" fmla="val 16667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interesting only if this is “far from trivial”</a:t>
            </a:r>
          </a:p>
        </p:txBody>
      </p:sp>
    </p:spTree>
    <p:extLst>
      <p:ext uri="{BB962C8B-B14F-4D97-AF65-F5344CB8AC3E}">
        <p14:creationId xmlns:p14="http://schemas.microsoft.com/office/powerpoint/2010/main" val="87182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nimBg="1"/>
      <p:bldP spid="70661" grpId="0" animBg="1"/>
      <p:bldP spid="70663" grpId="0" animBg="1"/>
      <p:bldP spid="70664" grpId="0" animBg="1"/>
      <p:bldP spid="70665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14290"/>
            <a:ext cx="7498080" cy="1143000"/>
          </a:xfrm>
        </p:spPr>
        <p:txBody>
          <a:bodyPr/>
          <a:lstStyle/>
          <a:p>
            <a:r>
              <a:rPr lang="en-US" noProof="0" dirty="0"/>
              <a:t>Example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214546" y="4419600"/>
            <a:ext cx="4155574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we</a:t>
            </a:r>
            <a:r>
              <a:rPr lang="en-US" sz="2400" b="1" noProof="0" dirty="0">
                <a:solidFill>
                  <a:schemeClr val="tx1"/>
                </a:solidFill>
              </a:rPr>
              <a:t> </a:t>
            </a:r>
            <a:r>
              <a:rPr lang="en-US" sz="2400" noProof="0" dirty="0">
                <a:solidFill>
                  <a:schemeClr val="tx1"/>
                </a:solidFill>
              </a:rPr>
              <a:t>can construct a secure encryption scheme based on </a:t>
            </a:r>
            <a:r>
              <a:rPr lang="en-US" sz="2400" b="1" i="1" noProof="0" dirty="0">
                <a:solidFill>
                  <a:srgbClr val="FF0000"/>
                </a:solidFill>
              </a:rPr>
              <a:t>G</a:t>
            </a:r>
            <a:endParaRPr lang="en-US" sz="2400" i="1" noProof="0" dirty="0">
              <a:solidFill>
                <a:srgbClr val="FF0000"/>
              </a:solidFill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433607" y="2133600"/>
            <a:ext cx="3902109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noProof="0" dirty="0">
                <a:solidFill>
                  <a:schemeClr val="tx1"/>
                </a:solidFill>
              </a:rPr>
              <a:t>Suppose that </a:t>
            </a:r>
            <a:r>
              <a:rPr lang="en-US" sz="2400" b="1" i="1" noProof="0" dirty="0">
                <a:solidFill>
                  <a:srgbClr val="FF0000"/>
                </a:solidFill>
              </a:rPr>
              <a:t>G</a:t>
            </a:r>
            <a:r>
              <a:rPr lang="en-US" sz="2400" noProof="0" dirty="0">
                <a:solidFill>
                  <a:schemeClr val="tx1"/>
                </a:solidFill>
              </a:rPr>
              <a:t> is a “cryptographic pseudorandom generator”</a:t>
            </a: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4214810" y="3500438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79711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natural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is “</a:t>
            </a:r>
            <a:r>
              <a:rPr lang="en-US" b="1" noProof="0" dirty="0">
                <a:solidFill>
                  <a:srgbClr val="0070C0"/>
                </a:solidFill>
              </a:rPr>
              <a:t>the minimal assumption</a:t>
            </a:r>
            <a:r>
              <a:rPr lang="en-US" noProof="0" dirty="0"/>
              <a:t>” needed for cryptography?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u="sng" noProof="0" dirty="0">
                <a:solidFill>
                  <a:srgbClr val="00B050"/>
                </a:solidFill>
              </a:rPr>
              <a:t>Answer</a:t>
            </a:r>
            <a:r>
              <a:rPr lang="en-US" noProof="0" dirty="0"/>
              <a:t>: existence </a:t>
            </a:r>
            <a:r>
              <a:rPr lang="en-US" b="1" noProof="0" dirty="0">
                <a:solidFill>
                  <a:srgbClr val="FF0000"/>
                </a:solidFill>
              </a:rPr>
              <a:t>one-way functions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 algn="r">
              <a:buNone/>
            </a:pPr>
            <a:r>
              <a:rPr lang="en-US" noProof="0" dirty="0"/>
              <a:t>We introduce them now.</a:t>
            </a:r>
          </a:p>
        </p:txBody>
      </p:sp>
    </p:spTree>
    <p:extLst>
      <p:ext uri="{BB962C8B-B14F-4D97-AF65-F5344CB8AC3E}">
        <p14:creationId xmlns:p14="http://schemas.microsoft.com/office/powerpoint/2010/main" val="97423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ight Arrow 12"/>
              <p:cNvSpPr/>
              <p:nvPr/>
            </p:nvSpPr>
            <p:spPr>
              <a:xfrm>
                <a:off x="7000892" y="3000372"/>
                <a:ext cx="1571636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b="1" noProof="0" dirty="0"/>
              </a:p>
            </p:txBody>
          </p:sp>
        </mc:Choice>
        <mc:Fallback>
          <p:sp>
            <p:nvSpPr>
              <p:cNvPr id="13" name="Righ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92" y="3000372"/>
                <a:ext cx="1571636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505092" cy="1143000"/>
          </a:xfrm>
        </p:spPr>
        <p:txBody>
          <a:bodyPr/>
          <a:lstStyle/>
          <a:p>
            <a:r>
              <a:rPr lang="en-US" noProof="0" dirty="0"/>
              <a:t>One-way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505092" cy="1052506"/>
          </a:xfr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rmAutofit fontScale="70000" lnSpcReduction="20000"/>
          </a:bodyPr>
          <a:lstStyle/>
          <a:p>
            <a:pPr>
              <a:buNone/>
            </a:pPr>
            <a:r>
              <a:rPr lang="en-US" noProof="0" dirty="0"/>
              <a:t>A function </a:t>
            </a:r>
          </a:p>
          <a:p>
            <a:pPr algn="ctr">
              <a:buNone/>
            </a:pPr>
            <a:r>
              <a:rPr lang="en-US" b="1" i="1" noProof="0" dirty="0">
                <a:solidFill>
                  <a:srgbClr val="FF0000"/>
                </a:solidFill>
                <a:latin typeface="+mj-lt"/>
              </a:rPr>
              <a:t>f </a:t>
            </a:r>
            <a:r>
              <a:rPr lang="en-US" b="1" noProof="0" dirty="0">
                <a:solidFill>
                  <a:srgbClr val="FF0000"/>
                </a:solidFill>
                <a:latin typeface="+mj-lt"/>
              </a:rPr>
              <a:t>: {0,1}</a:t>
            </a:r>
            <a:r>
              <a:rPr lang="en-US" b="1" baseline="30000" noProof="0" dirty="0">
                <a:solidFill>
                  <a:srgbClr val="FF0000"/>
                </a:solidFill>
                <a:latin typeface="+mj-lt"/>
              </a:rPr>
              <a:t>*</a:t>
            </a:r>
            <a:r>
              <a:rPr lang="en-US" b="1" noProof="0" dirty="0">
                <a:solidFill>
                  <a:srgbClr val="FF0000"/>
                </a:solidFill>
                <a:latin typeface="+mj-lt"/>
              </a:rPr>
              <a:t> → {0,1}</a:t>
            </a:r>
            <a:r>
              <a:rPr lang="en-US" b="1" baseline="30000" noProof="0" dirty="0">
                <a:solidFill>
                  <a:srgbClr val="FF0000"/>
                </a:solidFill>
              </a:rPr>
              <a:t> *</a:t>
            </a:r>
            <a:r>
              <a:rPr lang="en-US" noProof="0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>
              <a:buNone/>
            </a:pPr>
            <a:r>
              <a:rPr lang="en-US" noProof="0" dirty="0"/>
              <a:t>is </a:t>
            </a:r>
            <a:r>
              <a:rPr lang="en-US" b="1" noProof="0" dirty="0">
                <a:solidFill>
                  <a:srgbClr val="0070C0"/>
                </a:solidFill>
              </a:rPr>
              <a:t>one-way</a:t>
            </a:r>
            <a:r>
              <a:rPr lang="en-US" b="1" noProof="0" dirty="0"/>
              <a:t> </a:t>
            </a:r>
            <a:r>
              <a:rPr lang="en-US" noProof="0" dirty="0"/>
              <a:t>if it is: </a:t>
            </a:r>
            <a:r>
              <a:rPr lang="en-US" b="1" noProof="0" dirty="0"/>
              <a:t>(1)</a:t>
            </a:r>
            <a:r>
              <a:rPr lang="en-US" noProof="0" dirty="0"/>
              <a:t> poly-time computable, and </a:t>
            </a:r>
            <a:r>
              <a:rPr lang="en-US" b="1" noProof="0" dirty="0"/>
              <a:t>(2)</a:t>
            </a:r>
            <a:r>
              <a:rPr lang="en-US" noProof="0" dirty="0"/>
              <a:t> “hard to invert it”.</a:t>
            </a:r>
          </a:p>
        </p:txBody>
      </p:sp>
      <p:pic>
        <p:nvPicPr>
          <p:cNvPr id="4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3570" y="3214686"/>
            <a:ext cx="1578375" cy="109061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643174" y="3000372"/>
            <a:ext cx="1214446" cy="150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i="1" noProof="0" dirty="0">
                <a:solidFill>
                  <a:srgbClr val="FF0000"/>
                </a:solidFill>
              </a:rPr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ight Arrow 6"/>
              <p:cNvSpPr/>
              <p:nvPr/>
            </p:nvSpPr>
            <p:spPr>
              <a:xfrm>
                <a:off x="857224" y="2928934"/>
                <a:ext cx="1643074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noProof="0" dirty="0">
                    <a:solidFill>
                      <a:srgbClr val="FF0000"/>
                    </a:solidFill>
                  </a:rPr>
                  <a:t>random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</m:oMath>
                </a14:m>
                <a:r>
                  <a:rPr lang="en-US" sz="1400" b="1" noProof="0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{0,1}</a:t>
                </a:r>
                <a:r>
                  <a:rPr lang="en-US" b="1" baseline="30000" noProof="0" dirty="0">
                    <a:solidFill>
                      <a:srgbClr val="FF0000"/>
                    </a:solidFill>
                  </a:rPr>
                  <a:t>n</a:t>
                </a:r>
                <a:r>
                  <a:rPr lang="en-US" sz="3200" b="1" noProof="0" dirty="0">
                    <a:solidFill>
                      <a:srgbClr val="FF0000"/>
                    </a:solidFill>
                    <a:latin typeface="Arial"/>
                    <a:cs typeface="Arial"/>
                  </a:rPr>
                  <a:t>  </a:t>
                </a:r>
                <a:endParaRPr lang="en-US" sz="1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4" y="2928934"/>
                <a:ext cx="1643074" cy="1500198"/>
              </a:xfrm>
              <a:prstGeom prst="rightArrow">
                <a:avLst>
                  <a:gd name="adj1" fmla="val 61209"/>
                  <a:gd name="adj2" fmla="val 43694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ight Arrow 9"/>
              <p:cNvSpPr/>
              <p:nvPr/>
            </p:nvSpPr>
            <p:spPr>
              <a:xfrm>
                <a:off x="4000496" y="3000372"/>
                <a:ext cx="1571636" cy="1500198"/>
              </a:xfrm>
              <a:prstGeom prst="rightArrow">
                <a:avLst>
                  <a:gd name="adj1" fmla="val 64012"/>
                  <a:gd name="adj2" fmla="val 43694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noProof="0" dirty="0"/>
              </a:p>
            </p:txBody>
          </p:sp>
        </mc:Choice>
        <mc:Fallback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496" y="3000372"/>
                <a:ext cx="1571636" cy="1500198"/>
              </a:xfrm>
              <a:prstGeom prst="rightArrow">
                <a:avLst>
                  <a:gd name="adj1" fmla="val 64012"/>
                  <a:gd name="adj2" fmla="val 43694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ular Callout 11"/>
              <p:cNvSpPr/>
              <p:nvPr/>
            </p:nvSpPr>
            <p:spPr>
              <a:xfrm>
                <a:off x="2428860" y="4929198"/>
                <a:ext cx="6215106" cy="1643074"/>
              </a:xfrm>
              <a:prstGeom prst="wedgeRoundRectCallout">
                <a:avLst>
                  <a:gd name="adj1" fmla="val 27975"/>
                  <a:gd name="adj2" fmla="val -87737"/>
                  <a:gd name="adj3" fmla="val 16667"/>
                </a:avLst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noProof="0" dirty="0"/>
                  <a:t>probability that any poly-time adversary</a:t>
                </a:r>
                <a:br>
                  <a:rPr lang="en-US" sz="2400" noProof="0" dirty="0"/>
                </a:br>
                <a:r>
                  <a:rPr lang="en-US" sz="2400" noProof="0" dirty="0"/>
                  <a:t>outputs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b="1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noProof="0" dirty="0"/>
                  <a:t>such that 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noProof="0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sz="2400" noProof="0" dirty="0"/>
                  <a:t>is negligible in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n</a:t>
                </a:r>
                <a:r>
                  <a:rPr lang="en-US" noProof="0" dirty="0"/>
                  <a:t>.</a:t>
                </a:r>
                <a:endParaRPr lang="en-US" sz="2400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ounded 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860" y="4929198"/>
                <a:ext cx="6215106" cy="1643074"/>
              </a:xfrm>
              <a:prstGeom prst="wedgeRoundRectCallout">
                <a:avLst>
                  <a:gd name="adj1" fmla="val 27975"/>
                  <a:gd name="adj2" fmla="val -87737"/>
                  <a:gd name="adj3" fmla="val 16667"/>
                </a:avLst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06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7" grpId="0" animBg="1"/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real-life analogue: phone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24" y="2143116"/>
            <a:ext cx="4257676" cy="3983047"/>
          </a:xfrm>
        </p:spPr>
        <p:txBody>
          <a:bodyPr/>
          <a:lstStyle/>
          <a:p>
            <a:pPr>
              <a:buNone/>
            </a:pPr>
            <a:r>
              <a:rPr lang="en-US" noProof="0" dirty="0"/>
              <a:t>A function:</a:t>
            </a:r>
          </a:p>
          <a:p>
            <a:pPr>
              <a:buNone/>
            </a:pPr>
            <a:endParaRPr lang="en-US" noProof="0" dirty="0"/>
          </a:p>
          <a:p>
            <a:pPr algn="ctr">
              <a:buNone/>
            </a:pPr>
            <a:r>
              <a:rPr lang="en-US" b="1" noProof="0" dirty="0">
                <a:solidFill>
                  <a:srgbClr val="FF0000"/>
                </a:solidFill>
              </a:rPr>
              <a:t>people </a:t>
            </a:r>
            <a:r>
              <a:rPr lang="en-US" b="1" noProof="0" dirty="0">
                <a:solidFill>
                  <a:srgbClr val="FF0000"/>
                </a:solidFill>
                <a:latin typeface="SFRM1095"/>
              </a:rPr>
              <a:t>→ </a:t>
            </a:r>
            <a:r>
              <a:rPr lang="en-US" b="1" noProof="0" dirty="0">
                <a:solidFill>
                  <a:srgbClr val="FF0000"/>
                </a:solidFill>
              </a:rPr>
              <a:t>numbers</a:t>
            </a:r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r>
              <a:rPr lang="en-US" noProof="0" dirty="0"/>
              <a:t>is “one way”.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000240"/>
            <a:ext cx="3183842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9069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One way functions </a:t>
            </a:r>
            <a:r>
              <a:rPr lang="en-US" b="1" u="sng" noProof="0" dirty="0"/>
              <a:t>do not</a:t>
            </a:r>
            <a:r>
              <a:rPr lang="en-US" b="1" noProof="0" dirty="0"/>
              <a:t> </a:t>
            </a:r>
            <a:r>
              <a:rPr lang="en-US" noProof="0" dirty="0"/>
              <a:t>“hide all the input”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928802"/>
            <a:ext cx="1571636" cy="76675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noProof="0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929058" y="2500306"/>
                <a:ext cx="1857388" cy="1928826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noProof="0" dirty="0"/>
                  <a:t>one-way function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sz="2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058" y="2500306"/>
                <a:ext cx="1857388" cy="1928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13"/>
          <p:cNvGrpSpPr/>
          <p:nvPr/>
        </p:nvGrpSpPr>
        <p:grpSpPr>
          <a:xfrm>
            <a:off x="2173045" y="2428868"/>
            <a:ext cx="1684575" cy="1938992"/>
            <a:chOff x="2173045" y="2428868"/>
            <a:chExt cx="1684575" cy="19389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173045" y="2428868"/>
                  <a:ext cx="827319" cy="1938992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baseline="-2500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400" b="1" baseline="-25000" noProof="0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baseline="-2500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n-US" sz="2400" b="1" baseline="-25000" noProof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3045" y="2428868"/>
                  <a:ext cx="827319" cy="193899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Notched Right Arrow 7"/>
            <p:cNvSpPr/>
            <p:nvPr/>
          </p:nvSpPr>
          <p:spPr>
            <a:xfrm>
              <a:off x="3143240" y="3143248"/>
              <a:ext cx="714380" cy="571504"/>
            </a:xfrm>
            <a:prstGeom prst="notchedRight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57884" y="2428868"/>
            <a:ext cx="1645574" cy="1938992"/>
            <a:chOff x="5857884" y="2428868"/>
            <a:chExt cx="1645574" cy="19389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/>
                <p:cNvSpPr txBox="1"/>
                <p:nvPr/>
              </p:nvSpPr>
              <p:spPr>
                <a:xfrm>
                  <a:off x="6673277" y="2428868"/>
                  <a:ext cx="830181" cy="193899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endParaRPr lang="en-US" sz="2400" b="1" noProof="0" dirty="0">
                    <a:solidFill>
                      <a:srgbClr val="FF0000"/>
                    </a:solidFill>
                  </a:endParaRPr>
                </a:p>
                <a:p>
                  <a:endParaRPr lang="en-US" sz="2400" b="1" noProof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277" y="2428868"/>
                  <a:ext cx="830181" cy="1938992"/>
                </a:xfrm>
                <a:prstGeom prst="rect">
                  <a:avLst/>
                </a:prstGeom>
                <a:blipFill>
                  <a:blip r:embed="rId5"/>
                  <a:stretch>
                    <a:fillRect l="-2985" r="-1493"/>
                  </a:stretch>
                </a:blipFill>
              </p:spPr>
              <p:txBody>
                <a:bodyPr/>
                <a:lstStyle/>
                <a:p>
                  <a:r>
                    <a:rPr lang="pl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Notched Right Arrow 8"/>
            <p:cNvSpPr/>
            <p:nvPr/>
          </p:nvSpPr>
          <p:spPr>
            <a:xfrm>
              <a:off x="5857884" y="3214686"/>
              <a:ext cx="714380" cy="571504"/>
            </a:xfrm>
            <a:prstGeom prst="notchedRight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643702" y="4572008"/>
                <a:ext cx="859756" cy="42862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3200" b="1" baseline="-25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702" y="4572008"/>
                <a:ext cx="859756" cy="428628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173045" y="4572008"/>
                <a:ext cx="827319" cy="50006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3200" b="1" baseline="-25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045" y="4572008"/>
                <a:ext cx="827319" cy="5000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otched Right Arrow 11"/>
          <p:cNvSpPr/>
          <p:nvPr/>
        </p:nvSpPr>
        <p:spPr>
          <a:xfrm>
            <a:off x="3143240" y="4500570"/>
            <a:ext cx="3429024" cy="571504"/>
          </a:xfrm>
          <a:prstGeom prst="notch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93719" y="5703243"/>
                <a:ext cx="8703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:= 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|| </m:t>
                    </m:r>
                    <m:sSub>
                      <m:sSub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is also a one-way function</a:t>
                </a:r>
                <a:endParaRPr lang="en-US" sz="2400" baseline="-25000" noProof="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9" y="5703243"/>
                <a:ext cx="8703408" cy="461665"/>
              </a:xfrm>
              <a:prstGeom prst="rect">
                <a:avLst/>
              </a:prstGeom>
              <a:blipFill>
                <a:blip r:embed="rId8"/>
                <a:stretch>
                  <a:fillRect l="-583" t="-13514" b="-3513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DE46C5-268B-4171-AE98-A243BFBD79AA}"/>
                  </a:ext>
                </a:extLst>
              </p14:cNvPr>
              <p14:cNvContentPartPr/>
              <p14:nvPr/>
            </p14:nvContentPartPr>
            <p14:xfrm>
              <a:off x="8204040" y="1365480"/>
              <a:ext cx="640440" cy="21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DE46C5-268B-4171-AE98-A243BFBD79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94680" y="1356120"/>
                <a:ext cx="659160" cy="3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09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1882-E5E4-49C9-A874-0714804D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One way-functions – main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41F6E-D67F-4195-B258-5FA349474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33863"/>
                <a:ext cx="7886700" cy="400250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They are “</a:t>
                </a:r>
                <a:r>
                  <a:rPr lang="en-US" b="1" noProof="0" dirty="0">
                    <a:solidFill>
                      <a:srgbClr val="002060"/>
                    </a:solidFill>
                  </a:rPr>
                  <a:t>hard to invert</a:t>
                </a:r>
                <a:r>
                  <a:rPr lang="en-US" noProof="0" dirty="0"/>
                  <a:t>” on random input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noProof="0" dirty="0"/>
                  <a:t>, but:</a:t>
                </a:r>
                <a:br>
                  <a:rPr lang="en-US" noProof="0" dirty="0"/>
                </a:br>
                <a:endParaRPr lang="en-US" noProof="0" dirty="0"/>
              </a:p>
              <a:p>
                <a:r>
                  <a:rPr lang="en-US" noProof="0" dirty="0"/>
                  <a:t>“</a:t>
                </a:r>
                <a:r>
                  <a:rPr lang="en-US" b="1" noProof="0" dirty="0">
                    <a:solidFill>
                      <a:srgbClr val="7030A0"/>
                    </a:solidFill>
                  </a:rPr>
                  <a:t>inverting</a:t>
                </a:r>
                <a:r>
                  <a:rPr lang="en-US" noProof="0" dirty="0"/>
                  <a:t>” can also mean finding some other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b="1" noProof="0" dirty="0"/>
                  <a:t> </a:t>
                </a:r>
                <a:r>
                  <a:rPr lang="en-US" sz="2800" noProof="0" dirty="0"/>
                  <a:t>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sz="2800" noProof="0" dirty="0"/>
                  <a:t>it’s ok if </a:t>
                </a:r>
                <a:r>
                  <a:rPr lang="en-US" b="1" noProof="0" dirty="0">
                    <a:solidFill>
                      <a:srgbClr val="00B050"/>
                    </a:solidFill>
                  </a:rPr>
                  <a:t>partial information </a:t>
                </a:r>
                <a:r>
                  <a:rPr lang="en-US" noProof="0" dirty="0"/>
                  <a:t>on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can be computed from </a:t>
                </a:r>
                <a14:m>
                  <m:oMath xmlns:m="http://schemas.openxmlformats.org/officeDocument/2006/math"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noProof="0" dirty="0"/>
                  <a:t>.</a:t>
                </a:r>
              </a:p>
              <a:p>
                <a:endParaRPr lang="en-US" sz="2800" noProof="0" dirty="0"/>
              </a:p>
              <a:p>
                <a:pPr marL="0" indent="0">
                  <a:buNone/>
                </a:pPr>
                <a:r>
                  <a:rPr lang="en-US" sz="2800" noProof="0" dirty="0"/>
                  <a:t>Their existence is the “</a:t>
                </a:r>
                <a:r>
                  <a:rPr lang="en-US" sz="2800" b="1" noProof="0" dirty="0">
                    <a:solidFill>
                      <a:srgbClr val="00B0F0"/>
                    </a:solidFill>
                  </a:rPr>
                  <a:t>minimal assumption</a:t>
                </a:r>
                <a:r>
                  <a:rPr lang="en-US" sz="2800" noProof="0" dirty="0"/>
                  <a:t>” needed for cryptography.</a:t>
                </a:r>
              </a:p>
              <a:p>
                <a:endParaRPr lang="en-US" sz="2800" noProof="0" dirty="0"/>
              </a:p>
              <a:p>
                <a:endParaRPr lang="en-US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41F6E-D67F-4195-B258-5FA349474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33863"/>
                <a:ext cx="7886700" cy="4002505"/>
              </a:xfrm>
              <a:blipFill>
                <a:blip r:embed="rId2"/>
                <a:stretch>
                  <a:fillRect l="-1447" t="-4101" r="-161" b="-31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19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498080" cy="797484"/>
          </a:xfrm>
        </p:spPr>
        <p:txBody>
          <a:bodyPr/>
          <a:lstStyle/>
          <a:p>
            <a:pPr algn="l"/>
            <a:r>
              <a:rPr lang="en-US" noProof="0" dirty="0"/>
              <a:t>Why “minimal assumption?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67103" y="3556270"/>
            <a:ext cx="6786610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noProof="0" dirty="0"/>
              <a:t>“The adversary should not be able to compute </a:t>
            </a:r>
            <a:r>
              <a:rPr lang="en-US" sz="2400" b="1" i="1" noProof="0" dirty="0">
                <a:solidFill>
                  <a:srgbClr val="FF0000"/>
                </a:solidFill>
              </a:rPr>
              <a:t>K</a:t>
            </a:r>
            <a:r>
              <a:rPr lang="en-US" sz="2400" noProof="0" dirty="0"/>
              <a:t>.”</a:t>
            </a:r>
            <a:endParaRPr lang="en-US" sz="2400" b="1" noProof="0" dirty="0"/>
          </a:p>
        </p:txBody>
      </p:sp>
      <p:sp>
        <p:nvSpPr>
          <p:cNvPr id="9" name="Rectangle 8"/>
          <p:cNvSpPr/>
          <p:nvPr/>
        </p:nvSpPr>
        <p:spPr>
          <a:xfrm>
            <a:off x="4096061" y="3232117"/>
            <a:ext cx="100860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b="1" noProof="0" dirty="0"/>
              <a:t>An idea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568958" y="1576366"/>
            <a:ext cx="5286412" cy="1357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pPr marL="609600" marR="0" lvl="0" indent="-609600" algn="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a message)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noProof="0" dirty="0"/>
              <a:t> the key </a:t>
            </a:r>
            <a:r>
              <a:rPr lang="en-US" sz="2400" b="1" i="1" noProof="0" dirty="0">
                <a:solidFill>
                  <a:srgbClr val="FF0000"/>
                </a:solidFill>
              </a:rPr>
              <a:t>K</a:t>
            </a:r>
            <a:r>
              <a:rPr lang="en-US" sz="2400" noProof="0" dirty="0"/>
              <a:t> is chosen uniformly at random</a:t>
            </a:r>
            <a:br>
              <a:rPr lang="en-US" sz="2400" noProof="0" dirty="0"/>
            </a:br>
            <a:endParaRPr lang="en-US" sz="2400" b="1" noProof="0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noProof="0" dirty="0">
                <a:solidFill>
                  <a:schemeClr val="tx1"/>
                </a:solidFill>
              </a:rPr>
              <a:t> </a:t>
            </a:r>
            <a:r>
              <a:rPr lang="en-US" sz="2400" b="1" i="1" noProof="0" dirty="0">
                <a:solidFill>
                  <a:srgbClr val="FF0000"/>
                </a:solidFill>
              </a:rPr>
              <a:t>C</a:t>
            </a:r>
            <a:r>
              <a:rPr lang="en-US" sz="2400" b="1" noProof="0" dirty="0">
                <a:solidFill>
                  <a:srgbClr val="FF0000"/>
                </a:solidFill>
              </a:rPr>
              <a:t> := </a:t>
            </a:r>
            <a:r>
              <a:rPr lang="en-US" sz="2400" b="1" noProof="0" dirty="0" err="1">
                <a:solidFill>
                  <a:srgbClr val="FF0000"/>
                </a:solidFill>
              </a:rPr>
              <a:t>Enc</a:t>
            </a:r>
            <a:r>
              <a:rPr lang="en-US" sz="2400" b="1" i="1" baseline="-25000" noProof="0" dirty="0" err="1">
                <a:solidFill>
                  <a:srgbClr val="FF0000"/>
                </a:solidFill>
              </a:rPr>
              <a:t>K</a:t>
            </a:r>
            <a:r>
              <a:rPr lang="en-US" sz="2400" b="1" noProof="0" dirty="0">
                <a:solidFill>
                  <a:srgbClr val="FF0000"/>
                </a:solidFill>
              </a:rPr>
              <a:t>(</a:t>
            </a:r>
            <a:r>
              <a:rPr lang="en-US" sz="2400" b="1" i="1" noProof="0" dirty="0">
                <a:solidFill>
                  <a:srgbClr val="FF0000"/>
                </a:solidFill>
              </a:rPr>
              <a:t>m</a:t>
            </a:r>
            <a:r>
              <a:rPr lang="en-US" sz="2400" b="1" noProof="0" dirty="0">
                <a:solidFill>
                  <a:srgbClr val="FF0000"/>
                </a:solidFill>
              </a:rPr>
              <a:t>)</a:t>
            </a:r>
            <a:r>
              <a:rPr lang="en-US" sz="2400" b="1" noProof="0" dirty="0">
                <a:solidFill>
                  <a:srgbClr val="993300"/>
                </a:solidFill>
              </a:rPr>
              <a:t> </a:t>
            </a:r>
            <a:r>
              <a:rPr lang="en-US" sz="2400" noProof="0" dirty="0"/>
              <a:t>is given to the adversary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27BB4-B40C-3289-EAB0-EE4BD6DCDA85}"/>
              </a:ext>
            </a:extLst>
          </p:cNvPr>
          <p:cNvSpPr txBox="1"/>
          <p:nvPr/>
        </p:nvSpPr>
        <p:spPr>
          <a:xfrm>
            <a:off x="403273" y="1545304"/>
            <a:ext cx="277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Recall the following idea from the previous lecture: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BD4FF-DC93-2638-A14C-396DCFAA8FD5}"/>
              </a:ext>
            </a:extLst>
          </p:cNvPr>
          <p:cNvSpPr txBox="1"/>
          <p:nvPr/>
        </p:nvSpPr>
        <p:spPr>
          <a:xfrm>
            <a:off x="357158" y="4244425"/>
            <a:ext cx="76950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noProof="0" dirty="0">
                <a:solidFill>
                  <a:srgbClr val="0070C0"/>
                </a:solidFill>
              </a:rPr>
              <a:t>Observation</a:t>
            </a:r>
            <a:r>
              <a:rPr lang="en-US" sz="2400" noProof="0" dirty="0"/>
              <a:t>: it’s not a sufficient condition for security.</a:t>
            </a:r>
          </a:p>
          <a:p>
            <a:endParaRPr lang="en-US" sz="2400" noProof="0" dirty="0"/>
          </a:p>
          <a:p>
            <a:r>
              <a:rPr lang="en-US" sz="2400" noProof="0" dirty="0"/>
              <a:t>But it is </a:t>
            </a:r>
            <a:r>
              <a:rPr lang="en-US" sz="2400" b="1" noProof="0" dirty="0">
                <a:solidFill>
                  <a:srgbClr val="FF0000"/>
                </a:solidFill>
              </a:rPr>
              <a:t>necessary</a:t>
            </a:r>
            <a:r>
              <a:rPr lang="en-US" sz="2400" noProof="0" dirty="0"/>
              <a:t>.</a:t>
            </a:r>
          </a:p>
          <a:p>
            <a:endParaRPr lang="en-US" sz="2400" noProof="0" dirty="0"/>
          </a:p>
          <a:p>
            <a:endParaRPr lang="en-US" sz="2400" noProof="0" dirty="0"/>
          </a:p>
          <a:p>
            <a:r>
              <a:rPr lang="en-US" sz="2400" b="1" u="sng" noProof="0" dirty="0">
                <a:solidFill>
                  <a:srgbClr val="0070C0"/>
                </a:solidFill>
              </a:rPr>
              <a:t>Moral</a:t>
            </a:r>
            <a:r>
              <a:rPr lang="en-US" sz="2400" noProof="0" dirty="0"/>
              <a:t>: </a:t>
            </a:r>
            <a:r>
              <a:rPr lang="en-US" sz="2400" b="1" i="1" noProof="0" dirty="0">
                <a:solidFill>
                  <a:srgbClr val="FF0000"/>
                </a:solidFill>
              </a:rPr>
              <a:t>f</a:t>
            </a:r>
            <a:r>
              <a:rPr lang="en-US" sz="2400" noProof="0" dirty="0"/>
              <a:t> defined as </a:t>
            </a:r>
            <a:r>
              <a:rPr lang="en-US" sz="2400" b="1" i="1" noProof="0" dirty="0">
                <a:solidFill>
                  <a:srgbClr val="FF0000"/>
                </a:solidFill>
              </a:rPr>
              <a:t>f</a:t>
            </a:r>
            <a:r>
              <a:rPr lang="en-US" sz="2400" b="1" noProof="0" dirty="0">
                <a:solidFill>
                  <a:srgbClr val="FF0000"/>
                </a:solidFill>
              </a:rPr>
              <a:t>(</a:t>
            </a:r>
            <a:r>
              <a:rPr lang="en-US" sz="2400" b="1" i="1" noProof="0" dirty="0">
                <a:solidFill>
                  <a:srgbClr val="FF0000"/>
                </a:solidFill>
              </a:rPr>
              <a:t>K</a:t>
            </a:r>
            <a:r>
              <a:rPr lang="en-US" sz="2400" b="1" noProof="0" dirty="0">
                <a:solidFill>
                  <a:srgbClr val="FF0000"/>
                </a:solidFill>
              </a:rPr>
              <a:t>) := </a:t>
            </a:r>
            <a:r>
              <a:rPr lang="en-US" sz="2400" b="1" noProof="0" dirty="0" err="1">
                <a:solidFill>
                  <a:srgbClr val="FF0000"/>
                </a:solidFill>
              </a:rPr>
              <a:t>Enc</a:t>
            </a:r>
            <a:r>
              <a:rPr lang="en-US" sz="2400" b="1" i="1" baseline="-25000" noProof="0" dirty="0" err="1">
                <a:solidFill>
                  <a:srgbClr val="FF0000"/>
                </a:solidFill>
              </a:rPr>
              <a:t>K</a:t>
            </a:r>
            <a:r>
              <a:rPr lang="en-US" sz="2400" b="1" noProof="0" dirty="0">
                <a:solidFill>
                  <a:srgbClr val="FF0000"/>
                </a:solidFill>
              </a:rPr>
              <a:t>(</a:t>
            </a:r>
            <a:r>
              <a:rPr lang="en-US" sz="2400" b="1" i="1" noProof="0" dirty="0">
                <a:solidFill>
                  <a:srgbClr val="FF0000"/>
                </a:solidFill>
              </a:rPr>
              <a:t>m</a:t>
            </a:r>
            <a:r>
              <a:rPr lang="en-US" sz="2400" b="1" noProof="0" dirty="0">
                <a:solidFill>
                  <a:srgbClr val="FF0000"/>
                </a:solidFill>
              </a:rPr>
              <a:t>) </a:t>
            </a:r>
            <a:r>
              <a:rPr lang="en-US" sz="2400" noProof="0" dirty="0"/>
              <a:t>has to be </a:t>
            </a:r>
            <a:r>
              <a:rPr lang="en-US" sz="2400" b="1" noProof="0" dirty="0">
                <a:solidFill>
                  <a:srgbClr val="7030A0"/>
                </a:solidFill>
              </a:rPr>
              <a:t>one-way</a:t>
            </a:r>
            <a:r>
              <a:rPr lang="en-US" sz="2400" noProof="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83C258CB-981B-E2E7-B0B9-23696C752863}"/>
                  </a:ext>
                </a:extLst>
              </p:cNvPr>
              <p:cNvSpPr/>
              <p:nvPr/>
            </p:nvSpPr>
            <p:spPr>
              <a:xfrm>
                <a:off x="3343880" y="4732993"/>
                <a:ext cx="5511489" cy="1208262"/>
              </a:xfrm>
              <a:prstGeom prst="wedgeRectCallout">
                <a:avLst>
                  <a:gd name="adj1" fmla="val -55243"/>
                  <a:gd name="adj2" fmla="val -8294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noProof="0" dirty="0"/>
                  <a:t>if the adversary can compute </a:t>
                </a:r>
                <a:r>
                  <a:rPr lang="en-US" sz="2200" b="1" i="1" noProof="0" dirty="0">
                    <a:solidFill>
                      <a:srgbClr val="FF0000"/>
                    </a:solidFill>
                  </a:rPr>
                  <a:t>K</a:t>
                </a:r>
                <a:r>
                  <a:rPr lang="en-US" sz="2200" noProof="0" dirty="0"/>
                  <a:t> from </a:t>
                </a:r>
                <a:br>
                  <a:rPr lang="en-US" sz="2200" noProof="0" dirty="0"/>
                </a:br>
                <a:r>
                  <a:rPr lang="en-US" sz="2200" b="1" i="1" noProof="0" dirty="0">
                    <a:solidFill>
                      <a:srgbClr val="FF0000"/>
                    </a:solidFill>
                  </a:rPr>
                  <a:t>C</a:t>
                </a:r>
                <a:r>
                  <a:rPr lang="en-US" sz="2200" b="1" noProof="0" dirty="0">
                    <a:solidFill>
                      <a:srgbClr val="FF0000"/>
                    </a:solidFill>
                  </a:rPr>
                  <a:t> := </a:t>
                </a:r>
                <a:r>
                  <a:rPr lang="en-US" sz="2200" b="1" noProof="0" dirty="0" err="1">
                    <a:solidFill>
                      <a:srgbClr val="FF0000"/>
                    </a:solidFill>
                  </a:rPr>
                  <a:t>Enc</a:t>
                </a:r>
                <a:r>
                  <a:rPr lang="en-US" sz="2200" b="1" i="1" baseline="-25000" noProof="0" dirty="0" err="1">
                    <a:solidFill>
                      <a:srgbClr val="FF0000"/>
                    </a:solidFill>
                  </a:rPr>
                  <a:t>K</a:t>
                </a:r>
                <a:r>
                  <a:rPr lang="en-US" sz="2200" b="1" noProof="0" dirty="0">
                    <a:solidFill>
                      <a:srgbClr val="FF0000"/>
                    </a:solidFill>
                  </a:rPr>
                  <a:t>(</a:t>
                </a:r>
                <a:r>
                  <a:rPr lang="en-US" sz="2200" b="1" i="1" noProof="0" dirty="0">
                    <a:solidFill>
                      <a:srgbClr val="FF0000"/>
                    </a:solidFill>
                  </a:rPr>
                  <a:t>m</a:t>
                </a:r>
                <a:r>
                  <a:rPr lang="en-US" sz="2200" b="1" noProof="0" dirty="0">
                    <a:solidFill>
                      <a:srgbClr val="FF0000"/>
                    </a:solidFill>
                  </a:rPr>
                  <a:t>) </a:t>
                </a:r>
                <a:r>
                  <a:rPr lang="en-US" sz="2200" noProof="0" dirty="0"/>
                  <a:t>from some </a:t>
                </a:r>
                <a:r>
                  <a:rPr lang="en-US" sz="2200" b="1" i="1" noProof="0" dirty="0">
                    <a:solidFill>
                      <a:srgbClr val="FF0000"/>
                    </a:solidFill>
                  </a:rPr>
                  <a:t>m </a:t>
                </a:r>
                <a:r>
                  <a:rPr lang="en-US" sz="2200" noProof="0" dirty="0"/>
                  <a:t>(and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d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noProof="0" dirty="0"/>
                  <a:t>) then</a:t>
                </a:r>
                <a:r>
                  <a:rPr lang="en-US" sz="2200" noProof="0" dirty="0">
                    <a:solidFill>
                      <a:schemeClr val="bg1"/>
                    </a:solidFill>
                  </a:rPr>
                  <a:t> </a:t>
                </a:r>
                <a:r>
                  <a:rPr lang="en-US" sz="2200" b="1" noProof="0" dirty="0">
                    <a:solidFill>
                      <a:srgbClr val="FF0000"/>
                    </a:solidFill>
                  </a:rPr>
                  <a:t>(</a:t>
                </a:r>
                <a:r>
                  <a:rPr lang="en-US" sz="2200" b="1" noProof="0" dirty="0" err="1">
                    <a:solidFill>
                      <a:srgbClr val="FF0000"/>
                    </a:solidFill>
                  </a:rPr>
                  <a:t>Enc,Dec</a:t>
                </a:r>
                <a:r>
                  <a:rPr lang="en-US" sz="2200" b="1" noProof="0" dirty="0">
                    <a:solidFill>
                      <a:srgbClr val="FF0000"/>
                    </a:solidFill>
                  </a:rPr>
                  <a:t>) </a:t>
                </a:r>
                <a:r>
                  <a:rPr lang="en-US" sz="2200" noProof="0" dirty="0"/>
                  <a:t>is </a:t>
                </a:r>
                <a:r>
                  <a:rPr lang="en-US" sz="2200" b="1" noProof="0" dirty="0">
                    <a:solidFill>
                      <a:srgbClr val="FF0000"/>
                    </a:solidFill>
                  </a:rPr>
                  <a:t>not</a:t>
                </a:r>
                <a:r>
                  <a:rPr lang="en-US" sz="2200" noProof="0" dirty="0"/>
                  <a:t> secure  </a:t>
                </a:r>
              </a:p>
            </p:txBody>
          </p:sp>
        </mc:Choice>
        <mc:Fallback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83C258CB-981B-E2E7-B0B9-23696C752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880" y="4732993"/>
                <a:ext cx="5511489" cy="1208262"/>
              </a:xfrm>
              <a:prstGeom prst="wedgeRectCallout">
                <a:avLst>
                  <a:gd name="adj1" fmla="val -55243"/>
                  <a:gd name="adj2" fmla="val -8294"/>
                </a:avLst>
              </a:prstGeom>
              <a:blipFill>
                <a:blip r:embed="rId3"/>
                <a:stretch>
                  <a:fillRect r="-1092" b="-412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7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71414"/>
            <a:ext cx="8647968" cy="1143000"/>
          </a:xfrm>
        </p:spPr>
        <p:txBody>
          <a:bodyPr/>
          <a:lstStyle/>
          <a:p>
            <a:r>
              <a:rPr lang="en-US" noProof="0" dirty="0"/>
              <a:t>One-way functions more formally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64" y="1357298"/>
            <a:ext cx="38479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noProof="0" dirty="0"/>
              <a:t>experiment </a:t>
            </a:r>
            <a:r>
              <a:rPr lang="en-US" b="1" noProof="0" dirty="0"/>
              <a:t>(machine </a:t>
            </a:r>
            <a:r>
              <a:rPr lang="en-US" b="1" i="1" noProof="0" dirty="0">
                <a:solidFill>
                  <a:srgbClr val="FF0000"/>
                </a:solidFill>
              </a:rPr>
              <a:t>M</a:t>
            </a:r>
            <a:r>
              <a:rPr lang="en-US" b="1" noProof="0" dirty="0"/>
              <a:t>, function </a:t>
            </a:r>
            <a:r>
              <a:rPr lang="en-US" b="1" i="1" noProof="0" dirty="0">
                <a:solidFill>
                  <a:srgbClr val="FF0000"/>
                </a:solidFill>
              </a:rPr>
              <a:t>f</a:t>
            </a:r>
            <a:r>
              <a:rPr lang="en-US" b="1" noProof="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000232" y="1714488"/>
                <a:ext cx="5572164" cy="162127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noProof="0" dirty="0"/>
                  <a:t>pick</a:t>
                </a:r>
                <a:r>
                  <a:rPr lang="en-US" sz="2400" b="1" noProof="0" dirty="0">
                    <a:solidFill>
                      <a:srgbClr val="990000"/>
                    </a:solidFill>
                  </a:rPr>
                  <a:t> </a:t>
                </a:r>
                <a:r>
                  <a:rPr lang="en-US" sz="2400" noProof="0" dirty="0">
                    <a:cs typeface="Arial"/>
                  </a:rPr>
                  <a:t>a random element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sz="2400" b="1" noProof="0" dirty="0">
                  <a:solidFill>
                    <a:srgbClr val="C00000"/>
                  </a:solidFill>
                </a:endParaRPr>
              </a:p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noProof="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noProof="0" dirty="0"/>
                  <a:t>,</a:t>
                </a:r>
                <a:endParaRPr lang="en-US" sz="2400" b="1" noProof="0" dirty="0">
                  <a:solidFill>
                    <a:srgbClr val="990000"/>
                  </a:solidFill>
                </a:endParaRPr>
              </a:p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noProof="0" dirty="0"/>
                  <a:t>let</a:t>
                </a:r>
                <a:r>
                  <a:rPr lang="en-US" sz="2400" b="1" noProof="0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noProof="0" dirty="0">
                    <a:solidFill>
                      <a:srgbClr val="990000"/>
                    </a:solidFill>
                  </a:rPr>
                  <a:t> </a:t>
                </a:r>
                <a:r>
                  <a:rPr lang="en-US" sz="2400" noProof="0" dirty="0"/>
                  <a:t>be</a:t>
                </a:r>
                <a:r>
                  <a:rPr lang="en-US" sz="2400" b="1" noProof="0" dirty="0">
                    <a:solidFill>
                      <a:srgbClr val="990000"/>
                    </a:solidFill>
                  </a:rPr>
                  <a:t> </a:t>
                </a:r>
                <a:r>
                  <a:rPr lang="en-US" sz="2400" noProof="0" dirty="0"/>
                  <a:t>the output of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b="1" noProof="0" dirty="0">
                    <a:solidFill>
                      <a:srgbClr val="990000"/>
                    </a:solidFill>
                  </a:rPr>
                  <a:t> </a:t>
                </a:r>
                <a:r>
                  <a:rPr lang="en-US" sz="2400" noProof="0" dirty="0"/>
                  <a:t>on</a:t>
                </a:r>
                <a:r>
                  <a:rPr lang="en-US" sz="2400" b="1" noProof="0" dirty="0">
                    <a:solidFill>
                      <a:srgbClr val="990000"/>
                    </a:solidFill>
                  </a:rPr>
                  <a:t>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y</a:t>
                </a:r>
              </a:p>
              <a:p>
                <a:pPr marL="457200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noProof="0" dirty="0"/>
                  <a:t>we say that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M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won</a:t>
                </a:r>
                <a:r>
                  <a:rPr lang="en-US" sz="2400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noProof="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noProof="0" dirty="0"/>
                  <a:t>.</a:t>
                </a:r>
                <a:endParaRPr lang="en-US" sz="2400" b="1" noProof="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32" y="1714488"/>
                <a:ext cx="5572164" cy="1621278"/>
              </a:xfrm>
              <a:prstGeom prst="rect">
                <a:avLst/>
              </a:prstGeom>
              <a:blipFill>
                <a:blip r:embed="rId3"/>
                <a:stretch>
                  <a:fillRect l="-1357" t="-2308"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46245" y="3692956"/>
                <a:ext cx="810608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noProof="0" dirty="0"/>
                  <a:t>We will say that a poly-time computable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noProof="0" dirty="0"/>
                  <a:t> is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one-way</a:t>
                </a:r>
                <a:r>
                  <a:rPr lang="en-US" sz="2400" b="1" noProof="0" dirty="0"/>
                  <a:t> </a:t>
                </a:r>
                <a:r>
                  <a:rPr lang="en-US" sz="2400" noProof="0" dirty="0"/>
                  <a:t>if  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5" y="3692956"/>
                <a:ext cx="8106084" cy="830997"/>
              </a:xfrm>
              <a:prstGeom prst="rect">
                <a:avLst/>
              </a:prstGeom>
              <a:blipFill>
                <a:blip r:embed="rId4"/>
                <a:stretch>
                  <a:fillRect l="-1252" t="-4478" b="-1492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88141" y="5411353"/>
            <a:ext cx="272914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2400" b="1" noProof="0" dirty="0">
                <a:solidFill>
                  <a:srgbClr val="FF0000"/>
                </a:solidFill>
              </a:rPr>
              <a:t>polynomial-time</a:t>
            </a:r>
          </a:p>
          <a:p>
            <a:pPr lvl="0" algn="ctr">
              <a:spcBef>
                <a:spcPct val="0"/>
              </a:spcBef>
            </a:pPr>
            <a:r>
              <a:rPr lang="en-US" sz="2400" b="1" noProof="0" dirty="0">
                <a:solidFill>
                  <a:prstClr val="black"/>
                </a:solidFill>
              </a:rPr>
              <a:t>Turing Machine</a:t>
            </a:r>
            <a:r>
              <a:rPr lang="en-US" sz="2400" b="1" noProof="0" dirty="0">
                <a:solidFill>
                  <a:srgbClr val="990000"/>
                </a:solidFill>
              </a:rPr>
              <a:t> </a:t>
            </a:r>
            <a:r>
              <a:rPr lang="en-US" sz="2400" b="1" i="1" noProof="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2011" y="4768411"/>
            <a:ext cx="34462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FF0000"/>
                </a:solidFill>
              </a:rPr>
              <a:t>P (</a:t>
            </a:r>
            <a:r>
              <a:rPr lang="en-US" sz="2400" b="1" i="1" noProof="0" dirty="0">
                <a:solidFill>
                  <a:srgbClr val="FF0000"/>
                </a:solidFill>
              </a:rPr>
              <a:t>M</a:t>
            </a:r>
            <a:r>
              <a:rPr lang="en-US" sz="2400" b="1" noProof="0" dirty="0">
                <a:solidFill>
                  <a:srgbClr val="990000"/>
                </a:solidFill>
              </a:rPr>
              <a:t> </a:t>
            </a:r>
            <a:r>
              <a:rPr lang="en-US" sz="2400" b="1" noProof="0" dirty="0"/>
              <a:t>wins</a:t>
            </a:r>
            <a:r>
              <a:rPr lang="en-US" sz="2400" b="1" noProof="0" dirty="0">
                <a:solidFill>
                  <a:srgbClr val="FF0000"/>
                </a:solidFill>
              </a:rPr>
              <a:t>)</a:t>
            </a:r>
            <a:r>
              <a:rPr lang="en-US" sz="2400" b="1" noProof="0" dirty="0">
                <a:solidFill>
                  <a:srgbClr val="990000"/>
                </a:solidFill>
              </a:rPr>
              <a:t> </a:t>
            </a:r>
            <a:r>
              <a:rPr lang="en-US" sz="2400" b="1" noProof="0" dirty="0"/>
              <a:t>is </a:t>
            </a:r>
            <a:r>
              <a:rPr lang="en-US" sz="2400" b="1" noProof="0" dirty="0">
                <a:solidFill>
                  <a:srgbClr val="0070C0"/>
                </a:solidFill>
              </a:rPr>
              <a:t>negligible</a:t>
            </a:r>
            <a:endParaRPr lang="en-US" sz="2400" noProof="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517839" y="4244378"/>
                <a:ext cx="1141658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8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71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839" y="4244378"/>
                <a:ext cx="1141658" cy="1446550"/>
              </a:xfrm>
              <a:prstGeom prst="rect">
                <a:avLst/>
              </a:prstGeom>
              <a:blipFill>
                <a:blip r:embed="rId5"/>
                <a:stretch>
                  <a:fillRect l="-12222" r="-12222" b="-260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28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 of a (candidate for) a one-way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1643050"/>
                <a:ext cx="8647968" cy="2643206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noProof="0" dirty="0"/>
                  <a:t>If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P=NP</a:t>
                </a:r>
                <a:r>
                  <a:rPr lang="en-US" sz="2400" noProof="0" dirty="0"/>
                  <a:t> then </a:t>
                </a:r>
                <a:r>
                  <a:rPr lang="en-US" sz="2400" b="1" noProof="0" dirty="0"/>
                  <a:t>one-way functions don’t exist</a:t>
                </a:r>
                <a:r>
                  <a:rPr lang="en-US" sz="2400" noProof="0" dirty="0"/>
                  <a:t>.</a:t>
                </a:r>
              </a:p>
              <a:p>
                <a:pPr algn="r">
                  <a:buNone/>
                </a:pPr>
                <a:r>
                  <a:rPr lang="en-US" sz="2400" noProof="0" dirty="0"/>
                  <a:t>Therefore currently no function can be proven to be one-way.</a:t>
                </a:r>
              </a:p>
              <a:p>
                <a:pPr>
                  <a:buNone/>
                </a:pPr>
                <a:r>
                  <a:rPr lang="en-US" sz="2400" noProof="0" dirty="0"/>
                  <a:t>But there exist candidates. </a:t>
                </a:r>
              </a:p>
              <a:p>
                <a:pPr algn="ctr">
                  <a:buNone/>
                </a:pPr>
                <a:r>
                  <a:rPr lang="en-US" sz="2400" b="1" u="sng" noProof="0" dirty="0">
                    <a:solidFill>
                      <a:srgbClr val="7030A0"/>
                    </a:solidFill>
                  </a:rPr>
                  <a:t>Example</a:t>
                </a:r>
                <a:r>
                  <a:rPr lang="en-US" sz="2400" noProof="0" dirty="0"/>
                  <a:t>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b="0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2400" noProof="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noProof="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0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are primes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noProof="0" dirty="0"/>
                  <a:t>.</a:t>
                </a:r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sz="2400" noProof="0" dirty="0"/>
              </a:p>
              <a:p>
                <a:pPr>
                  <a:buNone/>
                </a:pPr>
                <a:endParaRPr lang="en-US" sz="2400" noProof="0" dirty="0"/>
              </a:p>
              <a:p>
                <a:pPr>
                  <a:buNone/>
                </a:pPr>
                <a:endParaRPr lang="en-US" sz="2400" noProof="0" dirty="0"/>
              </a:p>
              <a:p>
                <a:pPr>
                  <a:buNone/>
                </a:pPr>
                <a:endParaRPr lang="en-US" sz="2400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1643050"/>
                <a:ext cx="8647968" cy="2643206"/>
              </a:xfrm>
              <a:blipFill>
                <a:blip r:embed="rId3"/>
                <a:stretch>
                  <a:fillRect l="-1171" t="-3349" r="-87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2214546" y="4572008"/>
            <a:ext cx="5214974" cy="2071702"/>
          </a:xfrm>
          <a:prstGeom prst="wedgeRoundRectCallout">
            <a:avLst>
              <a:gd name="adj1" fmla="val -32525"/>
              <a:gd name="adj2" fmla="val -79045"/>
              <a:gd name="adj3" fmla="val 16667"/>
            </a:avLst>
          </a:prstGeo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noProof="0" dirty="0"/>
              <a:t>this function is defined on </a:t>
            </a:r>
          </a:p>
          <a:p>
            <a:pPr algn="ctr">
              <a:buNone/>
            </a:pPr>
            <a:r>
              <a:rPr lang="en-US" sz="2400" b="1" noProof="0" dirty="0">
                <a:solidFill>
                  <a:srgbClr val="FF0000"/>
                </a:solidFill>
              </a:rPr>
              <a:t>primes × primes</a:t>
            </a:r>
            <a:r>
              <a:rPr lang="en-US" sz="2400" noProof="0" dirty="0"/>
              <a:t>,</a:t>
            </a:r>
          </a:p>
          <a:p>
            <a:pPr algn="ctr">
              <a:buNone/>
            </a:pPr>
            <a:r>
              <a:rPr lang="en-US" sz="2400" noProof="0" dirty="0"/>
              <a:t>not on </a:t>
            </a:r>
          </a:p>
          <a:p>
            <a:pPr algn="ctr">
              <a:buNone/>
            </a:pPr>
            <a:r>
              <a:rPr lang="en-US" sz="2400" b="1" noProof="0" dirty="0">
                <a:solidFill>
                  <a:srgbClr val="FF0000"/>
                </a:solidFill>
              </a:rPr>
              <a:t>{0,1}</a:t>
            </a:r>
            <a:r>
              <a:rPr lang="en-US" sz="2400" b="1" baseline="30000" noProof="0" dirty="0">
                <a:solidFill>
                  <a:srgbClr val="FF0000"/>
                </a:solidFill>
              </a:rPr>
              <a:t>*</a:t>
            </a:r>
            <a:endParaRPr lang="en-US" sz="2400" b="1" noProof="0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sz="2400" noProof="0" dirty="0"/>
              <a:t>but it’s just a technicality</a:t>
            </a:r>
          </a:p>
        </p:txBody>
      </p:sp>
    </p:spTree>
    <p:extLst>
      <p:ext uri="{BB962C8B-B14F-4D97-AF65-F5344CB8AC3E}">
        <p14:creationId xmlns:p14="http://schemas.microsoft.com/office/powerpoint/2010/main" val="285049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496785" y="251633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380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Our tool: </a:t>
            </a:r>
            <a:r>
              <a:rPr lang="en-US" noProof="0" dirty="0" err="1"/>
              <a:t>pseudorandomness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7591"/>
            <a:ext cx="8067513" cy="10167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noProof="0" dirty="0"/>
              <a:t>An important topic on its own.</a:t>
            </a:r>
          </a:p>
          <a:p>
            <a:pPr marL="0" indent="0">
              <a:buNone/>
            </a:pPr>
            <a:r>
              <a:rPr lang="en-US" noProof="0" dirty="0"/>
              <a:t>Applications outside of cryptography (e.g.: </a:t>
            </a:r>
            <a:r>
              <a:rPr lang="en-US" b="1" noProof="0" dirty="0" err="1">
                <a:solidFill>
                  <a:srgbClr val="FF0000"/>
                </a:solidFill>
              </a:rPr>
              <a:t>derandomization</a:t>
            </a:r>
            <a:r>
              <a:rPr lang="en-US" noProof="0" dirty="0"/>
              <a:t> of randomized algorithms).</a:t>
            </a:r>
          </a:p>
        </p:txBody>
      </p:sp>
      <p:pic>
        <p:nvPicPr>
          <p:cNvPr id="1028" name="Picture 4" descr="Modern Cryptography, Probabilistic Proofs and Pseudorandomness (Algorithms  and Combinatorics) (Algorithms and Combinatorics, 17): Goldreich, Oded:  9783540647669: Amazon.com: Book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71"/>
          <a:stretch/>
        </p:blipFill>
        <p:spPr bwMode="auto">
          <a:xfrm>
            <a:off x="3500331" y="3191995"/>
            <a:ext cx="2143338" cy="326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up-assets.imgix.net/onix/images/9780691025469.jpg?w=410&amp;auto=form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249" y="3176497"/>
            <a:ext cx="2184666" cy="327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m.media-amazon.com/images/I/31gZDyWgEuL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4" r="2777" b="4409"/>
          <a:stretch/>
        </p:blipFill>
        <p:spPr bwMode="auto">
          <a:xfrm>
            <a:off x="892120" y="3176498"/>
            <a:ext cx="2128434" cy="32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07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13" y="60412"/>
            <a:ext cx="7886700" cy="1325563"/>
          </a:xfrm>
        </p:spPr>
        <p:txBody>
          <a:bodyPr/>
          <a:lstStyle/>
          <a:p>
            <a:r>
              <a:rPr lang="en-US" noProof="0" dirty="0" err="1"/>
              <a:t>Intution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13" y="1385975"/>
            <a:ext cx="7886700" cy="16304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noProof="0" dirty="0"/>
              <a:t>Randomness depends on the “</a:t>
            </a:r>
            <a:r>
              <a:rPr lang="en-US" b="1" noProof="0" dirty="0">
                <a:solidFill>
                  <a:srgbClr val="0070C0"/>
                </a:solidFill>
              </a:rPr>
              <a:t>power of an observer</a:t>
            </a:r>
            <a:r>
              <a:rPr lang="en-US" noProof="0" dirty="0"/>
              <a:t>”.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Think of a </a:t>
            </a:r>
            <a:r>
              <a:rPr lang="en-US" b="1" noProof="0" dirty="0"/>
              <a:t>coin-toss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2050" name="Picture 2" descr="https://cdn-icons-png.flaticon.com/512/8855/885504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434" y="4289718"/>
            <a:ext cx="1830657" cy="183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cdn-icons-png.flaticon.com/512/907/9072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35914" y="4289718"/>
            <a:ext cx="1907464" cy="201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ular Callout 3"/>
          <p:cNvSpPr/>
          <p:nvPr/>
        </p:nvSpPr>
        <p:spPr>
          <a:xfrm>
            <a:off x="4303363" y="2358987"/>
            <a:ext cx="4113831" cy="1725477"/>
          </a:xfrm>
          <a:prstGeom prst="wedgeRectCallout">
            <a:avLst>
              <a:gd name="adj1" fmla="val -15935"/>
              <a:gd name="adj2" fmla="val 6818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An observer that can record and process coin behavior </a:t>
            </a:r>
            <a:r>
              <a:rPr lang="en-US" sz="2400" b="1" noProof="0" dirty="0">
                <a:solidFill>
                  <a:srgbClr val="FF0000"/>
                </a:solidFill>
              </a:rPr>
              <a:t>can predict the outcome</a:t>
            </a:r>
          </a:p>
        </p:txBody>
      </p:sp>
    </p:spTree>
    <p:extLst>
      <p:ext uri="{BB962C8B-B14F-4D97-AF65-F5344CB8AC3E}">
        <p14:creationId xmlns:p14="http://schemas.microsoft.com/office/powerpoint/2010/main" val="13982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9" y="-50855"/>
            <a:ext cx="8229600" cy="1143000"/>
          </a:xfrm>
        </p:spPr>
        <p:txBody>
          <a:bodyPr/>
          <a:lstStyle/>
          <a:p>
            <a:r>
              <a:rPr lang="en-US" sz="3200" noProof="0" dirty="0"/>
              <a:t>Pseudorandom generators</a:t>
            </a:r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5579481" y="1490658"/>
            <a:ext cx="4572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7027281" y="1033458"/>
            <a:ext cx="609600" cy="1752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G(s</a:t>
            </a:r>
            <a:r>
              <a:rPr lang="en-US" b="1" noProof="0" dirty="0">
                <a:solidFill>
                  <a:srgbClr val="FF0000"/>
                </a:solidFill>
              </a:rPr>
              <a:t>)</a:t>
            </a:r>
            <a:endParaRPr lang="en-US" sz="1800" b="1" i="1" noProof="0" dirty="0">
              <a:solidFill>
                <a:srgbClr val="FF0000"/>
              </a:solidFill>
            </a:endParaRPr>
          </a:p>
        </p:txBody>
      </p:sp>
      <p:sp>
        <p:nvSpPr>
          <p:cNvPr id="58379" name="AutoShape 11"/>
          <p:cNvSpPr>
            <a:spLocks noChangeArrowheads="1"/>
          </p:cNvSpPr>
          <p:nvPr/>
        </p:nvSpPr>
        <p:spPr bwMode="auto">
          <a:xfrm rot="5400000">
            <a:off x="5655681" y="149065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i="1" noProof="0" dirty="0">
              <a:solidFill>
                <a:srgbClr val="FF0000"/>
              </a:solidFill>
            </a:endParaRPr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5274681" y="149065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 b="1" i="1" noProof="0" dirty="0">
              <a:solidFill>
                <a:srgbClr val="FF0000"/>
              </a:solidFill>
            </a:endParaRP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5122281" y="14906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i="1" noProof="0" dirty="0">
              <a:solidFill>
                <a:srgbClr val="FF0000"/>
              </a:solidFill>
            </a:endParaRPr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5122281" y="23288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i="1" noProof="0" dirty="0">
              <a:solidFill>
                <a:srgbClr val="FF0000"/>
              </a:solidFill>
            </a:endParaRPr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>
            <a:off x="8017881" y="1033458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 i="1" noProof="0" dirty="0">
              <a:solidFill>
                <a:srgbClr val="FF0000"/>
              </a:solidFill>
            </a:endParaRP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7865481" y="10334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i="1" noProof="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7865481" y="278605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i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8122669" y="1728774"/>
                <a:ext cx="7521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669" y="1728774"/>
                <a:ext cx="752129" cy="400110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836521" y="172877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20" y="3643314"/>
            <a:ext cx="8572560" cy="286232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rgbClr val="FF0000"/>
                </a:solidFill>
                <a:latin typeface="Mistral" pitchFamily="66" charset="0"/>
              </a:rPr>
              <a:t>l</a:t>
            </a:r>
            <a:r>
              <a:rPr lang="en-US" sz="2000" b="1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– polynomial such that always </a:t>
            </a:r>
            <a:r>
              <a:rPr lang="en-US" sz="2000" b="1" noProof="0" dirty="0">
                <a:solidFill>
                  <a:srgbClr val="FF0000"/>
                </a:solidFill>
                <a:latin typeface="Mistral" pitchFamily="66" charset="0"/>
              </a:rPr>
              <a:t>l</a:t>
            </a:r>
            <a:r>
              <a:rPr lang="en-US" sz="2000" b="1" noProof="0" dirty="0">
                <a:solidFill>
                  <a:srgbClr val="FF0000"/>
                </a:solidFill>
              </a:rPr>
              <a:t>(</a:t>
            </a:r>
            <a:r>
              <a:rPr lang="en-US" sz="2000" b="1" i="1" noProof="0" dirty="0">
                <a:solidFill>
                  <a:srgbClr val="FF0000"/>
                </a:solidFill>
              </a:rPr>
              <a:t>n</a:t>
            </a:r>
            <a:r>
              <a:rPr lang="en-US" sz="2000" b="1" noProof="0" dirty="0">
                <a:solidFill>
                  <a:srgbClr val="FF0000"/>
                </a:solidFill>
              </a:rPr>
              <a:t>) &gt; </a:t>
            </a:r>
            <a:r>
              <a:rPr lang="en-US" sz="2000" b="1" i="1" noProof="0" dirty="0">
                <a:solidFill>
                  <a:srgbClr val="FF0000"/>
                </a:solidFill>
              </a:rPr>
              <a:t>n</a:t>
            </a:r>
          </a:p>
          <a:p>
            <a:r>
              <a:rPr lang="en-US" sz="2000" noProof="0" dirty="0"/>
              <a:t>An algorithm </a:t>
            </a:r>
            <a:r>
              <a:rPr lang="en-US" sz="2000" b="1" i="1" noProof="0" dirty="0">
                <a:solidFill>
                  <a:srgbClr val="FF0000"/>
                </a:solidFill>
              </a:rPr>
              <a:t>G </a:t>
            </a:r>
            <a:r>
              <a:rPr lang="en-US" sz="2000" b="1" noProof="0" dirty="0">
                <a:solidFill>
                  <a:srgbClr val="FF0000"/>
                </a:solidFill>
              </a:rPr>
              <a:t>: {0,1}</a:t>
            </a:r>
            <a:r>
              <a:rPr lang="en-US" sz="2000" b="1" baseline="30000" noProof="0" dirty="0">
                <a:solidFill>
                  <a:srgbClr val="FF0000"/>
                </a:solidFill>
              </a:rPr>
              <a:t>*</a:t>
            </a:r>
            <a:r>
              <a:rPr lang="en-US" sz="2000" b="1" noProof="0" dirty="0">
                <a:solidFill>
                  <a:srgbClr val="FF0000"/>
                </a:solidFill>
              </a:rPr>
              <a:t> </a:t>
            </a:r>
            <a:r>
              <a:rPr lang="en-US" sz="2000" b="1" noProof="0" dirty="0">
                <a:solidFill>
                  <a:srgbClr val="FF0000"/>
                </a:solidFill>
                <a:latin typeface="SFRM1095"/>
              </a:rPr>
              <a:t>→ </a:t>
            </a:r>
            <a:r>
              <a:rPr lang="en-US" sz="2000" b="1" noProof="0" dirty="0">
                <a:solidFill>
                  <a:srgbClr val="FF0000"/>
                </a:solidFill>
              </a:rPr>
              <a:t>{0,1}</a:t>
            </a:r>
            <a:r>
              <a:rPr lang="en-US" sz="2000" b="1" baseline="30000" noProof="0" dirty="0">
                <a:solidFill>
                  <a:srgbClr val="FF0000"/>
                </a:solidFill>
              </a:rPr>
              <a:t>*</a:t>
            </a:r>
            <a:r>
              <a:rPr lang="en-US" sz="2000" b="1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is called a </a:t>
            </a:r>
            <a:r>
              <a:rPr lang="en-US" sz="2000" b="1" noProof="0" dirty="0">
                <a:solidFill>
                  <a:srgbClr val="002060"/>
                </a:solidFill>
              </a:rPr>
              <a:t>pseudorandom generator (PRG) </a:t>
            </a:r>
            <a:r>
              <a:rPr lang="en-US" sz="2000" noProof="0" dirty="0"/>
              <a:t>if </a:t>
            </a:r>
          </a:p>
          <a:p>
            <a:pPr algn="ctr"/>
            <a:r>
              <a:rPr lang="en-US" sz="2000" noProof="0" dirty="0"/>
              <a:t>for every </a:t>
            </a:r>
            <a:r>
              <a:rPr lang="en-US" sz="2000" b="1" i="1" noProof="0" dirty="0">
                <a:solidFill>
                  <a:srgbClr val="FF0000"/>
                </a:solidFill>
              </a:rPr>
              <a:t>n</a:t>
            </a:r>
            <a:r>
              <a:rPr lang="en-US" sz="2000" noProof="0" dirty="0"/>
              <a:t> </a:t>
            </a:r>
          </a:p>
          <a:p>
            <a:pPr algn="ctr"/>
            <a:r>
              <a:rPr lang="en-US" sz="2000" noProof="0" dirty="0"/>
              <a:t>and for every 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  <a:r>
              <a:rPr lang="en-US" sz="2000" noProof="0" dirty="0"/>
              <a:t> such that </a:t>
            </a:r>
            <a:r>
              <a:rPr lang="en-US" sz="2000" b="1" noProof="0" dirty="0">
                <a:solidFill>
                  <a:srgbClr val="FF0000"/>
                </a:solidFill>
              </a:rPr>
              <a:t>|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  <a:r>
              <a:rPr lang="en-US" sz="2000" b="1" noProof="0" dirty="0">
                <a:solidFill>
                  <a:srgbClr val="FF0000"/>
                </a:solidFill>
              </a:rPr>
              <a:t>| = </a:t>
            </a:r>
            <a:r>
              <a:rPr lang="en-US" sz="2000" b="1" i="1" noProof="0" dirty="0">
                <a:solidFill>
                  <a:srgbClr val="FF0000"/>
                </a:solidFill>
              </a:rPr>
              <a:t>n</a:t>
            </a:r>
          </a:p>
          <a:p>
            <a:r>
              <a:rPr lang="en-US" sz="2000" noProof="0" dirty="0"/>
              <a:t> we have </a:t>
            </a:r>
          </a:p>
          <a:p>
            <a:pPr algn="ctr"/>
            <a:r>
              <a:rPr lang="en-US" sz="2000" b="1" noProof="0" dirty="0">
                <a:solidFill>
                  <a:srgbClr val="FF0000"/>
                </a:solidFill>
              </a:rPr>
              <a:t>|</a:t>
            </a:r>
            <a:r>
              <a:rPr lang="en-US" sz="2000" b="1" i="1" noProof="0" dirty="0">
                <a:solidFill>
                  <a:srgbClr val="FF0000"/>
                </a:solidFill>
              </a:rPr>
              <a:t>G</a:t>
            </a:r>
            <a:r>
              <a:rPr lang="en-US" sz="2000" b="1" noProof="0" dirty="0">
                <a:solidFill>
                  <a:srgbClr val="FF0000"/>
                </a:solidFill>
              </a:rPr>
              <a:t>(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  <a:r>
              <a:rPr lang="en-US" sz="2000" b="1" noProof="0" dirty="0">
                <a:solidFill>
                  <a:srgbClr val="FF0000"/>
                </a:solidFill>
              </a:rPr>
              <a:t>)| = </a:t>
            </a:r>
            <a:r>
              <a:rPr lang="en-US" sz="2000" b="1" noProof="0" dirty="0">
                <a:solidFill>
                  <a:srgbClr val="FF0000"/>
                </a:solidFill>
                <a:latin typeface="Mistral" pitchFamily="66" charset="0"/>
              </a:rPr>
              <a:t>l</a:t>
            </a:r>
            <a:r>
              <a:rPr lang="en-US" sz="2000" b="1" noProof="0" dirty="0">
                <a:solidFill>
                  <a:srgbClr val="FF0000"/>
                </a:solidFill>
              </a:rPr>
              <a:t>(</a:t>
            </a:r>
            <a:r>
              <a:rPr lang="en-US" sz="2000" b="1" i="1" noProof="0" dirty="0">
                <a:solidFill>
                  <a:srgbClr val="FF0000"/>
                </a:solidFill>
              </a:rPr>
              <a:t>n</a:t>
            </a:r>
            <a:r>
              <a:rPr lang="en-US" sz="2000" b="1" noProof="0" dirty="0">
                <a:solidFill>
                  <a:srgbClr val="FF0000"/>
                </a:solidFill>
              </a:rPr>
              <a:t>)</a:t>
            </a:r>
            <a:r>
              <a:rPr lang="en-US" noProof="0" dirty="0"/>
              <a:t>.</a:t>
            </a:r>
            <a:endParaRPr lang="en-US" sz="2000" b="1" noProof="0" dirty="0">
              <a:solidFill>
                <a:srgbClr val="C00000"/>
              </a:solidFill>
            </a:endParaRPr>
          </a:p>
          <a:p>
            <a:pPr algn="ctr"/>
            <a:endParaRPr lang="en-US" sz="2000" noProof="0" dirty="0"/>
          </a:p>
          <a:p>
            <a:r>
              <a:rPr lang="en-US" sz="2000" noProof="0" dirty="0"/>
              <a:t>and for a random</a:t>
            </a:r>
            <a:r>
              <a:rPr lang="en-US" sz="2000" i="1" noProof="0" dirty="0">
                <a:solidFill>
                  <a:srgbClr val="FF0000"/>
                </a:solidFill>
              </a:rPr>
              <a:t> 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  <a:r>
              <a:rPr lang="en-US" sz="2000" i="1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the value </a:t>
            </a:r>
            <a:r>
              <a:rPr lang="en-US" sz="2000" b="1" i="1" noProof="0" dirty="0">
                <a:solidFill>
                  <a:srgbClr val="FF0000"/>
                </a:solidFill>
              </a:rPr>
              <a:t>G</a:t>
            </a:r>
            <a:r>
              <a:rPr lang="en-US" sz="2000" b="1" noProof="0" dirty="0">
                <a:solidFill>
                  <a:srgbClr val="FF0000"/>
                </a:solidFill>
              </a:rPr>
              <a:t>(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  <a:r>
              <a:rPr lang="en-US" sz="2000" b="1" noProof="0" dirty="0">
                <a:solidFill>
                  <a:srgbClr val="FF0000"/>
                </a:solidFill>
              </a:rPr>
              <a:t>)</a:t>
            </a:r>
            <a:r>
              <a:rPr lang="en-US" sz="2000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“</a:t>
            </a:r>
            <a:r>
              <a:rPr lang="en-US" sz="2000" b="1" noProof="0" dirty="0"/>
              <a:t>looks random</a:t>
            </a:r>
            <a:r>
              <a:rPr lang="en-US" sz="2000" noProof="0" dirty="0"/>
              <a:t>”.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1363" y="3243204"/>
            <a:ext cx="1369286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b="1" noProof="0" dirty="0"/>
              <a:t>Definition</a:t>
            </a:r>
          </a:p>
        </p:txBody>
      </p:sp>
      <p:sp>
        <p:nvSpPr>
          <p:cNvPr id="22" name="Oval Callout 21"/>
          <p:cNvSpPr/>
          <p:nvPr/>
        </p:nvSpPr>
        <p:spPr>
          <a:xfrm>
            <a:off x="571472" y="2071678"/>
            <a:ext cx="2143140" cy="898400"/>
          </a:xfrm>
          <a:prstGeom prst="wedgeEllipseCallout">
            <a:avLst>
              <a:gd name="adj1" fmla="val -54093"/>
              <a:gd name="adj2" fmla="val 12946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“expansion</a:t>
            </a:r>
          </a:p>
          <a:p>
            <a:pPr algn="ctr"/>
            <a:r>
              <a:rPr lang="en-US" b="1" noProof="0" dirty="0"/>
              <a:t>factor”</a:t>
            </a:r>
          </a:p>
        </p:txBody>
      </p:sp>
      <p:sp>
        <p:nvSpPr>
          <p:cNvPr id="23" name="Oval Callout 22"/>
          <p:cNvSpPr/>
          <p:nvPr/>
        </p:nvSpPr>
        <p:spPr>
          <a:xfrm>
            <a:off x="6286512" y="4786322"/>
            <a:ext cx="2643206" cy="1428760"/>
          </a:xfrm>
          <a:prstGeom prst="wedgeEllipseCallout">
            <a:avLst>
              <a:gd name="adj1" fmla="val -73315"/>
              <a:gd name="adj2" fmla="val 3069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this has to be formalized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1928794" y="1071546"/>
            <a:ext cx="2143140" cy="898400"/>
          </a:xfrm>
          <a:prstGeom prst="wedgeEllipseCallout">
            <a:avLst>
              <a:gd name="adj1" fmla="val 127747"/>
              <a:gd name="adj2" fmla="val 325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“seed”</a:t>
            </a:r>
          </a:p>
        </p:txBody>
      </p:sp>
    </p:spTree>
    <p:extLst>
      <p:ext uri="{BB962C8B-B14F-4D97-AF65-F5344CB8AC3E}">
        <p14:creationId xmlns:p14="http://schemas.microsoft.com/office/powerpoint/2010/main" val="213405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8" grpId="0" animBg="1"/>
      <p:bldP spid="58379" grpId="0" animBg="1"/>
      <p:bldP spid="58384" grpId="0" animBg="1"/>
      <p:bldP spid="58386" grpId="0" animBg="1"/>
      <p:bldP spid="58387" grpId="0" animBg="1"/>
      <p:bldP spid="17" grpId="0"/>
      <p:bldP spid="19" grpId="0" build="allAtOnce" animBg="1"/>
      <p:bldP spid="20" grpId="0" animBg="1"/>
      <p:bldP spid="22" grpId="0" animBg="1"/>
      <p:bldP spid="23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1643074" cy="714356"/>
          </a:xfrm>
        </p:spPr>
        <p:txBody>
          <a:bodyPr>
            <a:normAutofit/>
          </a:bodyPr>
          <a:lstStyle/>
          <a:p>
            <a:r>
              <a:rPr lang="en-US" noProof="0" dirty="0"/>
              <a:t>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282" y="857232"/>
            <a:ext cx="512198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noProof="0" dirty="0"/>
              <a:t>Use PRGs to “shorten” the key in the one time pad 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105144" y="2528878"/>
            <a:ext cx="4572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533904" y="2100249"/>
            <a:ext cx="609600" cy="172126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G</a:t>
            </a:r>
            <a:r>
              <a:rPr lang="en-US" sz="1800" b="1" noProof="0" dirty="0">
                <a:solidFill>
                  <a:srgbClr val="FF0000"/>
                </a:solidFill>
              </a:rPr>
              <a:t>(</a:t>
            </a: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  <a:r>
              <a:rPr lang="en-US" sz="1800" b="1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 rot="5400000">
            <a:off x="3181344" y="252887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 flipH="1">
                <a:off x="214282" y="1357299"/>
                <a:ext cx="3500462" cy="64633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noProof="0" dirty="0"/>
                  <a:t>Key</a:t>
                </a:r>
                <a:r>
                  <a:rPr lang="en-US" noProof="0" dirty="0"/>
                  <a:t>: random string of length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n</a:t>
                </a:r>
              </a:p>
              <a:p>
                <a:r>
                  <a:rPr lang="en-US" b="1" noProof="0" dirty="0"/>
                  <a:t>Plaintexts</a:t>
                </a:r>
                <a:r>
                  <a:rPr lang="en-US" noProof="0" dirty="0"/>
                  <a:t>: strings of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>
                    <a:solidFill>
                      <a:srgbClr val="FF0000"/>
                    </a:solidFill>
                  </a:rPr>
                  <a:t>  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4282" y="1357299"/>
                <a:ext cx="3500462" cy="646331"/>
              </a:xfrm>
              <a:prstGeom prst="rect">
                <a:avLst/>
              </a:prstGeom>
              <a:blipFill>
                <a:blip r:embed="rId3"/>
                <a:stretch>
                  <a:fillRect l="-1444" t="-3774" b="-11321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071538" y="2571744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Enc(</a:t>
            </a:r>
            <a:r>
              <a:rPr lang="en-US" b="1" i="1" noProof="0" dirty="0" err="1">
                <a:solidFill>
                  <a:srgbClr val="FF0000"/>
                </a:solidFill>
              </a:rPr>
              <a:t>s</a:t>
            </a:r>
            <a:r>
              <a:rPr lang="en-US" b="1" noProof="0" dirty="0" err="1">
                <a:solidFill>
                  <a:srgbClr val="FF0000"/>
                </a:solidFill>
              </a:rPr>
              <a:t>,</a:t>
            </a:r>
            <a:r>
              <a:rPr lang="en-US" b="1" i="1" noProof="0" dirty="0" err="1">
                <a:solidFill>
                  <a:srgbClr val="FF0000"/>
                </a:solidFill>
              </a:rPr>
              <a:t>m</a:t>
            </a:r>
            <a:r>
              <a:rPr lang="en-US" b="1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462598" y="2100250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6929454" y="2071678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b="1" noProof="0" dirty="0" err="1">
                <a:solidFill>
                  <a:srgbClr val="FF0000"/>
                </a:solidFill>
              </a:rPr>
              <a:t>xor</a:t>
            </a:r>
            <a:endParaRPr lang="en-US" b="1" noProof="0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G</a:t>
            </a:r>
            <a:r>
              <a:rPr lang="en-US" sz="1800" b="1" noProof="0" dirty="0">
                <a:solidFill>
                  <a:srgbClr val="FF0000"/>
                </a:solidFill>
              </a:rPr>
              <a:t>(</a:t>
            </a: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  <a:r>
              <a:rPr lang="en-US" sz="1800" b="1" noProof="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4501356" y="3857628"/>
            <a:ext cx="3999734" cy="79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86512" y="157161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 err="1"/>
              <a:t>xor</a:t>
            </a:r>
            <a:endParaRPr lang="en-US" b="1" noProof="0" dirty="0"/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3138486" y="4491054"/>
            <a:ext cx="4572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4567246" y="4062425"/>
            <a:ext cx="609600" cy="172126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G</a:t>
            </a:r>
            <a:r>
              <a:rPr lang="en-US" sz="1800" b="1" noProof="0" dirty="0">
                <a:solidFill>
                  <a:srgbClr val="FF0000"/>
                </a:solidFill>
              </a:rPr>
              <a:t>(</a:t>
            </a: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  <a:r>
              <a:rPr lang="en-US" sz="1800" b="1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8" name="AutoShape 11"/>
          <p:cNvSpPr>
            <a:spLocks noChangeArrowheads="1"/>
          </p:cNvSpPr>
          <p:nvPr/>
        </p:nvSpPr>
        <p:spPr bwMode="auto">
          <a:xfrm rot="5400000">
            <a:off x="3214686" y="4491054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5495940" y="4062426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6962796" y="4033854"/>
            <a:ext cx="609600" cy="1714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c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b="1" noProof="0" dirty="0" err="1">
                <a:solidFill>
                  <a:srgbClr val="FF0000"/>
                </a:solidFill>
              </a:rPr>
              <a:t>xor</a:t>
            </a:r>
            <a:endParaRPr lang="en-US" b="1" noProof="0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G</a:t>
            </a:r>
            <a:r>
              <a:rPr lang="en-US" sz="1800" b="1" noProof="0" dirty="0">
                <a:solidFill>
                  <a:srgbClr val="FF0000"/>
                </a:solidFill>
              </a:rPr>
              <a:t>(</a:t>
            </a:r>
            <a:r>
              <a:rPr lang="en-US" sz="1800" b="1" i="1" noProof="0" dirty="0">
                <a:solidFill>
                  <a:srgbClr val="FF0000"/>
                </a:solidFill>
              </a:rPr>
              <a:t>s</a:t>
            </a:r>
            <a:r>
              <a:rPr lang="en-US" sz="1800" b="1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538" y="4643446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Dec(</a:t>
            </a:r>
            <a:r>
              <a:rPr lang="en-US" b="1" i="1" noProof="0" dirty="0" err="1">
                <a:solidFill>
                  <a:srgbClr val="FF0000"/>
                </a:solidFill>
              </a:rPr>
              <a:t>s</a:t>
            </a:r>
            <a:r>
              <a:rPr lang="en-US" b="1" noProof="0" dirty="0" err="1">
                <a:solidFill>
                  <a:srgbClr val="FF0000"/>
                </a:solidFill>
              </a:rPr>
              <a:t>,</a:t>
            </a:r>
            <a:r>
              <a:rPr lang="en-US" b="1" i="1" noProof="0" dirty="0" err="1">
                <a:solidFill>
                  <a:srgbClr val="FF0000"/>
                </a:solidFill>
              </a:rPr>
              <a:t>c</a:t>
            </a:r>
            <a:r>
              <a:rPr lang="en-US" b="1" noProof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2976" y="6143644"/>
            <a:ext cx="750099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noProof="0" dirty="0"/>
              <a:t>If we use a “normal PRG” – this idea doesn’t work </a:t>
            </a:r>
          </a:p>
          <a:p>
            <a:pPr algn="r">
              <a:lnSpc>
                <a:spcPct val="80000"/>
              </a:lnSpc>
              <a:buFontTx/>
              <a:buNone/>
            </a:pPr>
            <a:r>
              <a:rPr lang="en-US" noProof="0" dirty="0"/>
              <a:t>We have to use the </a:t>
            </a:r>
            <a:r>
              <a:rPr lang="en-US" b="1" noProof="0" dirty="0">
                <a:solidFill>
                  <a:srgbClr val="002060"/>
                </a:solidFill>
              </a:rPr>
              <a:t>cryptographic PRGs.</a:t>
            </a:r>
          </a:p>
        </p:txBody>
      </p:sp>
      <p:sp>
        <p:nvSpPr>
          <p:cNvPr id="22" name="Cloud Callout 21"/>
          <p:cNvSpPr/>
          <p:nvPr/>
        </p:nvSpPr>
        <p:spPr>
          <a:xfrm>
            <a:off x="5715008" y="142852"/>
            <a:ext cx="3143272" cy="1357322"/>
          </a:xfrm>
          <a:prstGeom prst="cloudCallout">
            <a:avLst>
              <a:gd name="adj1" fmla="val -65157"/>
              <a:gd name="adj2" fmla="val 1436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for a moment just consider a </a:t>
            </a:r>
            <a:r>
              <a:rPr lang="en-US" b="1" noProof="0" dirty="0"/>
              <a:t>single message case</a:t>
            </a:r>
          </a:p>
        </p:txBody>
      </p:sp>
    </p:spTree>
    <p:extLst>
      <p:ext uri="{BB962C8B-B14F-4D97-AF65-F5344CB8AC3E}">
        <p14:creationId xmlns:p14="http://schemas.microsoft.com/office/powerpoint/2010/main" val="362307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8" grpId="0" animBg="1"/>
      <p:bldP spid="19" grpId="0"/>
      <p:bldP spid="20" grpId="0" animBg="1"/>
      <p:bldP spid="21" grpId="0" animBg="1"/>
      <p:bldP spid="24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5072066" y="3643314"/>
                <a:ext cx="3429024" cy="2786082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sz="3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𝟎</m:t>
                              </m:r>
                              <m:r>
                                <a:rPr lang="en-US" sz="3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,</m:t>
                              </m:r>
                              <m:r>
                                <a:rPr lang="en-US" sz="3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ℓ</m:t>
                          </m:r>
                          <m:r>
                            <a:rPr lang="en-US" sz="3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(</m:t>
                          </m:r>
                          <m:r>
                            <a:rPr lang="en-US" sz="3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𝒏</m:t>
                          </m:r>
                          <m:r>
                            <a:rPr lang="en-US" sz="3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3200" baseline="300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32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066" y="3643314"/>
                <a:ext cx="3429024" cy="278608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arallelogram 6"/>
          <p:cNvSpPr/>
          <p:nvPr/>
        </p:nvSpPr>
        <p:spPr>
          <a:xfrm rot="5400000">
            <a:off x="3857608" y="3214698"/>
            <a:ext cx="1143032" cy="4857784"/>
          </a:xfrm>
          <a:prstGeom prst="parallelogram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noProof="0" dirty="0"/>
              <a:t>“Looks random”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357298"/>
                <a:ext cx="8229600" cy="257176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noProof="0" dirty="0"/>
                  <a:t>Suppose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s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b="1" noProof="0" dirty="0">
                    <a:solidFill>
                      <a:srgbClr val="FF0000"/>
                    </a:solidFill>
                    <a:sym typeface="Symbol"/>
                  </a:rPr>
                  <a:t> {0,1}</a:t>
                </a:r>
                <a:r>
                  <a:rPr lang="en-US" b="1" i="1" baseline="30000" noProof="0" dirty="0">
                    <a:solidFill>
                      <a:srgbClr val="FF0000"/>
                    </a:solidFill>
                    <a:sym typeface="Symbol"/>
                  </a:rPr>
                  <a:t>n</a:t>
                </a:r>
                <a:r>
                  <a:rPr lang="en-US" b="1" noProof="0" dirty="0">
                    <a:solidFill>
                      <a:srgbClr val="FF0000"/>
                    </a:solidFill>
                    <a:sym typeface="Symbol"/>
                  </a:rPr>
                  <a:t> </a:t>
                </a:r>
                <a:r>
                  <a:rPr lang="en-US" noProof="0" dirty="0"/>
                  <a:t>is chosen randomly.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>
                  <a:buNone/>
                </a:pPr>
                <a:r>
                  <a:rPr lang="en-US" noProof="0" dirty="0"/>
                  <a:t>Can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G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s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) </a:t>
                </a:r>
                <a:r>
                  <a:rPr lang="en-US" b="1" noProof="0" dirty="0">
                    <a:solidFill>
                      <a:srgbClr val="FF0000"/>
                    </a:solidFill>
                    <a:sym typeface="Symbol"/>
                  </a:rPr>
                  <a:t>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𝟎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,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ℓ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noProof="0" dirty="0"/>
                  <a:t> be uniformly random? </a:t>
                </a:r>
              </a:p>
              <a:p>
                <a:pPr algn="ctr">
                  <a:buNone/>
                </a:pPr>
                <a:r>
                  <a:rPr lang="en-US" b="1" noProof="0" dirty="0"/>
                  <a:t>No!</a:t>
                </a:r>
              </a:p>
              <a:p>
                <a:pPr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357298"/>
                <a:ext cx="8229600" cy="2571768"/>
              </a:xfrm>
              <a:blipFill>
                <a:blip r:embed="rId4"/>
                <a:stretch>
                  <a:fillRect l="-1541" t="-492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142976" y="5000636"/>
            <a:ext cx="1785950" cy="92869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rgbClr val="FF0000"/>
                </a:solidFill>
                <a:sym typeface="Symbol"/>
              </a:rPr>
              <a:t>{0,1}</a:t>
            </a:r>
            <a:r>
              <a:rPr lang="en-US" sz="2400" b="1" i="1" baseline="30000" noProof="0" dirty="0">
                <a:solidFill>
                  <a:srgbClr val="FF0000"/>
                </a:solidFill>
                <a:sym typeface="Symbol"/>
              </a:rPr>
              <a:t>n</a:t>
            </a:r>
            <a:endParaRPr lang="en-US" sz="2400" i="1" noProof="0" dirty="0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786446" y="5357826"/>
            <a:ext cx="2088152" cy="85725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noProof="0" dirty="0">
                <a:solidFill>
                  <a:srgbClr val="FF0000"/>
                </a:solidFill>
                <a:sym typeface="Symbol"/>
              </a:rPr>
              <a:t>G</a:t>
            </a:r>
            <a:r>
              <a:rPr lang="en-US" sz="2400" b="1" noProof="0" dirty="0">
                <a:solidFill>
                  <a:srgbClr val="FF0000"/>
                </a:solidFill>
                <a:sym typeface="Symbol"/>
              </a:rPr>
              <a:t>({0,1}</a:t>
            </a:r>
            <a:r>
              <a:rPr lang="en-US" sz="2400" b="1" i="1" baseline="30000" noProof="0" dirty="0">
                <a:solidFill>
                  <a:srgbClr val="FF0000"/>
                </a:solidFill>
                <a:sym typeface="Symbol"/>
              </a:rPr>
              <a:t>n</a:t>
            </a:r>
            <a:r>
              <a:rPr lang="en-US" sz="2400" b="1" noProof="0" dirty="0">
                <a:solidFill>
                  <a:srgbClr val="FF0000"/>
                </a:solidFill>
                <a:sym typeface="Symbol"/>
              </a:rPr>
              <a:t>)</a:t>
            </a:r>
            <a:endParaRPr lang="en-US" sz="24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3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85728"/>
            <a:ext cx="8147902" cy="1143000"/>
          </a:xfrm>
        </p:spPr>
        <p:txBody>
          <a:bodyPr/>
          <a:lstStyle/>
          <a:p>
            <a:r>
              <a:rPr lang="en-US" noProof="0" dirty="0"/>
              <a:t>“Looks random”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447800"/>
            <a:ext cx="8433654" cy="4800600"/>
          </a:xfrm>
        </p:spPr>
        <p:txBody>
          <a:bodyPr/>
          <a:lstStyle/>
          <a:p>
            <a:pPr>
              <a:buFontTx/>
              <a:buNone/>
            </a:pPr>
            <a:r>
              <a:rPr lang="en-US" noProof="0" dirty="0"/>
              <a:t>What does it mean?</a:t>
            </a:r>
          </a:p>
          <a:p>
            <a:pPr>
              <a:buFontTx/>
              <a:buNone/>
            </a:pPr>
            <a:endParaRPr lang="en-US" noProof="0" dirty="0"/>
          </a:p>
          <a:p>
            <a:pPr>
              <a:buFontTx/>
              <a:buNone/>
            </a:pPr>
            <a:r>
              <a:rPr lang="en-US" b="1" noProof="0" dirty="0">
                <a:solidFill>
                  <a:srgbClr val="0070C0"/>
                </a:solidFill>
              </a:rPr>
              <a:t>Non-cryptographic</a:t>
            </a:r>
            <a:r>
              <a:rPr lang="en-US" noProof="0" dirty="0"/>
              <a:t> applications:</a:t>
            </a:r>
          </a:p>
          <a:p>
            <a:pPr algn="r">
              <a:buFontTx/>
              <a:buNone/>
            </a:pPr>
            <a:r>
              <a:rPr lang="en-US" noProof="0" dirty="0"/>
              <a:t>should pass </a:t>
            </a:r>
            <a:r>
              <a:rPr lang="en-US" b="1" noProof="0" dirty="0">
                <a:solidFill>
                  <a:srgbClr val="FF0000"/>
                </a:solidFill>
              </a:rPr>
              <a:t>some statistical tests</a:t>
            </a:r>
            <a:r>
              <a:rPr lang="en-US" noProof="0" dirty="0"/>
              <a:t>.</a:t>
            </a:r>
          </a:p>
          <a:p>
            <a:pPr>
              <a:buFontTx/>
              <a:buNone/>
            </a:pPr>
            <a:endParaRPr lang="en-US" noProof="0" dirty="0"/>
          </a:p>
          <a:p>
            <a:pPr>
              <a:buFontTx/>
              <a:buNone/>
            </a:pPr>
            <a:r>
              <a:rPr lang="en-US" b="1" noProof="0" dirty="0">
                <a:solidFill>
                  <a:srgbClr val="0070C0"/>
                </a:solidFill>
              </a:rPr>
              <a:t>Cryptography</a:t>
            </a:r>
            <a:r>
              <a:rPr lang="en-US" b="1" noProof="0" dirty="0">
                <a:solidFill>
                  <a:srgbClr val="002060"/>
                </a:solidFill>
              </a:rPr>
              <a:t>:</a:t>
            </a:r>
          </a:p>
          <a:p>
            <a:pPr algn="r">
              <a:buFontTx/>
              <a:buNone/>
            </a:pPr>
            <a:r>
              <a:rPr lang="en-US" noProof="0" dirty="0"/>
              <a:t>should pass </a:t>
            </a:r>
            <a:r>
              <a:rPr lang="en-US" b="1" noProof="0" dirty="0">
                <a:solidFill>
                  <a:srgbClr val="FF0000"/>
                </a:solidFill>
              </a:rPr>
              <a:t>all polynomial-time tests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8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Non-cryptographic PRGs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0108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Example: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Linear Congruential Generators (LCG) </a:t>
                </a:r>
                <a:r>
                  <a:rPr lang="en-US" noProof="0" dirty="0"/>
                  <a:t>defined recursively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b="1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noProof="0" dirty="0"/>
                  <a:t>– the key</a:t>
                </a:r>
              </a:p>
              <a:p>
                <a:r>
                  <a:rPr lang="en-US" noProof="0" dirty="0">
                    <a:solidFill>
                      <a:srgbClr val="000000"/>
                    </a:solidFill>
                  </a:rPr>
                  <a:t> for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noProof="0" dirty="0"/>
                  <a:t>let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u="sng" noProof="0" dirty="0">
                    <a:solidFill>
                      <a:srgbClr val="7030A0"/>
                    </a:solidFill>
                  </a:rPr>
                  <a:t>output</a:t>
                </a:r>
                <a:r>
                  <a:rPr lang="en-US" noProof="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noProof="0" dirty="0">
                    <a:solidFill>
                      <a:srgbClr val="000000"/>
                    </a:solidFill>
                  </a:rPr>
                  <a:t> where </a:t>
                </a:r>
              </a:p>
              <a:p>
                <a:pPr marL="0" indent="0" algn="ctr">
                  <a:buNone/>
                </a:pPr>
                <a:r>
                  <a:rPr lang="en-US" b="1" i="1" noProof="0" dirty="0">
                    <a:solidFill>
                      <a:srgbClr val="FF0000"/>
                    </a:solidFill>
                  </a:rPr>
                  <a:t>Y</a:t>
                </a:r>
                <a:r>
                  <a:rPr lang="en-US" b="1" i="1" baseline="-25000" noProof="0" dirty="0">
                    <a:solidFill>
                      <a:srgbClr val="FF0000"/>
                    </a:solidFill>
                  </a:rPr>
                  <a:t>i</a:t>
                </a:r>
                <a:r>
                  <a:rPr lang="en-US" noProof="0" dirty="0">
                    <a:solidFill>
                      <a:srgbClr val="000000"/>
                    </a:solidFill>
                  </a:rPr>
                  <a:t> = first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t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>
                    <a:solidFill>
                      <a:srgbClr val="000000"/>
                    </a:solidFill>
                  </a:rPr>
                  <a:t>bits of each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X</a:t>
                </a:r>
                <a:r>
                  <a:rPr lang="en-US" b="1" i="1" baseline="-25000" noProof="0" dirty="0">
                    <a:solidFill>
                      <a:srgbClr val="FF0000"/>
                    </a:solidFill>
                  </a:rPr>
                  <a:t>i</a:t>
                </a:r>
                <a:br>
                  <a:rPr lang="en-US" b="1" baseline="-25000" noProof="0" dirty="0">
                    <a:solidFill>
                      <a:srgbClr val="FF0000"/>
                    </a:solidFill>
                  </a:rPr>
                </a:br>
                <a:endParaRPr lang="en-US" b="1" noProof="0" dirty="0"/>
              </a:p>
              <a:p>
                <a:pPr marL="0" indent="0">
                  <a:buNone/>
                </a:pPr>
                <a:r>
                  <a:rPr lang="en-US" b="1" noProof="0" dirty="0"/>
                  <a:t>rand() </a:t>
                </a:r>
                <a:r>
                  <a:rPr lang="en-US" noProof="0" dirty="0"/>
                  <a:t>function in Windows – an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LCG</a:t>
                </a:r>
                <a:r>
                  <a:rPr lang="en-US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noProof="0" dirty="0"/>
                  <a:t>with</a:t>
                </a:r>
              </a:p>
              <a:p>
                <a:pPr marL="0" indent="0" algn="ctr">
                  <a:buNone/>
                </a:pPr>
                <a:r>
                  <a:rPr lang="en-US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a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= 214013,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c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= 2531011,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m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= 2</a:t>
                </a:r>
                <a:r>
                  <a:rPr lang="en-US" b="1" baseline="30000" noProof="0" dirty="0">
                    <a:solidFill>
                      <a:srgbClr val="FF0000"/>
                    </a:solidFill>
                  </a:rPr>
                  <a:t>32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,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t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= 15</a:t>
                </a:r>
              </a:p>
              <a:p>
                <a:pPr marL="0" indent="0" algn="ctr">
                  <a:buNone/>
                </a:pPr>
                <a:endParaRPr lang="en-US" b="1" baseline="30000" noProof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US" b="1" baseline="30000" noProof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US" b="1" baseline="30000" noProof="0" dirty="0">
                  <a:solidFill>
                    <a:srgbClr val="FF0000"/>
                  </a:solidFill>
                </a:endParaRPr>
              </a:p>
              <a:p>
                <a:endParaRPr lang="en-US" noProof="0" dirty="0"/>
              </a:p>
              <a:p>
                <a:pPr marL="0" indent="0" algn="ctr">
                  <a:buNone/>
                </a:pPr>
                <a:endParaRPr lang="en-US" noProof="0" dirty="0"/>
              </a:p>
              <a:p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01086"/>
              </a:xfrm>
              <a:blipFill>
                <a:blip r:embed="rId2"/>
                <a:stretch>
                  <a:fillRect l="-1447" t="-263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371139" y="5244353"/>
            <a:ext cx="8455510" cy="2151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24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436" y="317227"/>
            <a:ext cx="7886700" cy="1325563"/>
          </a:xfrm>
        </p:spPr>
        <p:txBody>
          <a:bodyPr/>
          <a:lstStyle/>
          <a:p>
            <a:r>
              <a:rPr lang="en-US" noProof="0" dirty="0"/>
              <a:t>How to break an 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1008"/>
            <a:ext cx="8229600" cy="26251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noProof="0" dirty="0"/>
              <a:t>Solve linear equations with “partial knowledge” (because you only know first </a:t>
            </a:r>
            <a:r>
              <a:rPr lang="en-US" b="1" i="1" noProof="0" dirty="0">
                <a:solidFill>
                  <a:srgbClr val="FF0000"/>
                </a:solidFill>
              </a:rPr>
              <a:t>t</a:t>
            </a:r>
            <a:r>
              <a:rPr lang="en-US" noProof="0" dirty="0"/>
              <a:t> bits)  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See:</a:t>
            </a:r>
          </a:p>
          <a:p>
            <a:pPr marL="0" indent="0">
              <a:buNone/>
            </a:pPr>
            <a:r>
              <a:rPr lang="en-US" noProof="0" dirty="0">
                <a:solidFill>
                  <a:srgbClr val="00B050"/>
                </a:solidFill>
              </a:rPr>
              <a:t>G. Argyros and A. </a:t>
            </a:r>
            <a:r>
              <a:rPr lang="en-US" noProof="0" dirty="0" err="1">
                <a:solidFill>
                  <a:srgbClr val="00B050"/>
                </a:solidFill>
              </a:rPr>
              <a:t>Kiayias</a:t>
            </a:r>
            <a:r>
              <a:rPr lang="en-US" noProof="0" dirty="0">
                <a:solidFill>
                  <a:srgbClr val="00B050"/>
                </a:solidFill>
              </a:rPr>
              <a:t>: </a:t>
            </a:r>
            <a:r>
              <a:rPr lang="en-US" b="1" noProof="0" dirty="0">
                <a:solidFill>
                  <a:srgbClr val="00B050"/>
                </a:solidFill>
              </a:rPr>
              <a:t>I Forgot Your Password: Randomness Attacks Against PHP Applications</a:t>
            </a:r>
            <a:r>
              <a:rPr lang="en-US" noProof="0" dirty="0">
                <a:solidFill>
                  <a:srgbClr val="00B050"/>
                </a:solidFill>
              </a:rPr>
              <a:t>, </a:t>
            </a:r>
            <a:r>
              <a:rPr lang="en-US" i="1" noProof="0" dirty="0">
                <a:solidFill>
                  <a:srgbClr val="00B050"/>
                </a:solidFill>
              </a:rPr>
              <a:t>USENIX Security '12</a:t>
            </a:r>
          </a:p>
          <a:p>
            <a:pPr marL="0" indent="0">
              <a:buNone/>
            </a:pPr>
            <a:r>
              <a:rPr lang="en-US" noProof="0" dirty="0"/>
              <a:t>(successful attacks on password-recovery mechanisms in PHP)</a:t>
            </a:r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4" name="Picture 4" descr="MCj043593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6216" y="184482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157864" y="2348880"/>
            <a:ext cx="4090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noProof="0" dirty="0">
                <a:solidFill>
                  <a:srgbClr val="FF0000"/>
                </a:solidFill>
              </a:rPr>
              <a:t>Y</a:t>
            </a:r>
            <a:r>
              <a:rPr lang="en-US" b="1" baseline="-25000" noProof="0" dirty="0">
                <a:solidFill>
                  <a:srgbClr val="FF0000"/>
                </a:solidFill>
              </a:rPr>
              <a:t>1</a:t>
            </a:r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1805936" y="2348880"/>
            <a:ext cx="4090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noProof="0" dirty="0">
                <a:solidFill>
                  <a:srgbClr val="FF0000"/>
                </a:solidFill>
              </a:rPr>
              <a:t>Y</a:t>
            </a:r>
            <a:r>
              <a:rPr lang="en-US" b="1" baseline="-25000" noProof="0" dirty="0">
                <a:solidFill>
                  <a:srgbClr val="FF0000"/>
                </a:solidFill>
              </a:rPr>
              <a:t>2</a:t>
            </a:r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382000" y="234888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6056" y="2348880"/>
            <a:ext cx="39350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noProof="0" dirty="0">
                <a:solidFill>
                  <a:srgbClr val="FF0000"/>
                </a:solidFill>
              </a:rPr>
              <a:t>Y</a:t>
            </a:r>
            <a:r>
              <a:rPr lang="en-US" b="1" i="1" baseline="-25000" noProof="0" dirty="0">
                <a:solidFill>
                  <a:srgbClr val="FF0000"/>
                </a:solidFill>
              </a:rPr>
              <a:t>n</a:t>
            </a:r>
            <a:endParaRPr lang="en-US" i="1" noProof="0" dirty="0"/>
          </a:p>
        </p:txBody>
      </p:sp>
      <p:sp>
        <p:nvSpPr>
          <p:cNvPr id="10" name="Right Arrow 9"/>
          <p:cNvSpPr/>
          <p:nvPr/>
        </p:nvSpPr>
        <p:spPr>
          <a:xfrm>
            <a:off x="3534128" y="2420888"/>
            <a:ext cx="648072" cy="2160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7062520" y="2348880"/>
            <a:ext cx="4106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i="1" noProof="0" dirty="0">
                <a:solidFill>
                  <a:srgbClr val="FF0000"/>
                </a:solidFill>
              </a:rPr>
              <a:t>X</a:t>
            </a:r>
            <a:r>
              <a:rPr lang="en-US" b="1" baseline="-25000" noProof="0" dirty="0">
                <a:solidFill>
                  <a:srgbClr val="FF0000"/>
                </a:solidFill>
              </a:rPr>
              <a:t>0</a:t>
            </a:r>
            <a:endParaRPr lang="en-US" noProof="0" dirty="0"/>
          </a:p>
        </p:txBody>
      </p:sp>
      <p:sp>
        <p:nvSpPr>
          <p:cNvPr id="12" name="Right Arrow 11"/>
          <p:cNvSpPr/>
          <p:nvPr/>
        </p:nvSpPr>
        <p:spPr>
          <a:xfrm>
            <a:off x="6198424" y="2420888"/>
            <a:ext cx="648072" cy="2160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092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3571876"/>
            <a:ext cx="9144000" cy="264320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0" y="928670"/>
            <a:ext cx="9144000" cy="26432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9396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271462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noProof="0" dirty="0"/>
              <a:t>PRG – main idea of the definition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91849" y="1782537"/>
            <a:ext cx="4409662" cy="1646463"/>
            <a:chOff x="480" y="960"/>
            <a:chExt cx="2375" cy="677"/>
          </a:xfrm>
        </p:grpSpPr>
        <p:sp>
          <p:nvSpPr>
            <p:cNvPr id="59397" name="Text Box 5"/>
            <p:cNvSpPr txBox="1">
              <a:spLocks noChangeArrowheads="1"/>
            </p:cNvSpPr>
            <p:nvPr/>
          </p:nvSpPr>
          <p:spPr bwMode="auto">
            <a:xfrm>
              <a:off x="480" y="960"/>
              <a:ext cx="1632" cy="15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0" noProof="0" dirty="0">
                  <a:solidFill>
                    <a:schemeClr val="tx1"/>
                  </a:solidFill>
                </a:rPr>
                <a:t>a random string </a:t>
              </a:r>
              <a:r>
                <a:rPr lang="en-US" sz="1800" b="1" i="1" noProof="0" dirty="0">
                  <a:solidFill>
                    <a:srgbClr val="FF0000"/>
                  </a:solidFill>
                </a:rPr>
                <a:t>R</a:t>
              </a:r>
              <a:r>
                <a:rPr lang="en-US" sz="1800" noProof="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>
              <a:off x="2178" y="1095"/>
              <a:ext cx="677" cy="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7807087" y="2488164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outputs:</a:t>
            </a:r>
          </a:p>
        </p:txBody>
      </p:sp>
      <p:grpSp>
        <p:nvGrpSpPr>
          <p:cNvPr id="3" name="Group 18"/>
          <p:cNvGrpSpPr/>
          <p:nvPr/>
        </p:nvGrpSpPr>
        <p:grpSpPr>
          <a:xfrm>
            <a:off x="7021269" y="2988230"/>
            <a:ext cx="2045611" cy="369332"/>
            <a:chOff x="5429256" y="1500174"/>
            <a:chExt cx="2045611" cy="369332"/>
          </a:xfrm>
        </p:grpSpPr>
        <p:sp>
          <p:nvSpPr>
            <p:cNvPr id="59405" name="Text Box 13"/>
            <p:cNvSpPr txBox="1">
              <a:spLocks noChangeArrowheads="1"/>
            </p:cNvSpPr>
            <p:nvPr/>
          </p:nvSpPr>
          <p:spPr bwMode="auto">
            <a:xfrm>
              <a:off x="6429388" y="1500174"/>
              <a:ext cx="1045479" cy="3693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b</a:t>
              </a:r>
              <a:r>
                <a:rPr lang="en-US" sz="1800" b="1" noProof="0" dirty="0">
                  <a:solidFill>
                    <a:srgbClr val="FF0000"/>
                  </a:solidFill>
                </a:rPr>
                <a:t> </a:t>
              </a:r>
              <a:r>
                <a:rPr lang="en-US" sz="1800" b="1" noProof="0" dirty="0">
                  <a:solidFill>
                    <a:srgbClr val="FF0000"/>
                  </a:solidFill>
                  <a:sym typeface="Symbol"/>
                </a:rPr>
                <a:t>{0,1}</a:t>
              </a:r>
              <a:endParaRPr lang="en-US" sz="1800" b="1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5429256" y="1714488"/>
              <a:ext cx="928694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520411" y="3714768"/>
            <a:ext cx="4479422" cy="1416052"/>
            <a:chOff x="480" y="301"/>
            <a:chExt cx="2441" cy="892"/>
          </a:xfrm>
        </p:grpSpPr>
        <p:sp>
          <p:nvSpPr>
            <p:cNvPr id="26" name="Text Box 5"/>
            <p:cNvSpPr txBox="1">
              <a:spLocks noChangeArrowheads="1"/>
            </p:cNvSpPr>
            <p:nvPr/>
          </p:nvSpPr>
          <p:spPr bwMode="auto">
            <a:xfrm>
              <a:off x="480" y="960"/>
              <a:ext cx="1632" cy="23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G</a:t>
              </a:r>
              <a:r>
                <a:rPr lang="en-US" sz="1800" b="1" noProof="0" dirty="0">
                  <a:solidFill>
                    <a:srgbClr val="FF0000"/>
                  </a:solidFill>
                </a:rPr>
                <a:t>(</a:t>
              </a:r>
              <a:r>
                <a:rPr lang="en-US" sz="1800" b="1" i="1" noProof="0" dirty="0">
                  <a:solidFill>
                    <a:srgbClr val="FF0000"/>
                  </a:solidFill>
                </a:rPr>
                <a:t>S</a:t>
              </a:r>
              <a:r>
                <a:rPr lang="en-US" sz="1800" b="1" noProof="0" dirty="0">
                  <a:solidFill>
                    <a:srgbClr val="FF0000"/>
                  </a:solidFill>
                </a:rPr>
                <a:t>)</a:t>
              </a:r>
              <a:r>
                <a:rPr lang="en-US" sz="1800" noProof="0" dirty="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 flipV="1">
              <a:off x="2178" y="301"/>
              <a:ext cx="743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5000628" y="3857628"/>
            <a:ext cx="2143140" cy="92333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a probabilistic polynomial-time </a:t>
            </a:r>
            <a:r>
              <a:rPr lang="en-US" sz="1800" b="1" noProof="0" dirty="0">
                <a:solidFill>
                  <a:srgbClr val="0070C0"/>
                </a:solidFill>
              </a:rPr>
              <a:t>distinguisher</a:t>
            </a:r>
            <a:r>
              <a:rPr lang="en-US" sz="1800" noProof="0" dirty="0">
                <a:solidFill>
                  <a:schemeClr val="accent2"/>
                </a:solidFill>
              </a:rPr>
              <a:t> </a:t>
            </a:r>
            <a:r>
              <a:rPr lang="en-US" sz="1800" b="1" i="1" noProof="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6" name="Up-Down Arrow 35"/>
          <p:cNvSpPr/>
          <p:nvPr/>
        </p:nvSpPr>
        <p:spPr>
          <a:xfrm>
            <a:off x="1643042" y="2285992"/>
            <a:ext cx="571504" cy="242889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214282" y="3345420"/>
            <a:ext cx="3500462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s</a:t>
            </a:r>
            <a:r>
              <a:rPr lang="en-US" sz="1800" b="0" noProof="0" dirty="0">
                <a:solidFill>
                  <a:schemeClr val="tx1"/>
                </a:solidFill>
              </a:rPr>
              <a:t>hould not be able to distinguish...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844" y="1071546"/>
            <a:ext cx="164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/>
              <a:t>scenario </a:t>
            </a:r>
            <a:r>
              <a:rPr lang="en-US" sz="2400" b="1" noProof="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06" y="3857628"/>
            <a:ext cx="164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/>
              <a:t>scenario </a:t>
            </a:r>
            <a:r>
              <a:rPr lang="en-US" sz="2400" b="1" noProof="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430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4" grpId="0"/>
      <p:bldP spid="59399" grpId="0" animBg="1"/>
      <p:bldP spid="36" grpId="0" animBg="1"/>
      <p:bldP spid="5940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noProof="0" dirty="0"/>
              <a:t>Cryptographic PRG</a:t>
            </a:r>
          </a:p>
        </p:txBody>
      </p:sp>
      <p:pic>
        <p:nvPicPr>
          <p:cNvPr id="59396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8150" y="121920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42950" y="1524000"/>
            <a:ext cx="3352800" cy="1131888"/>
            <a:chOff x="468" y="960"/>
            <a:chExt cx="2112" cy="713"/>
          </a:xfrm>
        </p:grpSpPr>
        <p:sp>
          <p:nvSpPr>
            <p:cNvPr id="59397" name="Text Box 5"/>
            <p:cNvSpPr txBox="1">
              <a:spLocks noChangeArrowheads="1"/>
            </p:cNvSpPr>
            <p:nvPr/>
          </p:nvSpPr>
          <p:spPr bwMode="auto">
            <a:xfrm>
              <a:off x="480" y="960"/>
              <a:ext cx="1632" cy="23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0" noProof="0" dirty="0">
                  <a:solidFill>
                    <a:schemeClr val="tx1"/>
                  </a:solidFill>
                </a:rPr>
                <a:t>a random string </a:t>
              </a:r>
              <a:r>
                <a:rPr lang="en-US" sz="1800" b="1" i="1" noProof="0" dirty="0">
                  <a:solidFill>
                    <a:srgbClr val="FF0000"/>
                  </a:solidFill>
                </a:rPr>
                <a:t>R</a:t>
              </a:r>
              <a:r>
                <a:rPr lang="en-US" sz="1800" i="1" noProof="0" dirty="0">
                  <a:solidFill>
                    <a:srgbClr val="FF0000"/>
                  </a:solidFill>
                </a:rPr>
                <a:t>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39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68" y="1440"/>
                  <a:ext cx="1632" cy="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14:m>
                    <m:oMath xmlns:m="http://schemas.openxmlformats.org/officeDocument/2006/math"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b="1" noProof="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800" b="0" noProof="0" dirty="0">
                      <a:solidFill>
                        <a:schemeClr val="tx1"/>
                      </a:solidFill>
                    </a:rPr>
                    <a:t>(where </a:t>
                  </a:r>
                  <a14:m>
                    <m:oMath xmlns:m="http://schemas.openxmlformats.org/officeDocument/2006/math"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US" sz="1800" noProof="0" dirty="0">
                      <a:solidFill>
                        <a:srgbClr val="800000"/>
                      </a:solidFill>
                    </a:rPr>
                    <a:t> </a:t>
                  </a:r>
                  <a:r>
                    <a:rPr lang="en-US" sz="1800" b="0" noProof="0" dirty="0">
                      <a:solidFill>
                        <a:schemeClr val="tx1"/>
                      </a:solidFill>
                    </a:rPr>
                    <a:t>random) </a:t>
                  </a:r>
                </a:p>
              </p:txBody>
            </p:sp>
          </mc:Choice>
          <mc:Fallback>
            <p:sp>
              <p:nvSpPr>
                <p:cNvPr id="59398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" y="1440"/>
                  <a:ext cx="1632" cy="233"/>
                </a:xfrm>
                <a:prstGeom prst="rect">
                  <a:avLst/>
                </a:prstGeom>
                <a:blipFill>
                  <a:blip r:embed="rId4"/>
                  <a:stretch>
                    <a:fillRect t="-3226" r="-1456" b="-22581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>
              <a:off x="2148" y="13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59402" name="Text Box 10"/>
            <p:cNvSpPr txBox="1">
              <a:spLocks noChangeArrowheads="1"/>
            </p:cNvSpPr>
            <p:nvPr/>
          </p:nvSpPr>
          <p:spPr bwMode="auto">
            <a:xfrm>
              <a:off x="1104" y="1200"/>
              <a:ext cx="3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800" b="0" noProof="0" dirty="0">
                  <a:solidFill>
                    <a:schemeClr val="tx1"/>
                  </a:solidFill>
                </a:rPr>
                <a:t>or</a:t>
              </a:r>
            </a:p>
          </p:txBody>
        </p:sp>
      </p:grp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6429388" y="3071810"/>
            <a:ext cx="2438400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Should not be able to distinguish...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6629400" y="990600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outputs: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05" name="Text Box 13"/>
              <p:cNvSpPr txBox="1">
                <a:spLocks noChangeArrowheads="1"/>
              </p:cNvSpPr>
              <p:nvPr/>
            </p:nvSpPr>
            <p:spPr bwMode="auto">
              <a:xfrm>
                <a:off x="6705600" y="1524000"/>
                <a:ext cx="232159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800" b="0" noProof="0" dirty="0">
                    <a:solidFill>
                      <a:schemeClr val="tx1"/>
                    </a:solidFill>
                  </a:rPr>
                  <a:t> if he thinks it’s </a:t>
                </a:r>
                <a:r>
                  <a:rPr lang="en-US" sz="1800" b="1" i="1" noProof="0" dirty="0">
                    <a:solidFill>
                      <a:srgbClr val="FF0000"/>
                    </a:solidFill>
                  </a:rPr>
                  <a:t>R</a:t>
                </a:r>
              </a:p>
            </p:txBody>
          </p:sp>
        </mc:Choice>
        <mc:Fallback>
          <p:sp>
            <p:nvSpPr>
              <p:cNvPr id="5940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1524000"/>
                <a:ext cx="2321591" cy="369332"/>
              </a:xfrm>
              <a:prstGeom prst="rect">
                <a:avLst/>
              </a:prstGeom>
              <a:blipFill>
                <a:blip r:embed="rId5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406" name="Text Box 14"/>
              <p:cNvSpPr txBox="1">
                <a:spLocks noChangeArrowheads="1"/>
              </p:cNvSpPr>
              <p:nvPr/>
            </p:nvSpPr>
            <p:spPr bwMode="auto">
              <a:xfrm>
                <a:off x="6686550" y="2286000"/>
                <a:ext cx="2340641" cy="369332"/>
              </a:xfrm>
              <a:prstGeom prst="rect">
                <a:avLst/>
              </a:prstGeom>
              <a:solidFill>
                <a:schemeClr val="bg1"/>
              </a:solidFill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sz="1800" b="1" noProof="0" dirty="0">
                    <a:solidFill>
                      <a:srgbClr val="FF0000"/>
                    </a:solidFill>
                  </a:rPr>
                  <a:t>1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 if he thinks it’s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noProof="0" dirty="0">
                  <a:solidFill>
                    <a:srgbClr val="800000"/>
                  </a:solidFill>
                </a:endParaRPr>
              </a:p>
            </p:txBody>
          </p:sp>
        </mc:Choice>
        <mc:Fallback>
          <p:sp>
            <p:nvSpPr>
              <p:cNvPr id="5940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6550" y="2286000"/>
                <a:ext cx="2340641" cy="369332"/>
              </a:xfrm>
              <a:prstGeom prst="rect">
                <a:avLst/>
              </a:prstGeom>
              <a:blipFill>
                <a:blip r:embed="rId6"/>
                <a:stretch>
                  <a:fillRect l="-1075" t="-3226" r="-538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00034" y="4071942"/>
                <a:ext cx="8286808" cy="2606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noProof="0" dirty="0"/>
                  <a:t> – a parameter</a:t>
                </a:r>
              </a:p>
              <a:p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000" noProof="0" dirty="0"/>
                  <a:t> – a variable distributed uniformly over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000" b="1" baseline="30000" noProof="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000" noProof="0" dirty="0"/>
                  <a:t> – a variable distributed uniformly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baseline="30000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baseline="30000" noProof="0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noProof="0" dirty="0"/>
                  <a:t>is a </a:t>
                </a:r>
                <a:r>
                  <a:rPr lang="en-US" sz="2000" b="1" noProof="0" dirty="0">
                    <a:solidFill>
                      <a:srgbClr val="0070C0"/>
                    </a:solidFill>
                  </a:rPr>
                  <a:t>cryptographic</a:t>
                </a:r>
                <a:r>
                  <a:rPr lang="en-US" sz="2000" noProof="0" dirty="0"/>
                  <a:t> </a:t>
                </a:r>
                <a:r>
                  <a:rPr lang="en-US" sz="2000" b="1" noProof="0" dirty="0"/>
                  <a:t>PRG</a:t>
                </a:r>
                <a:r>
                  <a:rPr lang="en-US" sz="2000" noProof="0" dirty="0"/>
                  <a:t> if </a:t>
                </a:r>
              </a:p>
              <a:p>
                <a:pPr algn="ctr"/>
                <a:r>
                  <a:rPr lang="en-US" sz="2000" noProof="0" dirty="0"/>
                  <a:t>for every polynomial-time Turing Machine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2000" noProof="0" dirty="0"/>
                  <a:t> </a:t>
                </a:r>
              </a:p>
              <a:p>
                <a:r>
                  <a:rPr lang="en-US" sz="2000" noProof="0" dirty="0"/>
                  <a:t>we have that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d>
                              <m:dPr>
                                <m:ctrlPr>
                                  <a:rPr lang="en-US" sz="20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d>
                              <m:dPr>
                                <m:ctrlPr>
                                  <a:rPr lang="en-US" sz="20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  <m:d>
                                  <m:dPr>
                                    <m:ctrlPr>
                                      <a:rPr lang="en-US" sz="20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000" noProof="0" dirty="0"/>
                  <a:t>is negligible in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noProof="0" dirty="0"/>
                  <a:t>.</a:t>
                </a:r>
                <a:endParaRPr lang="en-US" noProof="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4071942"/>
                <a:ext cx="8286808" cy="2606996"/>
              </a:xfrm>
              <a:prstGeom prst="rect">
                <a:avLst/>
              </a:prstGeom>
              <a:blipFill>
                <a:blip r:embed="rId7"/>
                <a:stretch>
                  <a:fillRect l="-611" t="-1449" b="-338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214810" y="3714752"/>
            <a:ext cx="1369286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noProof="0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0225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3" grpId="0" animBg="1"/>
      <p:bldP spid="59405" grpId="0" animBg="1"/>
      <p:bldP spid="59406" grpId="0" animBg="1"/>
      <p:bldP spid="15" grpId="0" build="allAtOnce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274638"/>
            <a:ext cx="8719406" cy="1143000"/>
          </a:xfrm>
        </p:spPr>
        <p:txBody>
          <a:bodyPr/>
          <a:lstStyle/>
          <a:p>
            <a:r>
              <a:rPr lang="en-US" noProof="0" dirty="0"/>
              <a:t>Constructions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2143116"/>
            <a:ext cx="8647968" cy="285752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0"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noProof="0" dirty="0"/>
              <a:t>There exists constructions of cryptographic pseudorandom-generators, that are </a:t>
            </a:r>
            <a:r>
              <a:rPr lang="en-US" b="1" noProof="0" dirty="0">
                <a:solidFill>
                  <a:srgbClr val="DD0D0D"/>
                </a:solidFill>
              </a:rPr>
              <a:t>conjectured</a:t>
            </a:r>
            <a:r>
              <a:rPr lang="en-US" noProof="0" dirty="0"/>
              <a:t> to be secure.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noProof="0" dirty="0"/>
              <a:t>We will discuss them later...</a:t>
            </a:r>
          </a:p>
        </p:txBody>
      </p:sp>
    </p:spTree>
    <p:extLst>
      <p:ext uri="{BB962C8B-B14F-4D97-AF65-F5344CB8AC3E}">
        <p14:creationId xmlns:p14="http://schemas.microsoft.com/office/powerpoint/2010/main" val="40311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4643438" y="857232"/>
            <a:ext cx="4214842" cy="2071702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2757478" cy="1143000"/>
          </a:xfrm>
        </p:spPr>
        <p:txBody>
          <a:bodyPr>
            <a:normAutofit/>
          </a:bodyPr>
          <a:lstStyle/>
          <a:p>
            <a:r>
              <a:rPr lang="en-US" sz="4000" noProof="0" dirty="0"/>
              <a:t>Theorem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4052886" cy="16002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2800" noProof="0" dirty="0"/>
              <a:t>If </a:t>
            </a:r>
            <a:r>
              <a:rPr lang="en-US" sz="2800" b="1" noProof="0" dirty="0">
                <a:solidFill>
                  <a:srgbClr val="FF0000"/>
                </a:solidFill>
              </a:rPr>
              <a:t>G</a:t>
            </a:r>
            <a:r>
              <a:rPr lang="en-US" sz="2800" noProof="0" dirty="0"/>
              <a:t> is a </a:t>
            </a:r>
            <a:r>
              <a:rPr lang="en-US" sz="2800" b="1" noProof="0" dirty="0">
                <a:solidFill>
                  <a:srgbClr val="002060"/>
                </a:solidFill>
              </a:rPr>
              <a:t>cryptographic</a:t>
            </a:r>
            <a:r>
              <a:rPr lang="en-US" sz="2800" noProof="0" dirty="0">
                <a:solidFill>
                  <a:srgbClr val="002060"/>
                </a:solidFill>
              </a:rPr>
              <a:t> </a:t>
            </a:r>
            <a:r>
              <a:rPr lang="en-US" sz="2800" b="1" noProof="0" dirty="0">
                <a:solidFill>
                  <a:srgbClr val="002060"/>
                </a:solidFill>
              </a:rPr>
              <a:t>PRG</a:t>
            </a:r>
            <a:r>
              <a:rPr lang="en-US" sz="2800" noProof="0" dirty="0">
                <a:solidFill>
                  <a:srgbClr val="002060"/>
                </a:solidFill>
              </a:rPr>
              <a:t> </a:t>
            </a:r>
            <a:r>
              <a:rPr lang="en-US" sz="2800" noProof="0" dirty="0"/>
              <a:t>then the encryption scheme constructed before is </a:t>
            </a:r>
            <a:r>
              <a:rPr lang="en-US" noProof="0" dirty="0"/>
              <a:t>semantically secure</a:t>
            </a:r>
            <a:r>
              <a:rPr lang="en-US" sz="2800" noProof="0" dirty="0"/>
              <a:t>.</a:t>
            </a:r>
          </a:p>
          <a:p>
            <a:pPr>
              <a:buFontTx/>
              <a:buNone/>
            </a:pPr>
            <a:endParaRPr lang="en-US" sz="2800" noProof="0" dirty="0"/>
          </a:p>
          <a:p>
            <a:pPr>
              <a:buFontTx/>
              <a:buNone/>
            </a:pPr>
            <a:endParaRPr lang="en-US" sz="2800" noProof="0" dirty="0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304800" y="3187487"/>
            <a:ext cx="2624126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4572000" y="3211297"/>
            <a:ext cx="4343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CPA-secure encryption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521" name="Rectangle 9"/>
              <p:cNvSpPr>
                <a:spLocks noChangeArrowheads="1"/>
              </p:cNvSpPr>
              <p:nvPr/>
            </p:nvSpPr>
            <p:spPr bwMode="auto">
              <a:xfrm>
                <a:off x="0" y="4001845"/>
                <a:ext cx="9144000" cy="285615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182880" anchor="ctr">
                <a:noAutofit/>
              </a:bodyPr>
              <a:lstStyle/>
              <a:p>
                <a:pPr marL="609600" indent="-609600">
                  <a:buFontTx/>
                  <a:buNone/>
                </a:pPr>
                <a:r>
                  <a:rPr lang="en-US" sz="2400" b="1" u="sng" noProof="0" dirty="0">
                    <a:solidFill>
                      <a:schemeClr val="tx1"/>
                    </a:solidFill>
                  </a:rPr>
                  <a:t>Proof</a:t>
                </a:r>
                <a:r>
                  <a:rPr lang="en-US" sz="2400" u="sng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noProof="0" dirty="0">
                    <a:solidFill>
                      <a:schemeClr val="tx1"/>
                    </a:solidFill>
                  </a:rPr>
                  <a:t> (sketch)</a:t>
                </a:r>
              </a:p>
              <a:p>
                <a:pPr marL="609600" indent="-609600">
                  <a:buFontTx/>
                  <a:buNone/>
                </a:pPr>
                <a:endParaRPr lang="en-US" sz="2400" noProof="0" dirty="0">
                  <a:solidFill>
                    <a:schemeClr val="tx1"/>
                  </a:solidFill>
                </a:endParaRPr>
              </a:p>
              <a:p>
                <a:pPr marL="609600" indent="-609600">
                  <a:buFontTx/>
                  <a:buNone/>
                </a:pPr>
                <a:r>
                  <a:rPr lang="en-US" sz="2400" noProof="0" dirty="0">
                    <a:solidFill>
                      <a:schemeClr val="tx1"/>
                    </a:solidFill>
                  </a:rPr>
                  <a:t>Suppose that it is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not</a:t>
                </a:r>
                <a:r>
                  <a:rPr lang="en-US" sz="24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noProof="0" dirty="0">
                    <a:solidFill>
                      <a:schemeClr val="tx1"/>
                    </a:solidFill>
                  </a:rPr>
                  <a:t>secure.  </a:t>
                </a:r>
              </a:p>
              <a:p>
                <a:pPr marL="609600" indent="-609600">
                  <a:buFontTx/>
                  <a:buNone/>
                </a:pPr>
                <a:r>
                  <a:rPr lang="en-US" sz="2400" noProof="0" dirty="0">
                    <a:solidFill>
                      <a:schemeClr val="tx1"/>
                    </a:solidFill>
                  </a:rPr>
                  <a:t>Therefore, there exists a poly-time adversary that wins the “guessing game”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400" noProof="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noProof="0" dirty="0">
                    <a:solidFill>
                      <a:schemeClr val="tx1"/>
                    </a:solidFill>
                  </a:rPr>
                  <a:t> is not negligible.</a:t>
                </a:r>
              </a:p>
            </p:txBody>
          </p:sp>
        </mc:Choice>
        <mc:Fallback>
          <p:sp>
            <p:nvSpPr>
              <p:cNvPr id="6452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001845"/>
                <a:ext cx="9144000" cy="2856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20" name="AutoShape 8"/>
          <p:cNvSpPr>
            <a:spLocks noChangeArrowheads="1"/>
          </p:cNvSpPr>
          <p:nvPr/>
        </p:nvSpPr>
        <p:spPr bwMode="auto">
          <a:xfrm>
            <a:off x="3071802" y="3354173"/>
            <a:ext cx="1371600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grpSp>
        <p:nvGrpSpPr>
          <p:cNvPr id="3" name="Group 34"/>
          <p:cNvGrpSpPr/>
          <p:nvPr/>
        </p:nvGrpSpPr>
        <p:grpSpPr>
          <a:xfrm>
            <a:off x="4929190" y="928670"/>
            <a:ext cx="3467120" cy="1858182"/>
            <a:chOff x="3105144" y="1571612"/>
            <a:chExt cx="4291034" cy="2429686"/>
          </a:xfrm>
        </p:grpSpPr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3105144" y="2528878"/>
              <a:ext cx="457200" cy="8382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4533904" y="2100249"/>
              <a:ext cx="609600" cy="172126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G</a:t>
              </a:r>
              <a:r>
                <a:rPr lang="en-US" sz="1800" b="1" noProof="0" dirty="0">
                  <a:solidFill>
                    <a:srgbClr val="FF0000"/>
                  </a:solidFill>
                </a:rPr>
                <a:t>(</a:t>
              </a:r>
              <a:r>
                <a:rPr lang="en-US" sz="1800" b="1" i="1" noProof="0" dirty="0">
                  <a:solidFill>
                    <a:srgbClr val="FF0000"/>
                  </a:solidFill>
                </a:rPr>
                <a:t>s</a:t>
              </a:r>
              <a:r>
                <a:rPr lang="en-US" sz="1800" b="1" noProof="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0" name="AutoShape 11"/>
            <p:cNvSpPr>
              <a:spLocks noChangeArrowheads="1"/>
            </p:cNvSpPr>
            <p:nvPr/>
          </p:nvSpPr>
          <p:spPr bwMode="auto">
            <a:xfrm rot="5400000">
              <a:off x="3181344" y="2528878"/>
              <a:ext cx="1752600" cy="83820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i="1" noProof="0" dirty="0">
                <a:solidFill>
                  <a:srgbClr val="FF0000"/>
                </a:solidFill>
              </a:endParaRP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5462598" y="2100250"/>
              <a:ext cx="609600" cy="17145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m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6786578" y="2071678"/>
              <a:ext cx="609600" cy="17145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800" b="1" i="1" noProof="0" dirty="0">
                  <a:solidFill>
                    <a:srgbClr val="FF0000"/>
                  </a:solidFill>
                </a:rPr>
                <a:t>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b="1" noProof="0" dirty="0" err="1">
                  <a:solidFill>
                    <a:srgbClr val="FF0000"/>
                  </a:solidFill>
                </a:rPr>
                <a:t>xor</a:t>
              </a:r>
              <a:endParaRPr lang="en-US" b="1" noProof="0" dirty="0">
                <a:solidFill>
                  <a:srgbClr val="FF0000"/>
                </a:solidFill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b="1" i="1" noProof="0" dirty="0">
                  <a:solidFill>
                    <a:srgbClr val="FF0000"/>
                  </a:solidFill>
                </a:rPr>
                <a:t>G</a:t>
              </a:r>
              <a:r>
                <a:rPr lang="en-US" b="1" noProof="0" dirty="0">
                  <a:solidFill>
                    <a:srgbClr val="FF0000"/>
                  </a:solidFill>
                </a:rPr>
                <a:t>(</a:t>
              </a:r>
              <a:r>
                <a:rPr lang="en-US" b="1" i="1" noProof="0" dirty="0">
                  <a:solidFill>
                    <a:srgbClr val="FF0000"/>
                  </a:solidFill>
                </a:rPr>
                <a:t>s</a:t>
              </a:r>
              <a:r>
                <a:rPr lang="en-US" b="1" noProof="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86512" y="1571612"/>
              <a:ext cx="665571" cy="4829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 err="1">
                  <a:solidFill>
                    <a:srgbClr val="FF0000"/>
                  </a:solidFill>
                </a:rPr>
                <a:t>xor</a:t>
              </a:r>
              <a:endParaRPr lang="en-US" b="1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rot="5400000">
              <a:off x="5429256" y="3000372"/>
              <a:ext cx="2000264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3857620" y="214290"/>
            <a:ext cx="5130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(for simplicity consider only the single message case)</a:t>
            </a:r>
          </a:p>
        </p:txBody>
      </p:sp>
    </p:spTree>
    <p:extLst>
      <p:ext uri="{BB962C8B-B14F-4D97-AF65-F5344CB8AC3E}">
        <p14:creationId xmlns:p14="http://schemas.microsoft.com/office/powerpoint/2010/main" val="306750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17" grpId="0" animBg="1"/>
      <p:bldP spid="64521" grpId="0" uiExpand="1" build="p" animBg="1"/>
      <p:bldP spid="645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857356" y="1071546"/>
            <a:ext cx="7058044" cy="55388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noProof="0" dirty="0">
              <a:solidFill>
                <a:schemeClr val="tx1"/>
              </a:solidFill>
            </a:endParaRPr>
          </a:p>
        </p:txBody>
      </p:sp>
      <p:sp>
        <p:nvSpPr>
          <p:cNvPr id="28" name="Left-Up Arrow 27"/>
          <p:cNvSpPr/>
          <p:nvPr/>
        </p:nvSpPr>
        <p:spPr>
          <a:xfrm rot="13319831">
            <a:off x="4168852" y="3943964"/>
            <a:ext cx="2762847" cy="2631398"/>
          </a:xfrm>
          <a:prstGeom prst="leftUpArrow">
            <a:avLst>
              <a:gd name="adj1" fmla="val 10287"/>
              <a:gd name="adj2" fmla="val 20341"/>
              <a:gd name="adj3" fmla="val 147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276600" y="1714488"/>
            <a:ext cx="5410200" cy="214314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 noProof="0" dirty="0"/>
          </a:p>
        </p:txBody>
      </p:sp>
      <p:pic>
        <p:nvPicPr>
          <p:cNvPr id="60442" name="Picture 26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746254"/>
            <a:ext cx="1371600" cy="94773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400" b="0" noProof="0" dirty="0">
                    <a:solidFill>
                      <a:schemeClr val="tx1"/>
                    </a:solidFill>
                  </a:rPr>
                  <a:t>chooses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044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105400" y="2846397"/>
            <a:ext cx="1295400" cy="303213"/>
            <a:chOff x="2112" y="2455"/>
            <a:chExt cx="1440" cy="191"/>
          </a:xfrm>
        </p:grpSpPr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44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00" b="1" baseline="-25000" noProof="0" dirty="0">
                    <a:solidFill>
                      <a:srgbClr val="990000"/>
                    </a:solidFill>
                  </a:endParaRPr>
                </a:p>
              </p:txBody>
            </p:sp>
          </mc:Choice>
          <mc:Fallback>
            <p:sp>
              <p:nvSpPr>
                <p:cNvPr id="60447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629400" y="2862266"/>
            <a:ext cx="1752600" cy="5232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noProof="0" dirty="0"/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b </a:t>
            </a:r>
            <a:r>
              <a:rPr lang="en-US" sz="1400" b="1" noProof="0" dirty="0">
                <a:solidFill>
                  <a:srgbClr val="FF0000"/>
                </a:solidFill>
              </a:rPr>
              <a:t>= 0,1 </a:t>
            </a:r>
            <a:r>
              <a:rPr lang="en-US" sz="1400" b="0" noProof="0" dirty="0">
                <a:solidFill>
                  <a:schemeClr val="tx1"/>
                </a:solidFill>
              </a:rPr>
              <a:t>random </a:t>
            </a:r>
            <a:endParaRPr lang="en-US" sz="1400" noProof="0" dirty="0">
              <a:solidFill>
                <a:srgbClr val="9933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noProof="0" dirty="0"/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c</a:t>
            </a:r>
            <a:r>
              <a:rPr lang="en-US" sz="1400" b="1" noProof="0" dirty="0">
                <a:solidFill>
                  <a:srgbClr val="FF0000"/>
                </a:solidFill>
              </a:rPr>
              <a:t> := </a:t>
            </a:r>
            <a:r>
              <a:rPr lang="en-US" sz="1400" b="1" i="1" noProof="0" dirty="0">
                <a:solidFill>
                  <a:srgbClr val="FF0000"/>
                </a:solidFill>
              </a:rPr>
              <a:t>x </a:t>
            </a:r>
            <a:r>
              <a:rPr lang="en-US" sz="1400" b="1" noProof="0" dirty="0" err="1">
                <a:solidFill>
                  <a:srgbClr val="FF0000"/>
                </a:solidFill>
              </a:rPr>
              <a:t>xor</a:t>
            </a:r>
            <a:r>
              <a:rPr lang="en-US" sz="1400" b="1" noProof="0" dirty="0">
                <a:solidFill>
                  <a:srgbClr val="FF0000"/>
                </a:solidFill>
              </a:rPr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m</a:t>
            </a:r>
            <a:r>
              <a:rPr lang="en-US" sz="1400" b="1" i="1" baseline="-25000" noProof="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5105400" y="348139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071802" y="1428736"/>
            <a:ext cx="11525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simulates</a:t>
            </a:r>
          </a:p>
        </p:txBody>
      </p:sp>
      <p:pic>
        <p:nvPicPr>
          <p:cNvPr id="21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29454" y="1714488"/>
            <a:ext cx="1214446" cy="1114691"/>
          </a:xfrm>
          <a:prstGeom prst="rect">
            <a:avLst/>
          </a:prstGeom>
          <a:noFill/>
        </p:spPr>
      </p:pic>
      <p:sp>
        <p:nvSpPr>
          <p:cNvPr id="22" name="Right Arrow 21"/>
          <p:cNvSpPr/>
          <p:nvPr/>
        </p:nvSpPr>
        <p:spPr>
          <a:xfrm>
            <a:off x="714348" y="1357298"/>
            <a:ext cx="285752" cy="2143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/>
          <p:cNvSpPr/>
          <p:nvPr/>
        </p:nvSpPr>
        <p:spPr>
          <a:xfrm>
            <a:off x="3000364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If the adversary guessed</a:t>
            </a:r>
            <a:r>
              <a:rPr lang="en-US" i="1" noProof="0" dirty="0">
                <a:solidFill>
                  <a:srgbClr val="FF0000"/>
                </a:solidFill>
              </a:rPr>
              <a:t> </a:t>
            </a:r>
            <a:r>
              <a:rPr lang="en-US" b="1" i="1" noProof="0" dirty="0">
                <a:solidFill>
                  <a:srgbClr val="FF0000"/>
                </a:solidFill>
              </a:rPr>
              <a:t>b </a:t>
            </a:r>
            <a:r>
              <a:rPr lang="en-US" noProof="0" dirty="0"/>
              <a:t>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3570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otherwise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2214546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output </a:t>
            </a:r>
            <a:r>
              <a:rPr lang="en-US" b="1" noProof="0" dirty="0">
                <a:solidFill>
                  <a:srgbClr val="FF0000"/>
                </a:solidFill>
              </a:rPr>
              <a:t>1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b="1" i="1" noProof="0" dirty="0">
                <a:solidFill>
                  <a:srgbClr val="FF0000"/>
                </a:solidFill>
              </a:rPr>
              <a:t>x </a:t>
            </a:r>
            <a:r>
              <a:rPr lang="en-US" b="1" noProof="0" dirty="0">
                <a:solidFill>
                  <a:srgbClr val="0070C0"/>
                </a:solidFill>
              </a:rPr>
              <a:t>is pseudorandom</a:t>
            </a:r>
            <a:r>
              <a:rPr lang="en-US" noProof="0" dirty="0"/>
              <a:t>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760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output </a:t>
            </a:r>
            <a:r>
              <a:rPr lang="en-US" b="1" noProof="0" dirty="0">
                <a:solidFill>
                  <a:srgbClr val="FF0000"/>
                </a:solidFill>
              </a:rPr>
              <a:t>0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b="1" i="1" noProof="0" dirty="0">
                <a:solidFill>
                  <a:srgbClr val="FF0000"/>
                </a:solidFill>
              </a:rPr>
              <a:t>x </a:t>
            </a:r>
            <a:r>
              <a:rPr lang="en-US" b="1" noProof="0" dirty="0">
                <a:solidFill>
                  <a:srgbClr val="0070C0"/>
                </a:solidFill>
              </a:rPr>
              <a:t>is random</a:t>
            </a:r>
            <a:r>
              <a:rPr lang="en-US" noProof="0" dirty="0"/>
              <a:t>”.</a:t>
            </a: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3581400" y="3328991"/>
            <a:ext cx="1447800" cy="30777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400" b="0" noProof="0" dirty="0">
                <a:solidFill>
                  <a:schemeClr val="tx1"/>
                </a:solidFill>
              </a:rPr>
              <a:t>tries to guess </a:t>
            </a:r>
            <a:r>
              <a:rPr lang="en-US" sz="1400" b="1" i="1" noProof="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0455" name="AutoShape 39"/>
          <p:cNvSpPr>
            <a:spLocks noChangeArrowheads="1"/>
          </p:cNvSpPr>
          <p:nvPr/>
        </p:nvSpPr>
        <p:spPr bwMode="auto">
          <a:xfrm rot="1192624" flipV="1">
            <a:off x="1231890" y="2470676"/>
            <a:ext cx="7386327" cy="1585121"/>
          </a:xfrm>
          <a:prstGeom prst="curvedDownArrow">
            <a:avLst>
              <a:gd name="adj1" fmla="val 38232"/>
              <a:gd name="adj2" fmla="val 163974"/>
              <a:gd name="adj3" fmla="val 39375"/>
            </a:avLst>
          </a:prstGeom>
          <a:solidFill>
            <a:srgbClr val="DD0D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pic>
        <p:nvPicPr>
          <p:cNvPr id="60420" name="Picture 4" descr="MCj043593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78579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5638800" y="3252791"/>
            <a:ext cx="287338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400" b="1" i="1" noProof="0" dirty="0">
                <a:solidFill>
                  <a:srgbClr val="FF0000"/>
                </a:solidFill>
              </a:rPr>
              <a:t>c</a:t>
            </a:r>
            <a:endParaRPr lang="en-US" sz="1400" b="1" i="1" baseline="-250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8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  <p:bldP spid="28" grpId="0" animBg="1"/>
      <p:bldP spid="60422" grpId="0"/>
      <p:bldP spid="60452" grpId="0" animBg="1"/>
      <p:bldP spid="60444" grpId="0" animBg="1"/>
      <p:bldP spid="60448" grpId="0" animBg="1"/>
      <p:bldP spid="60449" grpId="0" animBg="1"/>
      <p:bldP spid="60454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60451" grpId="0" animBg="1"/>
      <p:bldP spid="60455" grpId="0" animBg="1"/>
      <p:bldP spid="604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857356" y="1071546"/>
            <a:ext cx="7058044" cy="55388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noProof="0" dirty="0">
              <a:solidFill>
                <a:schemeClr val="tx1"/>
              </a:solidFill>
            </a:endParaRPr>
          </a:p>
        </p:txBody>
      </p:sp>
      <p:sp>
        <p:nvSpPr>
          <p:cNvPr id="28" name="Left-Up Arrow 27"/>
          <p:cNvSpPr/>
          <p:nvPr/>
        </p:nvSpPr>
        <p:spPr>
          <a:xfrm rot="13319831">
            <a:off x="4168852" y="3943964"/>
            <a:ext cx="2762847" cy="2631398"/>
          </a:xfrm>
          <a:prstGeom prst="leftUpArrow">
            <a:avLst>
              <a:gd name="adj1" fmla="val 10287"/>
              <a:gd name="adj2" fmla="val 20341"/>
              <a:gd name="adj3" fmla="val 147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276600" y="1714488"/>
            <a:ext cx="5410200" cy="214314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 noProof="0" dirty="0"/>
          </a:p>
        </p:txBody>
      </p:sp>
      <p:pic>
        <p:nvPicPr>
          <p:cNvPr id="60442" name="Picture 26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746254"/>
            <a:ext cx="1371600" cy="94773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400" b="0" noProof="0" dirty="0">
                    <a:solidFill>
                      <a:schemeClr val="tx1"/>
                    </a:solidFill>
                  </a:rPr>
                  <a:t>chooses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044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105400" y="2846397"/>
            <a:ext cx="1295400" cy="303213"/>
            <a:chOff x="2112" y="2455"/>
            <a:chExt cx="1440" cy="191"/>
          </a:xfrm>
        </p:grpSpPr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44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00" b="1" baseline="-25000" noProof="0" dirty="0">
                    <a:solidFill>
                      <a:srgbClr val="990000"/>
                    </a:solidFill>
                  </a:endParaRPr>
                </a:p>
              </p:txBody>
            </p:sp>
          </mc:Choice>
          <mc:Fallback>
            <p:sp>
              <p:nvSpPr>
                <p:cNvPr id="60447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629400" y="2862266"/>
            <a:ext cx="1752600" cy="5232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noProof="0" dirty="0"/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b </a:t>
            </a:r>
            <a:r>
              <a:rPr lang="en-US" sz="1400" b="1" noProof="0" dirty="0">
                <a:solidFill>
                  <a:srgbClr val="FF0000"/>
                </a:solidFill>
              </a:rPr>
              <a:t>= 0,1 </a:t>
            </a:r>
            <a:r>
              <a:rPr lang="en-US" sz="1400" b="0" noProof="0" dirty="0">
                <a:solidFill>
                  <a:schemeClr val="tx1"/>
                </a:solidFill>
              </a:rPr>
              <a:t>random </a:t>
            </a:r>
            <a:endParaRPr lang="en-US" sz="1400" noProof="0" dirty="0">
              <a:solidFill>
                <a:srgbClr val="9933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noProof="0" dirty="0"/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c</a:t>
            </a:r>
            <a:r>
              <a:rPr lang="en-US" sz="1400" b="1" noProof="0" dirty="0">
                <a:solidFill>
                  <a:srgbClr val="FF0000"/>
                </a:solidFill>
              </a:rPr>
              <a:t> := </a:t>
            </a:r>
            <a:r>
              <a:rPr lang="en-US" sz="1400" b="1" i="1" noProof="0" dirty="0">
                <a:solidFill>
                  <a:srgbClr val="FF0000"/>
                </a:solidFill>
              </a:rPr>
              <a:t>x </a:t>
            </a:r>
            <a:r>
              <a:rPr lang="en-US" sz="1400" b="1" noProof="0" dirty="0" err="1">
                <a:solidFill>
                  <a:srgbClr val="FF0000"/>
                </a:solidFill>
              </a:rPr>
              <a:t>xor</a:t>
            </a:r>
            <a:r>
              <a:rPr lang="en-US" sz="1400" b="1" noProof="0" dirty="0">
                <a:solidFill>
                  <a:srgbClr val="FF0000"/>
                </a:solidFill>
              </a:rPr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m</a:t>
            </a:r>
            <a:r>
              <a:rPr lang="en-US" sz="1400" b="1" i="1" baseline="-25000" noProof="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5105400" y="348139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071802" y="1428736"/>
            <a:ext cx="11525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simulates</a:t>
            </a:r>
          </a:p>
        </p:txBody>
      </p:sp>
      <p:pic>
        <p:nvPicPr>
          <p:cNvPr id="21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29454" y="1714488"/>
            <a:ext cx="1214446" cy="1114691"/>
          </a:xfrm>
          <a:prstGeom prst="rect">
            <a:avLst/>
          </a:prstGeom>
          <a:noFill/>
        </p:spPr>
      </p:pic>
      <p:sp>
        <p:nvSpPr>
          <p:cNvPr id="22" name="Right Arrow 21"/>
          <p:cNvSpPr/>
          <p:nvPr/>
        </p:nvSpPr>
        <p:spPr>
          <a:xfrm>
            <a:off x="714348" y="1357298"/>
            <a:ext cx="285752" cy="2143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/>
          <p:cNvSpPr/>
          <p:nvPr/>
        </p:nvSpPr>
        <p:spPr>
          <a:xfrm>
            <a:off x="3000364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If the adversary guessed</a:t>
            </a:r>
            <a:r>
              <a:rPr lang="en-US" i="1" noProof="0" dirty="0">
                <a:solidFill>
                  <a:srgbClr val="FF0000"/>
                </a:solidFill>
              </a:rPr>
              <a:t> </a:t>
            </a:r>
            <a:r>
              <a:rPr lang="en-US" b="1" i="1" noProof="0" dirty="0">
                <a:solidFill>
                  <a:srgbClr val="FF0000"/>
                </a:solidFill>
              </a:rPr>
              <a:t>b </a:t>
            </a:r>
            <a:r>
              <a:rPr lang="en-US" noProof="0" dirty="0"/>
              <a:t>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3570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otherwise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2214546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output </a:t>
            </a:r>
            <a:r>
              <a:rPr lang="en-US" b="1" noProof="0" dirty="0">
                <a:solidFill>
                  <a:srgbClr val="FF0000"/>
                </a:solidFill>
              </a:rPr>
              <a:t>1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b="1" i="1" noProof="0" dirty="0">
                <a:solidFill>
                  <a:srgbClr val="FF0000"/>
                </a:solidFill>
              </a:rPr>
              <a:t>x </a:t>
            </a:r>
            <a:r>
              <a:rPr lang="en-US" b="1" noProof="0" dirty="0">
                <a:solidFill>
                  <a:srgbClr val="0070C0"/>
                </a:solidFill>
              </a:rPr>
              <a:t>is pseudorandom</a:t>
            </a:r>
            <a:r>
              <a:rPr lang="en-US" noProof="0" dirty="0"/>
              <a:t>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760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output </a:t>
            </a:r>
            <a:r>
              <a:rPr lang="en-US" b="1" noProof="0" dirty="0">
                <a:solidFill>
                  <a:srgbClr val="FF0000"/>
                </a:solidFill>
              </a:rPr>
              <a:t>0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b="1" i="1" noProof="0" dirty="0">
                <a:solidFill>
                  <a:srgbClr val="FF0000"/>
                </a:solidFill>
              </a:rPr>
              <a:t>x </a:t>
            </a:r>
            <a:r>
              <a:rPr lang="en-US" b="1" noProof="0" dirty="0">
                <a:solidFill>
                  <a:srgbClr val="0070C0"/>
                </a:solidFill>
              </a:rPr>
              <a:t>is random</a:t>
            </a:r>
            <a:r>
              <a:rPr lang="en-US" noProof="0" dirty="0"/>
              <a:t>”.</a:t>
            </a: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3581400" y="3328991"/>
            <a:ext cx="1447800" cy="30777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400" b="0" noProof="0" dirty="0">
                <a:solidFill>
                  <a:schemeClr val="tx1"/>
                </a:solidFill>
              </a:rPr>
              <a:t>tries to guess </a:t>
            </a:r>
            <a:r>
              <a:rPr lang="en-US" sz="1400" b="1" i="1" noProof="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0455" name="AutoShape 39"/>
          <p:cNvSpPr>
            <a:spLocks noChangeArrowheads="1"/>
          </p:cNvSpPr>
          <p:nvPr/>
        </p:nvSpPr>
        <p:spPr bwMode="auto">
          <a:xfrm rot="1192624" flipV="1">
            <a:off x="1231890" y="2470676"/>
            <a:ext cx="7386327" cy="1585121"/>
          </a:xfrm>
          <a:prstGeom prst="curvedDownArrow">
            <a:avLst>
              <a:gd name="adj1" fmla="val 38232"/>
              <a:gd name="adj2" fmla="val 163974"/>
              <a:gd name="adj3" fmla="val 39375"/>
            </a:avLst>
          </a:prstGeom>
          <a:solidFill>
            <a:srgbClr val="DD0D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pic>
        <p:nvPicPr>
          <p:cNvPr id="60420" name="Picture 4" descr="MCj043593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78579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5638800" y="3252791"/>
            <a:ext cx="287338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400" b="1" i="1" noProof="0" dirty="0">
                <a:solidFill>
                  <a:srgbClr val="FF0000"/>
                </a:solidFill>
              </a:rPr>
              <a:t>c</a:t>
            </a:r>
            <a:endParaRPr lang="en-US" sz="1400" b="1" i="1" baseline="-25000" noProof="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14290"/>
            <a:ext cx="4904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/>
              <a:t>“scenario </a:t>
            </a:r>
            <a:r>
              <a:rPr lang="en-US" sz="2400" b="1" noProof="0" dirty="0">
                <a:solidFill>
                  <a:srgbClr val="FF0000"/>
                </a:solidFill>
              </a:rPr>
              <a:t>0</a:t>
            </a:r>
            <a:r>
              <a:rPr lang="en-US" sz="2400" b="1" noProof="0" dirty="0"/>
              <a:t>”:</a:t>
            </a:r>
            <a:r>
              <a:rPr lang="en-US" sz="2400" noProof="0" dirty="0"/>
              <a:t> </a:t>
            </a:r>
            <a:r>
              <a:rPr lang="en-US" sz="2400" b="1" noProof="0" dirty="0">
                <a:solidFill>
                  <a:srgbClr val="C00000"/>
                </a:solidFill>
              </a:rPr>
              <a:t> </a:t>
            </a:r>
            <a:r>
              <a:rPr lang="en-US" sz="2400" b="1" i="1" noProof="0" dirty="0">
                <a:solidFill>
                  <a:srgbClr val="FF0000"/>
                </a:solidFill>
              </a:rPr>
              <a:t>x </a:t>
            </a:r>
            <a:r>
              <a:rPr lang="en-US" sz="2400" b="1" noProof="0" dirty="0"/>
              <a:t>is a random string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740152" y="5209379"/>
                <a:ext cx="877878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noProof="0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52" y="5209379"/>
                <a:ext cx="877878" cy="491096"/>
              </a:xfrm>
              <a:prstGeom prst="rect">
                <a:avLst/>
              </a:prstGeom>
              <a:blipFill>
                <a:blip r:embed="rId8"/>
                <a:stretch>
                  <a:fillRect l="-5634" b="-487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6400800" y="5208553"/>
                <a:ext cx="877878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noProof="0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5208553"/>
                <a:ext cx="877878" cy="491096"/>
              </a:xfrm>
              <a:prstGeom prst="rect">
                <a:avLst/>
              </a:prstGeom>
              <a:blipFill>
                <a:blip r:embed="rId9"/>
                <a:stretch>
                  <a:fillRect l="-4225" b="-487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45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  <p:bldP spid="28" grpId="0" animBg="1"/>
      <p:bldP spid="60422" grpId="0"/>
      <p:bldP spid="60452" grpId="0" animBg="1"/>
      <p:bldP spid="60444" grpId="0" animBg="1"/>
      <p:bldP spid="60448" grpId="0" animBg="1"/>
      <p:bldP spid="60449" grpId="0" animBg="1"/>
      <p:bldP spid="60454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60451" grpId="0" animBg="1"/>
      <p:bldP spid="60455" grpId="0" animBg="1"/>
      <p:bldP spid="60450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857356" y="1071546"/>
            <a:ext cx="7058044" cy="55388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noProof="0" dirty="0">
              <a:solidFill>
                <a:schemeClr val="tx1"/>
              </a:solidFill>
            </a:endParaRPr>
          </a:p>
        </p:txBody>
      </p:sp>
      <p:sp>
        <p:nvSpPr>
          <p:cNvPr id="28" name="Left-Up Arrow 27"/>
          <p:cNvSpPr/>
          <p:nvPr/>
        </p:nvSpPr>
        <p:spPr>
          <a:xfrm rot="13319831">
            <a:off x="4168852" y="3943964"/>
            <a:ext cx="2762847" cy="2631398"/>
          </a:xfrm>
          <a:prstGeom prst="leftUpArrow">
            <a:avLst>
              <a:gd name="adj1" fmla="val 10287"/>
              <a:gd name="adj2" fmla="val 20341"/>
              <a:gd name="adj3" fmla="val 147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2968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i="1" noProof="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276600" y="1714488"/>
            <a:ext cx="5410200" cy="214314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endParaRPr lang="en-US" noProof="0" dirty="0"/>
          </a:p>
        </p:txBody>
      </p:sp>
      <p:pic>
        <p:nvPicPr>
          <p:cNvPr id="60442" name="Picture 26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746254"/>
            <a:ext cx="1371600" cy="94773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400" b="0" noProof="0" dirty="0">
                    <a:solidFill>
                      <a:schemeClr val="tx1"/>
                    </a:solidFill>
                  </a:rPr>
                  <a:t>chooses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044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795591"/>
                <a:ext cx="1447800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105400" y="2846397"/>
            <a:ext cx="1295400" cy="303213"/>
            <a:chOff x="2112" y="2455"/>
            <a:chExt cx="1440" cy="191"/>
          </a:xfrm>
        </p:grpSpPr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2112" y="254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44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4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00" b="1" baseline="-25000" noProof="0" dirty="0">
                    <a:solidFill>
                      <a:srgbClr val="990000"/>
                    </a:solidFill>
                  </a:endParaRPr>
                </a:p>
              </p:txBody>
            </p:sp>
          </mc:Choice>
          <mc:Fallback>
            <p:sp>
              <p:nvSpPr>
                <p:cNvPr id="60447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4" y="2455"/>
                  <a:ext cx="870" cy="1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629400" y="2862266"/>
            <a:ext cx="1752600" cy="5232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noProof="0" dirty="0"/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b </a:t>
            </a:r>
            <a:r>
              <a:rPr lang="en-US" sz="1400" b="1" noProof="0" dirty="0">
                <a:solidFill>
                  <a:srgbClr val="FF0000"/>
                </a:solidFill>
              </a:rPr>
              <a:t>= 0,1 </a:t>
            </a:r>
            <a:r>
              <a:rPr lang="en-US" sz="1400" b="0" noProof="0" dirty="0">
                <a:solidFill>
                  <a:schemeClr val="tx1"/>
                </a:solidFill>
              </a:rPr>
              <a:t>random </a:t>
            </a:r>
            <a:endParaRPr lang="en-US" sz="1400" noProof="0" dirty="0">
              <a:solidFill>
                <a:srgbClr val="993300"/>
              </a:solidFill>
            </a:endParaRP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1400" noProof="0" dirty="0"/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c</a:t>
            </a:r>
            <a:r>
              <a:rPr lang="en-US" sz="1400" b="1" noProof="0" dirty="0">
                <a:solidFill>
                  <a:srgbClr val="FF0000"/>
                </a:solidFill>
              </a:rPr>
              <a:t> := </a:t>
            </a:r>
            <a:r>
              <a:rPr lang="en-US" sz="1400" b="1" i="1" noProof="0" dirty="0">
                <a:solidFill>
                  <a:srgbClr val="FF0000"/>
                </a:solidFill>
              </a:rPr>
              <a:t>x </a:t>
            </a:r>
            <a:r>
              <a:rPr lang="en-US" sz="1400" b="1" noProof="0" dirty="0" err="1">
                <a:solidFill>
                  <a:srgbClr val="FF0000"/>
                </a:solidFill>
              </a:rPr>
              <a:t>xor</a:t>
            </a:r>
            <a:r>
              <a:rPr lang="en-US" sz="1400" b="1" noProof="0" dirty="0">
                <a:solidFill>
                  <a:srgbClr val="FF0000"/>
                </a:solidFill>
              </a:rPr>
              <a:t> </a:t>
            </a:r>
            <a:r>
              <a:rPr lang="en-US" sz="1400" b="1" i="1" noProof="0" dirty="0">
                <a:solidFill>
                  <a:srgbClr val="FF0000"/>
                </a:solidFill>
              </a:rPr>
              <a:t>m</a:t>
            </a:r>
            <a:r>
              <a:rPr lang="en-US" sz="1400" b="1" i="1" baseline="-25000" noProof="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5105400" y="348139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071802" y="1428736"/>
            <a:ext cx="11525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0" noProof="0" dirty="0">
                <a:solidFill>
                  <a:schemeClr val="tx1"/>
                </a:solidFill>
              </a:rPr>
              <a:t>simulates</a:t>
            </a:r>
          </a:p>
        </p:txBody>
      </p:sp>
      <p:pic>
        <p:nvPicPr>
          <p:cNvPr id="21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29454" y="1714488"/>
            <a:ext cx="1214446" cy="1114691"/>
          </a:xfrm>
          <a:prstGeom prst="rect">
            <a:avLst/>
          </a:prstGeom>
          <a:noFill/>
        </p:spPr>
      </p:pic>
      <p:sp>
        <p:nvSpPr>
          <p:cNvPr id="22" name="Right Arrow 21"/>
          <p:cNvSpPr/>
          <p:nvPr/>
        </p:nvSpPr>
        <p:spPr>
          <a:xfrm>
            <a:off x="714348" y="1357298"/>
            <a:ext cx="285752" cy="2143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/>
          <p:cNvSpPr/>
          <p:nvPr/>
        </p:nvSpPr>
        <p:spPr>
          <a:xfrm>
            <a:off x="3000364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If the adversary guessed</a:t>
            </a:r>
            <a:r>
              <a:rPr lang="en-US" i="1" noProof="0" dirty="0">
                <a:solidFill>
                  <a:srgbClr val="FF0000"/>
                </a:solidFill>
              </a:rPr>
              <a:t> </a:t>
            </a:r>
            <a:r>
              <a:rPr lang="en-US" b="1" i="1" noProof="0" dirty="0">
                <a:solidFill>
                  <a:srgbClr val="FF0000"/>
                </a:solidFill>
              </a:rPr>
              <a:t>b </a:t>
            </a:r>
            <a:r>
              <a:rPr lang="en-US" noProof="0" dirty="0"/>
              <a:t>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3570" y="4500570"/>
            <a:ext cx="235745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otherwise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2214546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output </a:t>
            </a:r>
            <a:r>
              <a:rPr lang="en-US" b="1" noProof="0" dirty="0">
                <a:solidFill>
                  <a:srgbClr val="FF0000"/>
                </a:solidFill>
              </a:rPr>
              <a:t>1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b="1" i="1" noProof="0" dirty="0">
                <a:solidFill>
                  <a:srgbClr val="FF0000"/>
                </a:solidFill>
              </a:rPr>
              <a:t>x </a:t>
            </a:r>
            <a:r>
              <a:rPr lang="en-US" b="1" noProof="0" dirty="0">
                <a:solidFill>
                  <a:srgbClr val="0070C0"/>
                </a:solidFill>
              </a:rPr>
              <a:t>is pseudorandom</a:t>
            </a:r>
            <a:r>
              <a:rPr lang="en-US" noProof="0" dirty="0"/>
              <a:t>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0760" y="5786454"/>
            <a:ext cx="2714644" cy="6463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noProof="0" dirty="0"/>
              <a:t>output </a:t>
            </a:r>
            <a:r>
              <a:rPr lang="en-US" b="1" noProof="0" dirty="0">
                <a:solidFill>
                  <a:srgbClr val="FF0000"/>
                </a:solidFill>
              </a:rPr>
              <a:t>0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b="1" i="1" noProof="0" dirty="0">
                <a:solidFill>
                  <a:srgbClr val="FF0000"/>
                </a:solidFill>
              </a:rPr>
              <a:t>x </a:t>
            </a:r>
            <a:r>
              <a:rPr lang="en-US" b="1" noProof="0" dirty="0">
                <a:solidFill>
                  <a:srgbClr val="0070C0"/>
                </a:solidFill>
              </a:rPr>
              <a:t>is random</a:t>
            </a:r>
            <a:r>
              <a:rPr lang="en-US" noProof="0" dirty="0"/>
              <a:t>”.</a:t>
            </a: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3581400" y="3328991"/>
            <a:ext cx="1447800" cy="30777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400" b="0" noProof="0" dirty="0">
                <a:solidFill>
                  <a:schemeClr val="tx1"/>
                </a:solidFill>
              </a:rPr>
              <a:t>tries to guess </a:t>
            </a:r>
            <a:r>
              <a:rPr lang="en-US" sz="1400" b="1" i="1" noProof="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0455" name="AutoShape 39"/>
          <p:cNvSpPr>
            <a:spLocks noChangeArrowheads="1"/>
          </p:cNvSpPr>
          <p:nvPr/>
        </p:nvSpPr>
        <p:spPr bwMode="auto">
          <a:xfrm rot="1192624" flipV="1">
            <a:off x="1231890" y="2470676"/>
            <a:ext cx="7386327" cy="1585121"/>
          </a:xfrm>
          <a:prstGeom prst="curvedDownArrow">
            <a:avLst>
              <a:gd name="adj1" fmla="val 38232"/>
              <a:gd name="adj2" fmla="val 163974"/>
              <a:gd name="adj3" fmla="val 39375"/>
            </a:avLst>
          </a:prstGeom>
          <a:solidFill>
            <a:srgbClr val="DD0D0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pic>
        <p:nvPicPr>
          <p:cNvPr id="60420" name="Picture 4" descr="MCj043593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78579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5638800" y="3252791"/>
            <a:ext cx="287338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400" b="1" i="1" noProof="0" dirty="0">
                <a:solidFill>
                  <a:srgbClr val="FF0000"/>
                </a:solidFill>
              </a:rPr>
              <a:t>c</a:t>
            </a:r>
            <a:endParaRPr lang="en-US" sz="1400" b="1" i="1" baseline="-25000" noProof="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14290"/>
            <a:ext cx="323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/>
              <a:t>“scenario </a:t>
            </a:r>
            <a:r>
              <a:rPr lang="en-US" sz="2400" b="1" noProof="0" dirty="0">
                <a:solidFill>
                  <a:srgbClr val="FF0000"/>
                </a:solidFill>
              </a:rPr>
              <a:t>1</a:t>
            </a:r>
            <a:r>
              <a:rPr lang="en-US" sz="2400" b="1" noProof="0" dirty="0"/>
              <a:t>”:</a:t>
            </a:r>
            <a:r>
              <a:rPr lang="en-US" sz="2400" noProof="0" dirty="0"/>
              <a:t> </a:t>
            </a:r>
            <a:r>
              <a:rPr lang="en-US" sz="2400" b="1" noProof="0" dirty="0">
                <a:solidFill>
                  <a:srgbClr val="C00000"/>
                </a:solidFill>
              </a:rPr>
              <a:t> </a:t>
            </a:r>
            <a:r>
              <a:rPr lang="en-US" sz="2400" b="1" i="1" noProof="0" dirty="0">
                <a:solidFill>
                  <a:srgbClr val="FF0000"/>
                </a:solidFill>
              </a:rPr>
              <a:t>x </a:t>
            </a:r>
            <a:r>
              <a:rPr lang="en-US" sz="2400" b="1" noProof="0" dirty="0">
                <a:solidFill>
                  <a:srgbClr val="FF0000"/>
                </a:solidFill>
              </a:rPr>
              <a:t>= </a:t>
            </a:r>
            <a:r>
              <a:rPr lang="en-US" sz="2400" b="1" i="1" noProof="0" dirty="0">
                <a:solidFill>
                  <a:srgbClr val="FF0000"/>
                </a:solidFill>
              </a:rPr>
              <a:t>G</a:t>
            </a:r>
            <a:r>
              <a:rPr lang="en-US" sz="2400" b="1" noProof="0" dirty="0">
                <a:solidFill>
                  <a:srgbClr val="FF0000"/>
                </a:solidFill>
              </a:rPr>
              <a:t>(</a:t>
            </a:r>
            <a:r>
              <a:rPr lang="en-US" sz="2400" b="1" i="1" noProof="0" dirty="0">
                <a:solidFill>
                  <a:srgbClr val="FF0000"/>
                </a:solidFill>
              </a:rPr>
              <a:t>S</a:t>
            </a:r>
            <a:r>
              <a:rPr lang="en-US" sz="2400" b="1" noProof="0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071801" y="5209379"/>
                <a:ext cx="1693837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0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801" y="5209379"/>
                <a:ext cx="1693837" cy="491096"/>
              </a:xfrm>
              <a:prstGeom prst="rect">
                <a:avLst/>
              </a:prstGeom>
              <a:blipFill>
                <a:blip r:embed="rId8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082535" y="5209379"/>
                <a:ext cx="1693837" cy="49109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0" dirty="0"/>
                  <a:t>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535" y="5209379"/>
                <a:ext cx="1693837" cy="491096"/>
              </a:xfrm>
              <a:prstGeom prst="rect">
                <a:avLst/>
              </a:prstGeom>
              <a:blipFill>
                <a:blip r:embed="rId9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14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  <p:bldP spid="28" grpId="0" animBg="1"/>
      <p:bldP spid="60422" grpId="0"/>
      <p:bldP spid="60452" grpId="0" animBg="1"/>
      <p:bldP spid="60444" grpId="0" animBg="1"/>
      <p:bldP spid="60448" grpId="0" animBg="1"/>
      <p:bldP spid="60449" grpId="0" animBg="1"/>
      <p:bldP spid="60454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60451" grpId="0" animBg="1"/>
      <p:bldP spid="60455" grpId="0" animBg="1"/>
      <p:bldP spid="60450" grpId="0" animBg="1"/>
      <p:bldP spid="30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15" name="Rectangle 27"/>
          <p:cNvSpPr>
            <a:spLocks noChangeArrowheads="1"/>
          </p:cNvSpPr>
          <p:nvPr/>
        </p:nvSpPr>
        <p:spPr bwMode="auto">
          <a:xfrm>
            <a:off x="0" y="4220333"/>
            <a:ext cx="9144000" cy="9706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3492" name="Line 4"/>
          <p:cNvSpPr>
            <a:spLocks noChangeShapeType="1"/>
          </p:cNvSpPr>
          <p:nvPr/>
        </p:nvSpPr>
        <p:spPr bwMode="auto">
          <a:xfrm flipH="1">
            <a:off x="2667000" y="381000"/>
            <a:ext cx="17526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63493" name="Line 5"/>
          <p:cNvSpPr>
            <a:spLocks noChangeShapeType="1"/>
          </p:cNvSpPr>
          <p:nvPr/>
        </p:nvSpPr>
        <p:spPr bwMode="auto">
          <a:xfrm>
            <a:off x="4495800" y="381000"/>
            <a:ext cx="18288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494" name="Text Box 6"/>
              <p:cNvSpPr txBox="1">
                <a:spLocks noChangeArrowheads="1"/>
              </p:cNvSpPr>
              <p:nvPr/>
            </p:nvSpPr>
            <p:spPr bwMode="auto">
              <a:xfrm>
                <a:off x="1828800" y="1066800"/>
                <a:ext cx="2590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800" b="1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is a random string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349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1066800"/>
                <a:ext cx="2590800" cy="369888"/>
              </a:xfrm>
              <a:prstGeom prst="rect">
                <a:avLst/>
              </a:prstGeom>
              <a:blipFill>
                <a:blip r:embed="rId3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495" name="Text Box 7"/>
              <p:cNvSpPr txBox="1">
                <a:spLocks noChangeArrowheads="1"/>
              </p:cNvSpPr>
              <p:nvPr/>
            </p:nvSpPr>
            <p:spPr bwMode="auto">
              <a:xfrm>
                <a:off x="4800600" y="1066800"/>
                <a:ext cx="2590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1" noProof="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349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1066800"/>
                <a:ext cx="2590800" cy="369888"/>
              </a:xfrm>
              <a:prstGeom prst="rect">
                <a:avLst/>
              </a:prstGeom>
              <a:blipFill>
                <a:blip r:embed="rId4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1050925" y="23225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sz="1800" b="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497" name="Text Box 9"/>
              <p:cNvSpPr txBox="1">
                <a:spLocks noChangeArrowheads="1"/>
              </p:cNvSpPr>
              <p:nvPr/>
            </p:nvSpPr>
            <p:spPr bwMode="auto">
              <a:xfrm>
                <a:off x="914400" y="2056860"/>
                <a:ext cx="3733800" cy="7680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0" noProof="0" dirty="0">
                    <a:solidFill>
                      <a:schemeClr val="tx1"/>
                    </a:solidFill>
                  </a:rPr>
                  <a:t>the adversary guesses </a:t>
                </a:r>
                <a:r>
                  <a:rPr lang="en-US" sz="1800" b="1" i="1" noProof="0" dirty="0">
                    <a:solidFill>
                      <a:srgbClr val="FF0000"/>
                    </a:solidFill>
                  </a:rPr>
                  <a:t>b</a:t>
                </a:r>
                <a:r>
                  <a:rPr lang="en-US" sz="1800" b="0" noProof="0" dirty="0">
                    <a:solidFill>
                      <a:schemeClr val="tx1"/>
                    </a:solidFill>
                  </a:rPr>
                  <a:t> correctly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noProof="0" dirty="0">
                    <a:solidFill>
                      <a:srgbClr val="80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349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056860"/>
                <a:ext cx="3733800" cy="768095"/>
              </a:xfrm>
              <a:prstGeom prst="rect">
                <a:avLst/>
              </a:prstGeom>
              <a:blipFill>
                <a:blip r:embed="rId5"/>
                <a:stretch>
                  <a:fillRect t="-3226" b="-322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498" name="Text Box 10"/>
              <p:cNvSpPr txBox="1">
                <a:spLocks noChangeArrowheads="1"/>
              </p:cNvSpPr>
              <p:nvPr/>
            </p:nvSpPr>
            <p:spPr bwMode="auto">
              <a:xfrm>
                <a:off x="4876800" y="2056860"/>
                <a:ext cx="3749675" cy="7680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noProof="0" dirty="0"/>
                  <a:t>the adversary guesses </a:t>
                </a:r>
                <a:r>
                  <a:rPr lang="en-US" b="1" i="1" noProof="0" dirty="0">
                    <a:solidFill>
                      <a:srgbClr val="FF0000"/>
                    </a:solidFill>
                  </a:rPr>
                  <a:t>b</a:t>
                </a:r>
                <a:r>
                  <a:rPr lang="en-US" noProof="0" dirty="0"/>
                  <a:t> correctly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noProof="0" dirty="0">
                  <a:solidFill>
                    <a:srgbClr val="8000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6349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2056860"/>
                <a:ext cx="3749675" cy="768095"/>
              </a:xfrm>
              <a:prstGeom prst="rect">
                <a:avLst/>
              </a:prstGeom>
              <a:blipFill>
                <a:blip r:embed="rId6"/>
                <a:stretch>
                  <a:fillRect t="-3226" b="-322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9" name="Line 11"/>
          <p:cNvSpPr>
            <a:spLocks noChangeShapeType="1"/>
          </p:cNvSpPr>
          <p:nvPr/>
        </p:nvSpPr>
        <p:spPr bwMode="auto">
          <a:xfrm flipH="1">
            <a:off x="1600200" y="2819400"/>
            <a:ext cx="91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>
            <a:off x="2667000" y="2819400"/>
            <a:ext cx="8382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501" name="Text Box 13"/>
              <p:cNvSpPr txBox="1">
                <a:spLocks noChangeArrowheads="1"/>
              </p:cNvSpPr>
              <p:nvPr/>
            </p:nvSpPr>
            <p:spPr bwMode="auto">
              <a:xfrm>
                <a:off x="1447800" y="3143248"/>
                <a:ext cx="984506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sz="1800" b="0" noProof="0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 b="0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noProof="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350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3143248"/>
                <a:ext cx="984506" cy="491096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502" name="Text Box 14"/>
              <p:cNvSpPr txBox="1">
                <a:spLocks noChangeArrowheads="1"/>
              </p:cNvSpPr>
              <p:nvPr/>
            </p:nvSpPr>
            <p:spPr bwMode="auto">
              <a:xfrm>
                <a:off x="2667000" y="3143248"/>
                <a:ext cx="996950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noProof="0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1800" b="1" noProof="0" dirty="0">
                  <a:solidFill>
                    <a:srgbClr val="800000"/>
                  </a:solidFill>
                </a:endParaRPr>
              </a:p>
            </p:txBody>
          </p:sp>
        </mc:Choice>
        <mc:Fallback>
          <p:sp>
            <p:nvSpPr>
              <p:cNvPr id="6350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3143248"/>
                <a:ext cx="996950" cy="491096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03" name="Line 15"/>
          <p:cNvSpPr>
            <a:spLocks noChangeShapeType="1"/>
          </p:cNvSpPr>
          <p:nvPr/>
        </p:nvSpPr>
        <p:spPr bwMode="auto">
          <a:xfrm flipH="1">
            <a:off x="5410200" y="2895600"/>
            <a:ext cx="1066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63504" name="Line 16"/>
          <p:cNvSpPr>
            <a:spLocks noChangeShapeType="1"/>
          </p:cNvSpPr>
          <p:nvPr/>
        </p:nvSpPr>
        <p:spPr bwMode="auto">
          <a:xfrm>
            <a:off x="6629400" y="2819400"/>
            <a:ext cx="91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505" name="Text Box 17"/>
              <p:cNvSpPr txBox="1">
                <a:spLocks noChangeArrowheads="1"/>
              </p:cNvSpPr>
              <p:nvPr/>
            </p:nvSpPr>
            <p:spPr bwMode="auto">
              <a:xfrm>
                <a:off x="4946863" y="3124200"/>
                <a:ext cx="1606337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noProof="0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noProof="0" dirty="0">
                  <a:solidFill>
                    <a:srgbClr val="800000"/>
                  </a:solidFill>
                </a:endParaRPr>
              </a:p>
            </p:txBody>
          </p:sp>
        </mc:Choice>
        <mc:Fallback>
          <p:sp>
            <p:nvSpPr>
              <p:cNvPr id="6350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6863" y="3124200"/>
                <a:ext cx="1606337" cy="491096"/>
              </a:xfrm>
              <a:prstGeom prst="rect">
                <a:avLst/>
              </a:prstGeom>
              <a:blipFill>
                <a:blip r:embed="rId9"/>
                <a:stretch>
                  <a:fillRect l="-2326" b="-48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506" name="Text Box 18"/>
              <p:cNvSpPr txBox="1">
                <a:spLocks noChangeArrowheads="1"/>
              </p:cNvSpPr>
              <p:nvPr/>
            </p:nvSpPr>
            <p:spPr bwMode="auto">
              <a:xfrm>
                <a:off x="6705599" y="3143248"/>
                <a:ext cx="1676401" cy="491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noProof="0" dirty="0">
                    <a:solidFill>
                      <a:schemeClr val="tx1"/>
                    </a:solidFill>
                  </a:rPr>
                  <a:t>prob.</a:t>
                </a:r>
                <a14:m>
                  <m:oMath xmlns:m="http://schemas.openxmlformats.org/officeDocument/2006/math">
                    <m:r>
                      <a:rPr lang="en-US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0" dirty="0">
                  <a:solidFill>
                    <a:srgbClr val="800000"/>
                  </a:solidFill>
                </a:endParaRPr>
              </a:p>
            </p:txBody>
          </p:sp>
        </mc:Choice>
        <mc:Fallback>
          <p:sp>
            <p:nvSpPr>
              <p:cNvPr id="6350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599" y="3143248"/>
                <a:ext cx="1676401" cy="491096"/>
              </a:xfrm>
              <a:prstGeom prst="rect">
                <a:avLst/>
              </a:prstGeom>
              <a:blipFill>
                <a:blip r:embed="rId10"/>
                <a:stretch>
                  <a:fillRect b="-5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14478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33528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52578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7391400" y="4597493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63512" name="Picture 24" descr="MCj04359310000[1]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52400" y="3505200"/>
            <a:ext cx="1219200" cy="965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63513" name="Text Box 25"/>
          <p:cNvSpPr txBox="1">
            <a:spLocks noChangeArrowheads="1"/>
          </p:cNvSpPr>
          <p:nvPr/>
        </p:nvSpPr>
        <p:spPr bwMode="auto">
          <a:xfrm>
            <a:off x="228600" y="4572000"/>
            <a:ext cx="108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noProof="0" dirty="0">
                <a:solidFill>
                  <a:srgbClr val="002060"/>
                </a:solidFill>
              </a:rPr>
              <a:t>outputs</a:t>
            </a:r>
            <a:r>
              <a:rPr lang="en-US" sz="1800" b="0" noProof="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158" y="500042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Hence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64" y="6136074"/>
            <a:ext cx="601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Since </a:t>
            </a:r>
            <a:r>
              <a:rPr lang="en-US" b="1" i="1" noProof="0" dirty="0" err="1">
                <a:solidFill>
                  <a:srgbClr val="FF0000"/>
                </a:solidFill>
                <a:cs typeface="Arial" charset="0"/>
              </a:rPr>
              <a:t>δ</a:t>
            </a:r>
            <a:r>
              <a:rPr lang="en-US" noProof="0" dirty="0">
                <a:solidFill>
                  <a:srgbClr val="800000"/>
                </a:solidFill>
                <a:cs typeface="Arial" charset="0"/>
              </a:rPr>
              <a:t> </a:t>
            </a:r>
            <a:r>
              <a:rPr lang="en-US" noProof="0" dirty="0">
                <a:cs typeface="Arial" charset="0"/>
              </a:rPr>
              <a:t>is not negligible </a:t>
            </a:r>
            <a:r>
              <a:rPr lang="en-US" b="1" i="1" noProof="0" dirty="0">
                <a:solidFill>
                  <a:srgbClr val="FF0000"/>
                </a:solidFill>
                <a:cs typeface="Arial" charset="0"/>
              </a:rPr>
              <a:t>G</a:t>
            </a:r>
            <a:r>
              <a:rPr lang="en-US" i="1" noProof="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noProof="0" dirty="0">
                <a:cs typeface="Arial" charset="0"/>
              </a:rPr>
              <a:t>cannot be a </a:t>
            </a:r>
            <a:r>
              <a:rPr lang="en-US" b="1" noProof="0" dirty="0">
                <a:cs typeface="Arial" charset="0"/>
              </a:rPr>
              <a:t>cryptographic PRG</a:t>
            </a:r>
            <a:r>
              <a:rPr lang="en-US" noProof="0" dirty="0"/>
              <a:t>.</a:t>
            </a:r>
            <a:r>
              <a:rPr lang="en-US" b="1" noProof="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28600" y="5481553"/>
                <a:ext cx="3526799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d>
                            <m:d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d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481553"/>
                <a:ext cx="3526799" cy="404983"/>
              </a:xfrm>
              <a:prstGeom prst="rect">
                <a:avLst/>
              </a:prstGeom>
              <a:blipFill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557537" y="5326702"/>
                <a:ext cx="2367508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−</m:t>
                          </m:r>
                          <m:d>
                            <m:d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  <m:d>
                                <m:dPr>
                                  <m:ctrlP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37" y="5326702"/>
                <a:ext cx="2367508" cy="7146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751042" y="5499377"/>
                <a:ext cx="109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d>
                            <m:d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042" y="5499377"/>
                <a:ext cx="109600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8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nimBg="1"/>
      <p:bldP spid="63493" grpId="0" animBg="1"/>
      <p:bldP spid="63494" grpId="0" animBg="1"/>
      <p:bldP spid="63495" grpId="0" animBg="1"/>
      <p:bldP spid="63497" grpId="0"/>
      <p:bldP spid="63498" grpId="0"/>
      <p:bldP spid="63499" grpId="0" animBg="1"/>
      <p:bldP spid="63500" grpId="0" animBg="1"/>
      <p:bldP spid="63501" grpId="0" animBg="1"/>
      <p:bldP spid="63502" grpId="0" animBg="1"/>
      <p:bldP spid="63503" grpId="0" animBg="1"/>
      <p:bldP spid="63504" grpId="0" animBg="1"/>
      <p:bldP spid="63505" grpId="0" animBg="1"/>
      <p:bldP spid="63506" grpId="0" animBg="1"/>
      <p:bldP spid="63507" grpId="0"/>
      <p:bldP spid="63508" grpId="0"/>
      <p:bldP spid="63509" grpId="0"/>
      <p:bldP spid="63510" grpId="0"/>
      <p:bldP spid="63513" grpId="0"/>
      <p:bldP spid="29" grpId="0"/>
      <p:bldP spid="2" grpId="0"/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/>
          <a:lstStyle/>
          <a:p>
            <a:r>
              <a:rPr lang="en-US" noProof="0" dirty="0"/>
              <a:t>The complexity</a:t>
            </a:r>
          </a:p>
        </p:txBody>
      </p:sp>
      <p:pic>
        <p:nvPicPr>
          <p:cNvPr id="4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44" y="1571612"/>
            <a:ext cx="1500198" cy="1186685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pic>
        <p:nvPicPr>
          <p:cNvPr id="5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2198" y="2615897"/>
            <a:ext cx="1714512" cy="118468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57158" y="1928802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/>
              <a:t>The distinguisher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3570" y="1928802"/>
            <a:ext cx="2906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/>
              <a:t>simply simulated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596" y="3071810"/>
            <a:ext cx="5480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/>
              <a:t>one execution of  the adversary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596" y="4071942"/>
            <a:ext cx="633263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/>
              <a:t>against the oracle               .</a:t>
            </a:r>
          </a:p>
          <a:p>
            <a:endParaRPr lang="en-US" sz="3200" noProof="0" dirty="0"/>
          </a:p>
          <a:p>
            <a:r>
              <a:rPr lang="en-US" sz="3200" noProof="0" dirty="0"/>
              <a:t>Hence he works in polynomial time.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001024" y="607220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QED</a:t>
            </a:r>
          </a:p>
        </p:txBody>
      </p:sp>
      <p:pic>
        <p:nvPicPr>
          <p:cNvPr id="13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75079" y="3795199"/>
            <a:ext cx="1357322" cy="12458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798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85728"/>
            <a:ext cx="7498080" cy="1143000"/>
          </a:xfrm>
        </p:spPr>
        <p:txBody>
          <a:bodyPr/>
          <a:lstStyle/>
          <a:p>
            <a:r>
              <a:rPr lang="en-US" noProof="0" dirty="0"/>
              <a:t>Moral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3286124"/>
            <a:ext cx="8229600" cy="178595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noProof="0" dirty="0"/>
              <a:t>To construct secure encryption it suffices to construct a secure PRG.</a:t>
            </a:r>
          </a:p>
          <a:p>
            <a:pPr>
              <a:buFontTx/>
              <a:buNone/>
            </a:pPr>
            <a:endParaRPr lang="en-US" noProof="0" dirty="0"/>
          </a:p>
          <a:p>
            <a:pPr>
              <a:buFontTx/>
              <a:buNone/>
            </a:pPr>
            <a:r>
              <a:rPr lang="en-US" noProof="0" dirty="0"/>
              <a:t>Moreover, we can also state the following:</a:t>
            </a:r>
          </a:p>
          <a:p>
            <a:pPr>
              <a:buFontTx/>
              <a:buNone/>
            </a:pPr>
            <a:endParaRPr lang="en-US" noProof="0" dirty="0"/>
          </a:p>
          <a:p>
            <a:pPr>
              <a:buFontTx/>
              <a:buNone/>
            </a:pPr>
            <a:endParaRPr lang="en-US" noProof="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85720" y="1714488"/>
            <a:ext cx="2624126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552920" y="1738298"/>
            <a:ext cx="4343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semantically-secure encryption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exists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3052722" y="1881174"/>
            <a:ext cx="1371600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42910" y="5429264"/>
            <a:ext cx="807249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Informal remark.  </a:t>
            </a:r>
            <a:r>
              <a:rPr lang="en-US" sz="2400" noProof="0" dirty="0"/>
              <a:t>The reduction is tight.</a:t>
            </a:r>
          </a:p>
        </p:txBody>
      </p:sp>
      <p:sp>
        <p:nvSpPr>
          <p:cNvPr id="2" name="Rectangular Callout 1"/>
          <p:cNvSpPr/>
          <p:nvPr/>
        </p:nvSpPr>
        <p:spPr>
          <a:xfrm>
            <a:off x="4868926" y="816080"/>
            <a:ext cx="3711387" cy="612648"/>
          </a:xfrm>
          <a:prstGeom prst="wedgeRectCallout">
            <a:avLst>
              <a:gd name="adj1" fmla="val -20833"/>
              <a:gd name="adj2" fmla="val 11781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it can be extended to CPA-security</a:t>
            </a:r>
          </a:p>
        </p:txBody>
      </p:sp>
    </p:spTree>
    <p:extLst>
      <p:ext uri="{BB962C8B-B14F-4D97-AF65-F5344CB8AC3E}">
        <p14:creationId xmlns:p14="http://schemas.microsoft.com/office/powerpoint/2010/main" val="218595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576530" cy="1143000"/>
          </a:xfrm>
        </p:spPr>
        <p:txBody>
          <a:bodyPr>
            <a:normAutofit/>
          </a:bodyPr>
          <a:lstStyle/>
          <a:p>
            <a:r>
              <a:rPr lang="en-US" sz="3600" noProof="0" dirty="0"/>
              <a:t>A question</a:t>
            </a:r>
          </a:p>
        </p:txBody>
      </p:sp>
      <p:pic>
        <p:nvPicPr>
          <p:cNvPr id="4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3306" y="1071546"/>
            <a:ext cx="1071570" cy="84763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pic>
        <p:nvPicPr>
          <p:cNvPr id="5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7752" y="1714488"/>
            <a:ext cx="1285884" cy="88851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57158" y="1285860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What if the distinguisher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9190" y="1285860"/>
            <a:ext cx="2645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needed to simulate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58" y="2000240"/>
            <a:ext cx="457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>
                <a:solidFill>
                  <a:srgbClr val="FF0000"/>
                </a:solidFill>
              </a:rPr>
              <a:t>1000</a:t>
            </a:r>
            <a:r>
              <a:rPr lang="en-US" sz="2400" noProof="0" dirty="0">
                <a:solidFill>
                  <a:srgbClr val="FF0000"/>
                </a:solidFill>
              </a:rPr>
              <a:t> </a:t>
            </a:r>
            <a:r>
              <a:rPr lang="en-US" sz="2400" noProof="0" dirty="0"/>
              <a:t>executions of the adversary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12" y="1928802"/>
            <a:ext cx="334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/>
              <a:t>?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14282" y="2786058"/>
            <a:ext cx="8576530" cy="78581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/>
              <a:t>An (informal)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58" y="3500438"/>
            <a:ext cx="8501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Then, the encryption scheme would be “</a:t>
            </a:r>
            <a:r>
              <a:rPr lang="en-US" sz="2400" b="1" noProof="0" dirty="0">
                <a:solidFill>
                  <a:srgbClr val="FF0000"/>
                </a:solidFill>
              </a:rPr>
              <a:t>1000</a:t>
            </a:r>
            <a:r>
              <a:rPr lang="en-US" sz="2400" noProof="0" dirty="0"/>
              <a:t> times less secure” than the pseudorandom generator.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4282" y="4357694"/>
            <a:ext cx="8576530" cy="78581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/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158" y="5072074"/>
            <a:ext cx="4071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To achieve the same result</a:t>
            </a:r>
          </a:p>
        </p:txBody>
      </p:sp>
      <p:pic>
        <p:nvPicPr>
          <p:cNvPr id="15" name="Picture 4" descr="MCj043593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8570" y="4723111"/>
            <a:ext cx="1214446" cy="9606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214941" y="5000636"/>
            <a:ext cx="3789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needs to work </a:t>
            </a:r>
            <a:r>
              <a:rPr lang="en-US" sz="2400" b="1" noProof="0" dirty="0">
                <a:solidFill>
                  <a:srgbClr val="FF0000"/>
                </a:solidFill>
              </a:rPr>
              <a:t>1000</a:t>
            </a:r>
            <a:r>
              <a:rPr lang="en-US" sz="2400" noProof="0" dirty="0"/>
              <a:t> times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58" y="5683761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more than</a:t>
            </a:r>
          </a:p>
        </p:txBody>
      </p:sp>
      <p:pic>
        <p:nvPicPr>
          <p:cNvPr id="18" name="Picture 2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1670" y="5469447"/>
            <a:ext cx="1285884" cy="88851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500430" y="5643578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976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6" grpId="0"/>
      <p:bldP spid="17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7498080" cy="57150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General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2976" y="1714488"/>
            <a:ext cx="6786610" cy="16430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1142976" y="4857760"/>
            <a:ext cx="6786610" cy="16430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000232" y="2714620"/>
            <a:ext cx="5429288" cy="36933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secret string </a:t>
            </a:r>
            <a:r>
              <a:rPr lang="en-US" b="1" i="1" noProof="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32" y="6000768"/>
            <a:ext cx="5429288" cy="36933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“pseudorandom” string</a:t>
            </a:r>
            <a:r>
              <a:rPr lang="en-US" b="1" noProof="0" dirty="0">
                <a:solidFill>
                  <a:srgbClr val="C00000"/>
                </a:solidFill>
              </a:rPr>
              <a:t> </a:t>
            </a:r>
            <a:r>
              <a:rPr lang="en-US" b="1" i="1" noProof="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3306" y="5000636"/>
            <a:ext cx="2214578" cy="36933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secret string </a:t>
            </a:r>
            <a:r>
              <a:rPr lang="en-US" b="1" i="1" noProof="0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596" y="1071546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Take a secure system that uses some long secret string </a:t>
            </a:r>
            <a:r>
              <a:rPr lang="en-US" sz="2400" b="1" i="1" noProof="0" dirty="0">
                <a:solidFill>
                  <a:srgbClr val="FF0000"/>
                </a:solidFill>
              </a:rPr>
              <a:t>X</a:t>
            </a:r>
            <a:r>
              <a:rPr lang="en-US" sz="2400" noProof="0" dirty="0"/>
              <a:t>.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11227" y="3500438"/>
                <a:ext cx="84072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noProof="0" dirty="0"/>
                  <a:t>Then,  you can construct a system that uses a shorter string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S</a:t>
                </a:r>
                <a:r>
                  <a:rPr lang="en-US" sz="2400" noProof="0" dirty="0"/>
                  <a:t>, </a:t>
                </a:r>
              </a:p>
              <a:p>
                <a:pPr algn="ctr"/>
                <a:r>
                  <a:rPr lang="en-US" sz="2400" noProof="0" dirty="0"/>
                  <a:t>and expands it using a PRG: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</m:oMath>
                  </m:oMathPara>
                </a14:m>
                <a:endParaRPr lang="en-US" sz="2400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27" y="3500438"/>
                <a:ext cx="8407298" cy="1200329"/>
              </a:xfrm>
              <a:prstGeom prst="rect">
                <a:avLst/>
              </a:prstGeom>
              <a:blipFill>
                <a:blip r:embed="rId3"/>
                <a:stretch>
                  <a:fillRect t="-4167" r="-302" b="-729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rapezoid 12"/>
          <p:cNvSpPr/>
          <p:nvPr/>
        </p:nvSpPr>
        <p:spPr>
          <a:xfrm>
            <a:off x="2000232" y="5429264"/>
            <a:ext cx="5429288" cy="500066"/>
          </a:xfrm>
          <a:prstGeom prst="trapezoid">
            <a:avLst>
              <a:gd name="adj" fmla="val 32702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noProof="0" dirty="0">
                <a:solidFill>
                  <a:srgbClr val="FF0000"/>
                </a:solidFill>
              </a:rPr>
              <a:t>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DA9330-40FB-4420-858A-BF022734C8F5}"/>
                  </a:ext>
                </a:extLst>
              </p14:cNvPr>
              <p14:cNvContentPartPr/>
              <p14:nvPr/>
            </p14:nvContentPartPr>
            <p14:xfrm>
              <a:off x="4289760" y="481032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DA9330-40FB-4420-858A-BF022734C8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0400" y="48009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893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  <p:bldP spid="14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0"/>
            <a:ext cx="8719406" cy="1143000"/>
          </a:xfrm>
        </p:spPr>
        <p:txBody>
          <a:bodyPr/>
          <a:lstStyle/>
          <a:p>
            <a:r>
              <a:rPr lang="en-US" noProof="0" dirty="0"/>
              <a:t>Constructions of PRGs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5720" y="1785926"/>
            <a:ext cx="8429684" cy="646331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noProof="0" dirty="0"/>
              <a:t>a PRG can be constructed from any </a:t>
            </a:r>
            <a:r>
              <a:rPr lang="en-US" b="1" noProof="0" dirty="0"/>
              <a:t>one-way function</a:t>
            </a:r>
            <a:br>
              <a:rPr lang="en-US" noProof="0" dirty="0"/>
            </a:br>
            <a:r>
              <a:rPr lang="en-US" noProof="0" dirty="0"/>
              <a:t> (</a:t>
            </a:r>
            <a:r>
              <a:rPr lang="en-US" b="1" noProof="0" dirty="0">
                <a:solidFill>
                  <a:srgbClr val="008000"/>
                </a:solidFill>
              </a:rPr>
              <a:t>very</a:t>
            </a:r>
            <a:r>
              <a:rPr lang="en-US" noProof="0" dirty="0"/>
              <a:t> </a:t>
            </a:r>
            <a:r>
              <a:rPr lang="en-US" b="1" noProof="0" dirty="0">
                <a:solidFill>
                  <a:srgbClr val="008000"/>
                </a:solidFill>
              </a:rPr>
              <a:t>elegant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FF0000"/>
                </a:solidFill>
              </a:rPr>
              <a:t>impractical, inefficient</a:t>
            </a:r>
            <a:r>
              <a:rPr lang="en-US" noProof="0"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158" y="3590370"/>
            <a:ext cx="8215370" cy="1089529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noProof="0" dirty="0"/>
              <a:t>For example</a:t>
            </a:r>
            <a:br>
              <a:rPr lang="en-US" noProof="0" dirty="0"/>
            </a:br>
            <a:r>
              <a:rPr lang="en-US" noProof="0" dirty="0"/>
              <a:t>[Blum,  Blum, Shub.  </a:t>
            </a:r>
            <a:r>
              <a:rPr lang="en-US" i="1" noProof="0" dirty="0"/>
              <a:t>A Simple Unpredictable Pseudo-Random Number Generator</a:t>
            </a:r>
            <a:r>
              <a:rPr lang="en-US" noProof="0" dirty="0"/>
              <a:t>]</a:t>
            </a:r>
            <a:br>
              <a:rPr lang="en-US" noProof="0" dirty="0"/>
            </a:br>
            <a:r>
              <a:rPr lang="en-US" noProof="0" dirty="0"/>
              <a:t>(</a:t>
            </a:r>
            <a:r>
              <a:rPr lang="en-US" b="1" noProof="0" dirty="0">
                <a:solidFill>
                  <a:schemeClr val="accent4">
                    <a:lumMod val="50000"/>
                  </a:schemeClr>
                </a:solidFill>
              </a:rPr>
              <a:t>elegant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0070C0"/>
                </a:solidFill>
              </a:rPr>
              <a:t>more efficient</a:t>
            </a:r>
            <a:r>
              <a:rPr lang="en-US" noProof="0" dirty="0"/>
              <a:t>, still </a:t>
            </a:r>
            <a:r>
              <a:rPr lang="en-US" b="1" noProof="0" dirty="0">
                <a:solidFill>
                  <a:srgbClr val="FF0000"/>
                </a:solidFill>
              </a:rPr>
              <a:t>rather impractical</a:t>
            </a:r>
            <a:r>
              <a:rPr lang="en-US" noProof="0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158" y="5572140"/>
            <a:ext cx="8215370" cy="667875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b="1" noProof="0" dirty="0">
                <a:solidFill>
                  <a:srgbClr val="993300"/>
                </a:solidFill>
              </a:rPr>
              <a:t>ugly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006600"/>
                </a:solidFill>
              </a:rPr>
              <a:t>very efficient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006600"/>
                </a:solidFill>
              </a:rPr>
              <a:t>widely used in practice</a:t>
            </a:r>
          </a:p>
          <a:p>
            <a:pPr marL="365760" indent="-28346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noProof="0" dirty="0"/>
              <a:t>Examples:  RC4, Trivium, SOSEMANUK,...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6182" y="1428736"/>
            <a:ext cx="206492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noProof="0" dirty="0">
                <a:solidFill>
                  <a:srgbClr val="0070C0"/>
                </a:solidFill>
              </a:rPr>
              <a:t>A theoretical result</a:t>
            </a:r>
            <a:r>
              <a:rPr lang="en-US" noProof="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6050" y="3143248"/>
            <a:ext cx="4500594" cy="5909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5760" lvl="0" indent="-283464" algn="ctr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noProof="0" dirty="0"/>
              <a:t>Based on hardness of some</a:t>
            </a:r>
            <a:br>
              <a:rPr lang="en-US" noProof="0" dirty="0"/>
            </a:br>
            <a:r>
              <a:rPr lang="en-US" b="1" noProof="0" dirty="0">
                <a:solidFill>
                  <a:srgbClr val="0070C0"/>
                </a:solidFill>
              </a:rPr>
              <a:t>particular computational problems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29058" y="5214950"/>
            <a:ext cx="180953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noProof="0" dirty="0">
                <a:solidFill>
                  <a:srgbClr val="0070C0"/>
                </a:solidFill>
              </a:rPr>
              <a:t>“Stream ciphers”</a:t>
            </a:r>
            <a:endParaRPr lang="en-US" noProof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0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448658" y="3282347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33133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How to encrypt with one-way functions?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noProof="0" dirty="0"/>
                  <a:t>Naive (and wrong) idea: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noProof="0" dirty="0"/>
                  <a:t>Take a one-way function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noProof="0" dirty="0"/>
                  <a:t>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noProof="0" dirty="0"/>
                  <a:t>Let a ciphertext of a message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noProof="0" dirty="0"/>
                  <a:t> be equal to</a:t>
                </a:r>
              </a:p>
              <a:p>
                <a:pPr marL="514350" indent="-51435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08" t="-232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857224" y="5214950"/>
            <a:ext cx="2428892" cy="428628"/>
          </a:xfrm>
          <a:prstGeom prst="wedgeRectCallout">
            <a:avLst>
              <a:gd name="adj1" fmla="val 76863"/>
              <a:gd name="adj2" fmla="val -23531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where is the key?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3000364" y="6000768"/>
            <a:ext cx="2428892" cy="428628"/>
          </a:xfrm>
          <a:prstGeom prst="wedgeRectCallout">
            <a:avLst>
              <a:gd name="adj1" fmla="val 18301"/>
              <a:gd name="adj2" fmla="val -40650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how to decrypt?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6000760" y="5429264"/>
            <a:ext cx="2428892" cy="714380"/>
          </a:xfrm>
          <a:prstGeom prst="wedgeRectCallout">
            <a:avLst>
              <a:gd name="adj1" fmla="val -83020"/>
              <a:gd name="adj2" fmla="val -18369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not all the input is hidden...</a:t>
            </a:r>
          </a:p>
        </p:txBody>
      </p:sp>
    </p:spTree>
    <p:extLst>
      <p:ext uri="{BB962C8B-B14F-4D97-AF65-F5344CB8AC3E}">
        <p14:creationId xmlns:p14="http://schemas.microsoft.com/office/powerpoint/2010/main" val="7571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857488" y="6000768"/>
            <a:ext cx="4343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CPA-secure encryption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exists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 rot="5400000">
            <a:off x="4700590" y="5557854"/>
            <a:ext cx="57150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433654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One of the most fundamental results in symmetric cryptography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8596" y="2071678"/>
            <a:ext cx="8429684" cy="1015663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00B050"/>
                </a:solidFill>
              </a:rPr>
              <a:t>[</a:t>
            </a:r>
            <a:r>
              <a:rPr lang="en-US" sz="2000" b="1" noProof="0" dirty="0" err="1">
                <a:solidFill>
                  <a:srgbClr val="00B050"/>
                </a:solidFill>
              </a:rPr>
              <a:t>Håstad</a:t>
            </a:r>
            <a:r>
              <a:rPr lang="en-US" sz="2000" b="1" noProof="0" dirty="0">
                <a:solidFill>
                  <a:srgbClr val="00B050"/>
                </a:solidFill>
              </a:rPr>
              <a:t>, Impagliazzo, Levin, Luby </a:t>
            </a:r>
            <a:r>
              <a:rPr lang="en-US" sz="2000" b="1" i="1" noProof="0" dirty="0">
                <a:solidFill>
                  <a:srgbClr val="00B050"/>
                </a:solidFill>
              </a:rPr>
              <a:t>A Pseudorandom Generator from any One-way Function</a:t>
            </a:r>
            <a:r>
              <a:rPr lang="en-US" sz="2000" b="1" noProof="0" dirty="0">
                <a:solidFill>
                  <a:srgbClr val="00B050"/>
                </a:solidFill>
              </a:rPr>
              <a:t>]</a:t>
            </a:r>
            <a:r>
              <a:rPr lang="en-US" sz="2000" noProof="0" dirty="0"/>
              <a:t>:</a:t>
            </a:r>
          </a:p>
          <a:p>
            <a:pPr algn="ctr"/>
            <a:r>
              <a:rPr lang="en-US" sz="2000" noProof="0" dirty="0"/>
              <a:t>“a PRG can be constructed from any </a:t>
            </a:r>
            <a:r>
              <a:rPr lang="en-US" sz="2000" b="1" noProof="0" dirty="0"/>
              <a:t>one-way function</a:t>
            </a:r>
            <a:r>
              <a:rPr lang="en-US" sz="2000" noProof="0" dirty="0"/>
              <a:t>”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857488" y="4857760"/>
            <a:ext cx="4357718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 rot="5400000">
            <a:off x="4700590" y="4486284"/>
            <a:ext cx="57150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857488" y="3786190"/>
            <a:ext cx="4357718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</p:spTree>
    <p:extLst>
      <p:ext uri="{BB962C8B-B14F-4D97-AF65-F5344CB8AC3E}">
        <p14:creationId xmlns:p14="http://schemas.microsoft.com/office/powerpoint/2010/main" val="221265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7" grpId="0" animBg="1"/>
      <p:bldP spid="9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F975-ACBC-F224-B1B7-3A702EF6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28" y="160961"/>
            <a:ext cx="7886700" cy="1325563"/>
          </a:xfrm>
        </p:spPr>
        <p:txBody>
          <a:bodyPr/>
          <a:lstStyle/>
          <a:p>
            <a:r>
              <a:rPr lang="en-US" noProof="0" dirty="0"/>
              <a:t>Why is this result so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FDDD-E019-B9AD-ADB3-A8C62F0E0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91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 dirty="0"/>
              <a:t>It connects </a:t>
            </a:r>
            <a:r>
              <a:rPr lang="en-US" b="1" noProof="0" dirty="0"/>
              <a:t>two types of hardness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hardness of </a:t>
            </a:r>
            <a:r>
              <a:rPr lang="en-US" b="1" noProof="0" dirty="0">
                <a:solidFill>
                  <a:srgbClr val="FF0000"/>
                </a:solidFill>
              </a:rPr>
              <a:t>guessing</a:t>
            </a:r>
            <a:r>
              <a:rPr lang="en-US" noProof="0" dirty="0"/>
              <a:t> some value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hardness of </a:t>
            </a:r>
            <a:r>
              <a:rPr lang="en-US" b="1" noProof="0" dirty="0">
                <a:solidFill>
                  <a:srgbClr val="7030A0"/>
                </a:solidFill>
              </a:rPr>
              <a:t>distinguishing</a:t>
            </a:r>
            <a:r>
              <a:rPr lang="en-US" noProof="0" dirty="0"/>
              <a:t> two experiments</a:t>
            </a:r>
          </a:p>
        </p:txBody>
      </p:sp>
      <p:pic>
        <p:nvPicPr>
          <p:cNvPr id="4" name="Picture 26" descr="MCj04359410000[1]">
            <a:extLst>
              <a:ext uri="{FF2B5EF4-FFF2-40B4-BE49-F238E27FC236}">
                <a16:creationId xmlns:a16="http://schemas.microsoft.com/office/drawing/2014/main" id="{1A54EFEF-7B1A-27DA-A7D2-BD374728A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9239" y="3343614"/>
            <a:ext cx="1285884" cy="888511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54874-1F76-36B6-D3C8-B82172A6699B}"/>
              </a:ext>
            </a:extLst>
          </p:cNvPr>
          <p:cNvSpPr txBox="1"/>
          <p:nvPr/>
        </p:nvSpPr>
        <p:spPr>
          <a:xfrm>
            <a:off x="5336343" y="355703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noProof="0" dirty="0">
                <a:solidFill>
                  <a:srgbClr val="FF0000"/>
                </a:solidFill>
              </a:rPr>
              <a:t>K</a:t>
            </a:r>
            <a:r>
              <a:rPr lang="en-US" sz="2400" b="1" i="1" noProof="0" dirty="0"/>
              <a:t> </a:t>
            </a:r>
            <a:r>
              <a:rPr lang="en-US" sz="2400" b="1" noProof="0" dirty="0"/>
              <a:t>?</a:t>
            </a:r>
          </a:p>
        </p:txBody>
      </p:sp>
      <p:pic>
        <p:nvPicPr>
          <p:cNvPr id="6" name="Picture 26" descr="MCj04359410000[1]">
            <a:extLst>
              <a:ext uri="{FF2B5EF4-FFF2-40B4-BE49-F238E27FC236}">
                <a16:creationId xmlns:a16="http://schemas.microsoft.com/office/drawing/2014/main" id="{80314B6E-7831-3C3A-655D-B938E43B1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522" y="5356578"/>
            <a:ext cx="1285884" cy="88851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4B3B7-DB56-79C6-3CE2-0AB37BFE29E6}"/>
              </a:ext>
            </a:extLst>
          </p:cNvPr>
          <p:cNvSpPr txBox="1"/>
          <p:nvPr/>
        </p:nvSpPr>
        <p:spPr>
          <a:xfrm>
            <a:off x="1692812" y="5356578"/>
            <a:ext cx="161778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experiment</a:t>
            </a:r>
            <a:br>
              <a:rPr lang="en-US" noProof="0" dirty="0"/>
            </a:br>
            <a:r>
              <a:rPr lang="en-US" b="1" noProof="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026A3-07A8-9E73-FAED-1FD0B2659868}"/>
              </a:ext>
            </a:extLst>
          </p:cNvPr>
          <p:cNvSpPr txBox="1"/>
          <p:nvPr/>
        </p:nvSpPr>
        <p:spPr>
          <a:xfrm>
            <a:off x="5534332" y="5288450"/>
            <a:ext cx="161778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experiment</a:t>
            </a:r>
            <a:br>
              <a:rPr lang="en-US" noProof="0" dirty="0"/>
            </a:br>
            <a:r>
              <a:rPr lang="en-US" b="1" noProof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2278E-F767-C683-0B56-81D13F2CA036}"/>
              </a:ext>
            </a:extLst>
          </p:cNvPr>
          <p:cNvSpPr txBox="1"/>
          <p:nvPr/>
        </p:nvSpPr>
        <p:spPr>
          <a:xfrm>
            <a:off x="4604957" y="5125745"/>
            <a:ext cx="39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noProof="0" dirty="0"/>
              <a:t> </a:t>
            </a:r>
            <a:r>
              <a:rPr lang="en-US" sz="2400" b="1" noProof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941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 animBg="1"/>
      <p:bldP spid="9" grpId="0" animBg="1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The implication also holds in the other direction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4000496" y="2010936"/>
            <a:ext cx="1785949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3929058" y="3000372"/>
            <a:ext cx="1500198" cy="150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noProof="0" dirty="0">
                <a:solidFill>
                  <a:srgbClr val="FF0000"/>
                </a:solidFill>
              </a:rPr>
              <a:t>Enc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23129" y="5072074"/>
                <a:ext cx="556627" cy="64633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rgbClr val="FF0000"/>
                    </a:solidFill>
                  </a:rPr>
                  <a:t>key</a:t>
                </a:r>
                <a:br>
                  <a:rPr lang="en-US" b="1" noProof="0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129" y="5072074"/>
                <a:ext cx="556627" cy="646331"/>
              </a:xfrm>
              <a:prstGeom prst="rect">
                <a:avLst/>
              </a:prstGeom>
              <a:blipFill>
                <a:blip r:embed="rId3"/>
                <a:stretch>
                  <a:fillRect l="-8889" t="-1887" r="-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928794" y="3429000"/>
                <a:ext cx="1269548" cy="70788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noProof="0" dirty="0">
                    <a:solidFill>
                      <a:srgbClr val="FF0000"/>
                    </a:solidFill>
                  </a:rPr>
                  <a:t>plaintext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94" y="3429000"/>
                <a:ext cx="1269548" cy="707886"/>
              </a:xfrm>
              <a:prstGeom prst="rect">
                <a:avLst/>
              </a:prstGeom>
              <a:blipFill>
                <a:blip r:embed="rId4"/>
                <a:stretch>
                  <a:fillRect l="-2941" t="-3448" r="-6863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072198" y="3429000"/>
                <a:ext cx="1590083" cy="67710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noProof="0" dirty="0">
                    <a:solidFill>
                      <a:srgbClr val="FF0000"/>
                    </a:solidFill>
                  </a:rPr>
                  <a:t>ciphertext</a:t>
                </a:r>
                <a:br>
                  <a:rPr lang="en-US" b="1" noProof="0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429000"/>
                <a:ext cx="1590083" cy="677108"/>
              </a:xfrm>
              <a:prstGeom prst="rect">
                <a:avLst/>
              </a:prstGeom>
              <a:blipFill>
                <a:blip r:embed="rId5"/>
                <a:stretch>
                  <a:fillRect t="-3636" b="-9091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ight Arrow 32"/>
          <p:cNvSpPr/>
          <p:nvPr/>
        </p:nvSpPr>
        <p:spPr>
          <a:xfrm>
            <a:off x="3357554" y="3714752"/>
            <a:ext cx="428628" cy="14287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Right Arrow 33"/>
          <p:cNvSpPr/>
          <p:nvPr/>
        </p:nvSpPr>
        <p:spPr>
          <a:xfrm>
            <a:off x="5572132" y="3714752"/>
            <a:ext cx="428628" cy="14287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ight Arrow 34"/>
          <p:cNvSpPr/>
          <p:nvPr/>
        </p:nvSpPr>
        <p:spPr>
          <a:xfrm rot="16200000">
            <a:off x="4500562" y="4714884"/>
            <a:ext cx="428628" cy="14287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2955537" y="6089854"/>
                <a:ext cx="552991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 </m:t>
                    </m:r>
                  </m:oMath>
                </a14:m>
                <a:r>
                  <a:rPr lang="en-US" sz="2000" noProof="0" dirty="0"/>
                  <a:t>is a one-way function</a:t>
                </a: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537" y="6089854"/>
                <a:ext cx="552991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46143" y="1771439"/>
            <a:ext cx="2968601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semantically-secure encryption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73539" y="1782336"/>
            <a:ext cx="2511910" cy="9144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609600" indent="-609600" algn="ctr">
              <a:buFontTx/>
              <a:buNone/>
            </a:pPr>
            <a:r>
              <a:rPr lang="en-US" noProof="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</p:spTree>
    <p:extLst>
      <p:ext uri="{BB962C8B-B14F-4D97-AF65-F5344CB8AC3E}">
        <p14:creationId xmlns:p14="http://schemas.microsoft.com/office/powerpoint/2010/main" val="53655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8"/>
          <p:cNvSpPr>
            <a:spLocks noChangeArrowheads="1"/>
          </p:cNvSpPr>
          <p:nvPr/>
        </p:nvSpPr>
        <p:spPr bwMode="auto">
          <a:xfrm rot="19289469">
            <a:off x="2689394" y="3470348"/>
            <a:ext cx="137227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3071834" cy="1143000"/>
          </a:xfrm>
        </p:spPr>
        <p:txBody>
          <a:bodyPr/>
          <a:lstStyle/>
          <a:p>
            <a:r>
              <a:rPr lang="en-US" noProof="0" dirty="0"/>
              <a:t>“</a:t>
            </a:r>
            <a:r>
              <a:rPr lang="en-US" noProof="0" dirty="0" err="1"/>
              <a:t>Minicrypt</a:t>
            </a:r>
            <a:r>
              <a:rPr lang="en-US" noProof="0" dirty="0"/>
              <a:t>”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21674" y="4292750"/>
            <a:ext cx="3678822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noProof="0" dirty="0"/>
              <a:t>CPA and semantically-secure</a:t>
            </a:r>
          </a:p>
          <a:p>
            <a:pPr marL="609600" indent="-609600" algn="ctr">
              <a:buFontTx/>
              <a:buNone/>
            </a:pPr>
            <a:r>
              <a:rPr lang="en-US" sz="2000" noProof="0" dirty="0"/>
              <a:t>encryptions </a:t>
            </a:r>
            <a:r>
              <a:rPr lang="en-US" sz="2000" noProof="0" dirty="0" err="1"/>
              <a:t>existaboth</a:t>
            </a:r>
            <a:endParaRPr lang="en-US" sz="2000" noProof="0" dirty="0"/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 rot="10800000">
            <a:off x="4071934" y="4435626"/>
            <a:ext cx="857256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00628" y="4292750"/>
            <a:ext cx="321471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noProof="0" dirty="0"/>
              <a:t>cryptographic PRGs</a:t>
            </a:r>
          </a:p>
          <a:p>
            <a:pPr marL="609600" indent="-609600" algn="ctr">
              <a:buFontTx/>
              <a:buNone/>
            </a:pPr>
            <a:r>
              <a:rPr lang="en-US" sz="2000" noProof="0" dirty="0"/>
              <a:t>exist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 rot="3006812">
            <a:off x="5176903" y="3524294"/>
            <a:ext cx="1190013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000364" y="2506800"/>
            <a:ext cx="3429024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noProof="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sz="2000" noProof="0" dirty="0"/>
              <a:t>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9488" y="5648957"/>
            <a:ext cx="6317614" cy="83099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noProof="0" dirty="0"/>
              <a:t>The “world” where the one-way functions exist</a:t>
            </a:r>
          </a:p>
          <a:p>
            <a:pPr algn="ctr"/>
            <a:r>
              <a:rPr lang="en-US" sz="2400" noProof="0" dirty="0"/>
              <a:t>is called “</a:t>
            </a:r>
            <a:r>
              <a:rPr lang="en-US" sz="2400" b="1" noProof="0" dirty="0" err="1"/>
              <a:t>minicrypt</a:t>
            </a:r>
            <a:r>
              <a:rPr lang="en-US" sz="2400" noProof="0" dirty="0"/>
              <a:t>”.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 rot="16200000">
            <a:off x="4130083" y="1727777"/>
            <a:ext cx="769531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857620" y="1000108"/>
            <a:ext cx="164307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b="1" noProof="0" dirty="0">
                <a:solidFill>
                  <a:srgbClr val="FF0000"/>
                </a:solidFill>
              </a:rPr>
              <a:t>P ≠ NP</a:t>
            </a: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 rot="5400000">
            <a:off x="4773024" y="1727778"/>
            <a:ext cx="769531" cy="4572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857752" y="1357298"/>
            <a:ext cx="642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noProof="0" dirty="0"/>
              <a:t>?</a:t>
            </a:r>
          </a:p>
        </p:txBody>
      </p:sp>
      <p:sp>
        <p:nvSpPr>
          <p:cNvPr id="15" name="Rectangular Callout 14"/>
          <p:cNvSpPr/>
          <p:nvPr/>
        </p:nvSpPr>
        <p:spPr>
          <a:xfrm>
            <a:off x="6600837" y="1262209"/>
            <a:ext cx="2071702" cy="1147548"/>
          </a:xfrm>
          <a:prstGeom prst="wedgeRectCallout">
            <a:avLst>
              <a:gd name="adj1" fmla="val -103790"/>
              <a:gd name="adj2" fmla="val 8978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open problem</a:t>
            </a:r>
          </a:p>
          <a:p>
            <a:pPr algn="ctr"/>
            <a:r>
              <a:rPr lang="en-US" b="1" noProof="0" dirty="0"/>
              <a:t>(most likely: no implication)</a:t>
            </a:r>
          </a:p>
        </p:txBody>
      </p:sp>
    </p:spTree>
    <p:extLst>
      <p:ext uri="{BB962C8B-B14F-4D97-AF65-F5344CB8AC3E}">
        <p14:creationId xmlns:p14="http://schemas.microsoft.com/office/powerpoint/2010/main" val="392501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387" y="1497663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380479" y="372751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60306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71613"/>
            <a:ext cx="8229600" cy="1857388"/>
          </a:xfrm>
        </p:spPr>
        <p:txBody>
          <a:bodyPr/>
          <a:lstStyle/>
          <a:p>
            <a:pPr>
              <a:buNone/>
            </a:pPr>
            <a:r>
              <a:rPr lang="en-US" noProof="0" dirty="0"/>
              <a:t>The pseudorandom generators used in practice are called </a:t>
            </a:r>
            <a:r>
              <a:rPr lang="en-US" b="1" noProof="0" dirty="0"/>
              <a:t>stream ciphers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9"/>
              <p:cNvSpPr>
                <a:spLocks noChangeArrowheads="1"/>
              </p:cNvSpPr>
              <p:nvPr/>
            </p:nvSpPr>
            <p:spPr bwMode="auto">
              <a:xfrm>
                <a:off x="1014402" y="3705236"/>
                <a:ext cx="457200" cy="838200"/>
              </a:xfrm>
              <a:prstGeom prst="rect">
                <a:avLst/>
              </a:prstGeom>
              <a:solidFill>
                <a:srgbClr val="FFE49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4402" y="3705236"/>
                <a:ext cx="457200" cy="838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2462202" y="3248036"/>
            <a:ext cx="609600" cy="1752600"/>
          </a:xfrm>
          <a:prstGeom prst="rect">
            <a:avLst/>
          </a:prstGeom>
          <a:solidFill>
            <a:srgbClr val="FBFEC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noProof="0" dirty="0">
              <a:solidFill>
                <a:schemeClr val="tx1"/>
              </a:solidFill>
            </a:endParaRPr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auto">
          <a:xfrm rot="5400000">
            <a:off x="1090602" y="3705236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7143768" y="3143248"/>
            <a:ext cx="609600" cy="2500330"/>
          </a:xfrm>
          <a:prstGeom prst="rect">
            <a:avLst/>
          </a:prstGeom>
          <a:solidFill>
            <a:srgbClr val="FBFEC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 noProof="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0892" y="5500702"/>
            <a:ext cx="1000132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5681674" y="3600448"/>
                <a:ext cx="457200" cy="838200"/>
              </a:xfrm>
              <a:prstGeom prst="rect">
                <a:avLst/>
              </a:prstGeom>
              <a:solidFill>
                <a:srgbClr val="FFE49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1674" y="3600448"/>
                <a:ext cx="457200" cy="838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utoShape 11"/>
          <p:cNvSpPr>
            <a:spLocks noChangeArrowheads="1"/>
          </p:cNvSpPr>
          <p:nvPr/>
        </p:nvSpPr>
        <p:spPr bwMode="auto">
          <a:xfrm rot="5400000">
            <a:off x="5757874" y="360044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26" name="TextBox 25"/>
          <p:cNvSpPr txBox="1"/>
          <p:nvPr/>
        </p:nvSpPr>
        <p:spPr>
          <a:xfrm rot="5400000">
            <a:off x="7208257" y="5293337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 . . .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28596" y="5572140"/>
            <a:ext cx="7358114" cy="1071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They are called like this because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their output is an “infinite” 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stream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bits.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Multiply 27"/>
          <p:cNvSpPr/>
          <p:nvPr/>
        </p:nvSpPr>
        <p:spPr>
          <a:xfrm>
            <a:off x="714348" y="2000240"/>
            <a:ext cx="2428892" cy="4214842"/>
          </a:xfrm>
          <a:prstGeom prst="mathMultiply">
            <a:avLst>
              <a:gd name="adj1" fmla="val 1433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740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30222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noProof="0" dirty="0"/>
              <a:t>How to encrypt multiple messages using pseudorandom generators?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4714884"/>
            <a:ext cx="8382000" cy="1738306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2800" noProof="0" dirty="0"/>
              <a:t>Of course we </a:t>
            </a:r>
            <a:r>
              <a:rPr lang="en-US" sz="2800" b="1" noProof="0" dirty="0">
                <a:solidFill>
                  <a:srgbClr val="FF0000"/>
                </a:solidFill>
              </a:rPr>
              <a:t>cannot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just reuse the same seed</a:t>
            </a:r>
          </a:p>
          <a:p>
            <a:pPr>
              <a:buFontTx/>
              <a:buNone/>
            </a:pPr>
            <a:r>
              <a:rPr lang="en-US" sz="2800" noProof="0" dirty="0"/>
              <a:t>(remember the problem with the one-time pad?)</a:t>
            </a:r>
          </a:p>
          <a:p>
            <a:pPr>
              <a:buFontTx/>
              <a:buNone/>
            </a:pPr>
            <a:endParaRPr lang="en-US" sz="2800" noProof="0" dirty="0"/>
          </a:p>
          <a:p>
            <a:pPr algn="r">
              <a:buFontTx/>
              <a:buNone/>
            </a:pPr>
            <a:r>
              <a:rPr lang="en-US" sz="2800" b="1" noProof="0" dirty="0">
                <a:solidFill>
                  <a:srgbClr val="0070C0"/>
                </a:solidFill>
              </a:rPr>
              <a:t>It is </a:t>
            </a:r>
            <a:r>
              <a:rPr lang="en-US" sz="2800" b="1" u="sng" noProof="0" dirty="0">
                <a:solidFill>
                  <a:srgbClr val="0070C0"/>
                </a:solidFill>
              </a:rPr>
              <a:t>not</a:t>
            </a:r>
            <a:r>
              <a:rPr lang="en-US" sz="2800" b="1" noProof="0" dirty="0">
                <a:solidFill>
                  <a:srgbClr val="0070C0"/>
                </a:solidFill>
              </a:rPr>
              <a:t> just a theoretical problem!</a:t>
            </a:r>
          </a:p>
          <a:p>
            <a:pPr>
              <a:buFontTx/>
              <a:buNone/>
            </a:pPr>
            <a:endParaRPr lang="en-US" sz="28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9"/>
              <p:cNvSpPr>
                <a:spLocks noChangeArrowheads="1"/>
              </p:cNvSpPr>
              <p:nvPr/>
            </p:nvSpPr>
            <p:spPr bwMode="auto">
              <a:xfrm>
                <a:off x="3105144" y="2528878"/>
                <a:ext cx="457200" cy="838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5144" y="2528878"/>
                <a:ext cx="457200" cy="838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0"/>
              <p:cNvSpPr>
                <a:spLocks noChangeArrowheads="1"/>
              </p:cNvSpPr>
              <p:nvPr/>
            </p:nvSpPr>
            <p:spPr bwMode="auto">
              <a:xfrm>
                <a:off x="4533904" y="2100249"/>
                <a:ext cx="609600" cy="172126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3904" y="2100249"/>
                <a:ext cx="609600" cy="1721267"/>
              </a:xfrm>
              <a:prstGeom prst="rect">
                <a:avLst/>
              </a:prstGeom>
              <a:blipFill>
                <a:blip r:embed="rId4"/>
                <a:stretch>
                  <a:fillRect l="-4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11"/>
          <p:cNvSpPr>
            <a:spLocks noChangeArrowheads="1"/>
          </p:cNvSpPr>
          <p:nvPr/>
        </p:nvSpPr>
        <p:spPr bwMode="auto">
          <a:xfrm rot="5400000">
            <a:off x="3181344" y="2528878"/>
            <a:ext cx="1752600" cy="838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54940" y="2367454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940" y="2367454"/>
                <a:ext cx="1261884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5462598" y="2100250"/>
                <a:ext cx="609600" cy="171451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  <a:latin typeface="Cmsy10"/>
                </a:endParaRPr>
              </a:p>
            </p:txBody>
          </p:sp>
        </mc:Choice>
        <mc:Fallback>
          <p:sp>
            <p:nvSpPr>
              <p:cNvPr id="1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2598" y="2100250"/>
                <a:ext cx="609600" cy="17145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6786578" y="2071678"/>
                <a:ext cx="609600" cy="171451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6578" y="2071678"/>
                <a:ext cx="609600" cy="1714512"/>
              </a:xfrm>
              <a:prstGeom prst="rect">
                <a:avLst/>
              </a:prstGeom>
              <a:blipFill>
                <a:blip r:embed="rId7"/>
                <a:stretch>
                  <a:fillRect l="-4000" r="-2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127069" y="1555785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</m:oMath>
                  </m:oMathPara>
                </a14:m>
                <a:endParaRPr lang="en-US" b="1" noProof="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069" y="1555785"/>
                <a:ext cx="6030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 rot="5400000">
            <a:off x="5429256" y="3000372"/>
            <a:ext cx="2000264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73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304800"/>
            <a:ext cx="1905000" cy="14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620000" cy="1143000"/>
          </a:xfrm>
        </p:spPr>
        <p:txBody>
          <a:bodyPr/>
          <a:lstStyle/>
          <a:p>
            <a:pPr algn="l"/>
            <a:r>
              <a:rPr lang="en-US" sz="3600" noProof="0" dirty="0"/>
              <a:t>Misuse of RC4 in Microsoft Office</a:t>
            </a:r>
            <a:br>
              <a:rPr lang="en-US" sz="2400" noProof="0" dirty="0"/>
            </a:br>
            <a:r>
              <a:rPr lang="en-US" sz="2800" b="1" noProof="0" dirty="0">
                <a:solidFill>
                  <a:srgbClr val="00B050"/>
                </a:solidFill>
              </a:rPr>
              <a:t>[</a:t>
            </a:r>
            <a:r>
              <a:rPr lang="en-US" sz="2800" b="1" noProof="0" dirty="0" err="1">
                <a:solidFill>
                  <a:srgbClr val="00B050"/>
                </a:solidFill>
              </a:rPr>
              <a:t>Hongjun</a:t>
            </a:r>
            <a:r>
              <a:rPr lang="en-US" sz="2800" b="1" noProof="0" dirty="0">
                <a:solidFill>
                  <a:srgbClr val="00B050"/>
                </a:solidFill>
              </a:rPr>
              <a:t> Wu 2005]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20675" y="1487488"/>
            <a:ext cx="63937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noProof="0" dirty="0">
                <a:solidFill>
                  <a:srgbClr val="FF0000"/>
                </a:solidFill>
              </a:rPr>
              <a:t>RC4</a:t>
            </a:r>
            <a:r>
              <a:rPr lang="en-US" sz="2000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– a popular PRG/“stream cipher” (now broken) 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057400" y="2057400"/>
            <a:ext cx="5171800" cy="707886"/>
          </a:xfrm>
          <a:prstGeom prst="rect">
            <a:avLst/>
          </a:prstGeom>
          <a:solidFill>
            <a:srgbClr val="F3FAFF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noProof="0" dirty="0"/>
              <a:t>“Microsoft Strong Cryptographic Provider”</a:t>
            </a:r>
          </a:p>
          <a:p>
            <a:r>
              <a:rPr lang="en-US" sz="2000" noProof="0" dirty="0"/>
              <a:t>(encryption in Word and Excel, Office 2003)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20675" y="3011488"/>
            <a:ext cx="8846909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noProof="0" dirty="0"/>
              <a:t>The key 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  <a:r>
              <a:rPr lang="en-US" sz="2000" noProof="0" dirty="0"/>
              <a:t> is a function of a </a:t>
            </a:r>
            <a:r>
              <a:rPr lang="en-US" sz="2000" b="1" noProof="0" dirty="0">
                <a:solidFill>
                  <a:srgbClr val="FF0000"/>
                </a:solidFill>
              </a:rPr>
              <a:t>password</a:t>
            </a:r>
            <a:r>
              <a:rPr lang="en-US" sz="2000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and an </a:t>
            </a:r>
            <a:r>
              <a:rPr lang="en-US" sz="2000" b="1" noProof="0" dirty="0">
                <a:solidFill>
                  <a:srgbClr val="FF0000"/>
                </a:solidFill>
              </a:rPr>
              <a:t>initialization vector</a:t>
            </a:r>
            <a:r>
              <a:rPr lang="en-US" sz="2000" noProof="0" dirty="0"/>
              <a:t>.</a:t>
            </a:r>
          </a:p>
          <a:p>
            <a:pPr algn="l"/>
            <a:endParaRPr lang="en-US" sz="2000" noProof="0" dirty="0"/>
          </a:p>
          <a:p>
            <a:pPr algn="l"/>
            <a:r>
              <a:rPr lang="en-US" sz="2000" noProof="0" dirty="0"/>
              <a:t>These values </a:t>
            </a:r>
            <a:r>
              <a:rPr lang="en-US" sz="2000" b="1" noProof="0" dirty="0">
                <a:solidFill>
                  <a:srgbClr val="0070C0"/>
                </a:solidFill>
              </a:rPr>
              <a:t>do not change between the different versions</a:t>
            </a:r>
            <a:r>
              <a:rPr lang="en-US" sz="2000" noProof="0" dirty="0">
                <a:solidFill>
                  <a:srgbClr val="0070C0"/>
                </a:solidFill>
              </a:rPr>
              <a:t> </a:t>
            </a:r>
            <a:r>
              <a:rPr lang="en-US" sz="2000" noProof="0" dirty="0"/>
              <a:t>of the document!</a:t>
            </a:r>
          </a:p>
          <a:p>
            <a:pPr algn="l"/>
            <a:endParaRPr lang="en-US" sz="2000" noProof="0" dirty="0"/>
          </a:p>
          <a:p>
            <a:pPr algn="l"/>
            <a:r>
              <a:rPr lang="en-US" sz="2000" noProof="0" dirty="0"/>
              <a:t>Suppose </a:t>
            </a:r>
            <a:r>
              <a:rPr lang="en-US" sz="2000" b="1" noProof="0" dirty="0">
                <a:solidFill>
                  <a:srgbClr val="FF0000"/>
                </a:solidFill>
              </a:rPr>
              <a:t>Alice</a:t>
            </a:r>
            <a:r>
              <a:rPr lang="en-US" sz="2000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and </a:t>
            </a:r>
            <a:r>
              <a:rPr lang="en-US" sz="2000" b="1" noProof="0" dirty="0">
                <a:solidFill>
                  <a:srgbClr val="FF0000"/>
                </a:solidFill>
              </a:rPr>
              <a:t>Bob</a:t>
            </a:r>
            <a:r>
              <a:rPr lang="en-US" sz="2000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work together on some document:</a:t>
            </a:r>
          </a:p>
        </p:txBody>
      </p:sp>
      <p:pic>
        <p:nvPicPr>
          <p:cNvPr id="12297" name="Picture 9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78475" y="4840288"/>
            <a:ext cx="815975" cy="847725"/>
          </a:xfrm>
          <a:prstGeom prst="rect">
            <a:avLst/>
          </a:prstGeom>
          <a:noFill/>
        </p:spPr>
      </p:pic>
      <p:pic>
        <p:nvPicPr>
          <p:cNvPr id="12299" name="Picture 11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7875" y="4840288"/>
            <a:ext cx="860425" cy="904875"/>
          </a:xfrm>
          <a:prstGeom prst="rect">
            <a:avLst/>
          </a:prstGeom>
          <a:noFill/>
        </p:spPr>
      </p:pic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1920875" y="5068888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07" name="Text Box 19"/>
              <p:cNvSpPr txBox="1">
                <a:spLocks noChangeArrowheads="1"/>
              </p:cNvSpPr>
              <p:nvPr/>
            </p:nvSpPr>
            <p:spPr bwMode="auto">
              <a:xfrm>
                <a:off x="2952750" y="4840288"/>
                <a:ext cx="1409476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30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4840288"/>
                <a:ext cx="1409476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1920875" y="5602288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sz="20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09" name="Text Box 21"/>
              <p:cNvSpPr txBox="1">
                <a:spLocks noChangeArrowheads="1"/>
              </p:cNvSpPr>
              <p:nvPr/>
            </p:nvSpPr>
            <p:spPr bwMode="auto">
              <a:xfrm>
                <a:off x="2952750" y="5373688"/>
                <a:ext cx="1409476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30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5373688"/>
                <a:ext cx="1409476" cy="400110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10" name="Text Box 22"/>
              <p:cNvSpPr txBox="1">
                <a:spLocks noChangeArrowheads="1"/>
              </p:cNvSpPr>
              <p:nvPr/>
            </p:nvSpPr>
            <p:spPr bwMode="auto">
              <a:xfrm>
                <a:off x="3352800" y="5867400"/>
                <a:ext cx="452733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 b="1" noProof="0" dirty="0"/>
                  <a:t>The adversary can compute</a:t>
                </a:r>
                <a:r>
                  <a:rPr lang="en-US" sz="2000" b="1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𝐱𝐨𝐫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0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31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5867400"/>
                <a:ext cx="4527330" cy="400110"/>
              </a:xfrm>
              <a:prstGeom prst="rect">
                <a:avLst/>
              </a:prstGeom>
              <a:blipFill>
                <a:blip r:embed="rId8"/>
                <a:stretch>
                  <a:fillRect l="-1401" t="-9375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8" name="Picture 10" descr="MCj04359410000[1]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25675" y="5526088"/>
            <a:ext cx="1066800" cy="774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794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300" grpId="0" animBg="1"/>
      <p:bldP spid="12307" grpId="0" animBg="1"/>
      <p:bldP spid="12308" grpId="0" animBg="1"/>
      <p:bldP spid="12309" grpId="0" animBg="1"/>
      <p:bldP spid="123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to do?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US" noProof="0" dirty="0"/>
              <a:t>There are two solutions:</a:t>
            </a:r>
          </a:p>
          <a:p>
            <a:pPr marL="609600" indent="-609600">
              <a:buFontTx/>
              <a:buNone/>
            </a:pPr>
            <a:endParaRPr lang="en-US" noProof="0" dirty="0"/>
          </a:p>
          <a:p>
            <a:pPr marL="609600" indent="-609600">
              <a:buFontTx/>
              <a:buAutoNum type="arabicPeriod"/>
            </a:pPr>
            <a:r>
              <a:rPr lang="en-US" noProof="0" dirty="0"/>
              <a:t>The </a:t>
            </a:r>
            <a:r>
              <a:rPr lang="en-US" b="1" noProof="0" dirty="0">
                <a:solidFill>
                  <a:srgbClr val="0070C0"/>
                </a:solidFill>
              </a:rPr>
              <a:t>synchronized mode</a:t>
            </a:r>
          </a:p>
          <a:p>
            <a:pPr marL="609600" indent="-609600">
              <a:buFontTx/>
              <a:buAutoNum type="arabicPeriod"/>
            </a:pPr>
            <a:endParaRPr lang="en-US" b="1" noProof="0" dirty="0">
              <a:solidFill>
                <a:schemeClr val="accent2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noProof="0" dirty="0"/>
              <a:t>The </a:t>
            </a:r>
            <a:r>
              <a:rPr lang="en-US" b="1" noProof="0" dirty="0">
                <a:solidFill>
                  <a:srgbClr val="0070C0"/>
                </a:solidFill>
              </a:rPr>
              <a:t>unsynchronized mode</a:t>
            </a:r>
          </a:p>
        </p:txBody>
      </p:sp>
    </p:spTree>
    <p:extLst>
      <p:ext uri="{BB962C8B-B14F-4D97-AF65-F5344CB8AC3E}">
        <p14:creationId xmlns:p14="http://schemas.microsoft.com/office/powerpoint/2010/main" val="36490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/>
          </a:bodyPr>
          <a:lstStyle/>
          <a:p>
            <a:r>
              <a:rPr lang="en-US" noProof="0" dirty="0"/>
              <a:t>How to encrypt several messages</a:t>
            </a:r>
          </a:p>
        </p:txBody>
      </p:sp>
      <p:sp>
        <p:nvSpPr>
          <p:cNvPr id="4" name="Line 24"/>
          <p:cNvSpPr>
            <a:spLocks noChangeShapeType="1"/>
          </p:cNvSpPr>
          <p:nvPr/>
        </p:nvSpPr>
        <p:spPr bwMode="auto">
          <a:xfrm>
            <a:off x="1143000" y="5791200"/>
            <a:ext cx="693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30"/>
              <p:cNvSpPr txBox="1">
                <a:spLocks noChangeArrowheads="1"/>
              </p:cNvSpPr>
              <p:nvPr/>
            </p:nvSpPr>
            <p:spPr bwMode="auto">
              <a:xfrm>
                <a:off x="5845175" y="6027738"/>
                <a:ext cx="9906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  <a:latin typeface="Cmsy10"/>
                </a:endParaRPr>
              </a:p>
            </p:txBody>
          </p:sp>
        </mc:Choice>
        <mc:Fallback>
          <p:sp>
            <p:nvSpPr>
              <p:cNvPr id="5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5175" y="6027738"/>
                <a:ext cx="990600" cy="369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381000" y="1785926"/>
                <a:ext cx="7467600" cy="381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65760" marR="0" lvl="0" indent="-283464" algn="l" defTabSz="914400" rtl="0" eaLnBrk="1" fontAlgn="auto" latinLnBrk="0" hangingPunct="1">
                  <a:lnSpc>
                    <a:spcPct val="8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𝑮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:{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  <m:r>
                      <a:rPr kumimoji="0" lang="en-US" sz="2000" b="1" i="1" u="none" strike="noStrike" kern="1200" cap="none" spc="0" normalizeH="0" baseline="3000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𝒏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→ {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𝟎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,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𝟏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}</m:t>
                    </m:r>
                    <m:r>
                      <a:rPr kumimoji="0" lang="en-US" sz="2000" b="1" i="0" u="none" strike="noStrike" kern="1200" cap="none" spc="0" normalizeH="0" baseline="3000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𝐯𝐞𝐫𝐲</m:t>
                    </m:r>
                    <m:r>
                      <a:rPr kumimoji="0" lang="en-US" sz="2000" b="1" i="0" u="none" strike="noStrike" kern="1200" cap="none" spc="0" normalizeH="0" baseline="3000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 </m:t>
                    </m:r>
                    <m:r>
                      <a:rPr kumimoji="0" lang="en-US" sz="2000" b="1" i="0" u="none" strike="noStrike" kern="1200" cap="none" spc="0" normalizeH="0" baseline="3000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itchFamily="34" charset="0"/>
                      </a:rPr>
                      <m:t>𝐥𝐚𝐫𝐠𝐞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– a PRG.</a:t>
                </a:r>
              </a:p>
            </p:txBody>
          </p:sp>
        </mc:Choice>
        <mc:Fallback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785926"/>
                <a:ext cx="7467600" cy="381000"/>
              </a:xfrm>
              <a:prstGeom prst="rect">
                <a:avLst/>
              </a:prstGeom>
              <a:blipFill>
                <a:blip r:embed="rId4"/>
                <a:stretch>
                  <a:fillRect t="-22581" b="-1935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5"/>
              <p:cNvSpPr txBox="1">
                <a:spLocks noChangeArrowheads="1"/>
              </p:cNvSpPr>
              <p:nvPr/>
            </p:nvSpPr>
            <p:spPr bwMode="auto">
              <a:xfrm>
                <a:off x="1143000" y="5181600"/>
                <a:ext cx="16779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5181600"/>
                <a:ext cx="1677988" cy="369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4549775" y="3284538"/>
                <a:ext cx="914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9775" y="3284538"/>
                <a:ext cx="914400" cy="30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1143000" y="4648200"/>
                <a:ext cx="76962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4648200"/>
                <a:ext cx="7696200" cy="381000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8"/>
          <p:cNvSpPr>
            <a:spLocks noChangeArrowheads="1"/>
          </p:cNvSpPr>
          <p:nvPr/>
        </p:nvSpPr>
        <p:spPr bwMode="auto">
          <a:xfrm rot="10800000">
            <a:off x="1143000" y="3657600"/>
            <a:ext cx="7772400" cy="838200"/>
          </a:xfrm>
          <a:custGeom>
            <a:avLst/>
            <a:gdLst>
              <a:gd name="G0" fmla="+- 9514 0 0"/>
              <a:gd name="G1" fmla="+- 21600 0 9514"/>
              <a:gd name="G2" fmla="*/ 9514 1 2"/>
              <a:gd name="G3" fmla="+- 21600 0 G2"/>
              <a:gd name="G4" fmla="+/ 9514 21600 2"/>
              <a:gd name="G5" fmla="+/ G1 0 2"/>
              <a:gd name="G6" fmla="*/ 21600 21600 9514"/>
              <a:gd name="G7" fmla="*/ G6 1 2"/>
              <a:gd name="G8" fmla="+- 21600 0 G7"/>
              <a:gd name="G9" fmla="*/ 21600 1 2"/>
              <a:gd name="G10" fmla="+- 9514 0 G9"/>
              <a:gd name="G11" fmla="?: G10 G8 0"/>
              <a:gd name="G12" fmla="?: G10 G7 21600"/>
              <a:gd name="T0" fmla="*/ 16843 w 21600"/>
              <a:gd name="T1" fmla="*/ 10800 h 21600"/>
              <a:gd name="T2" fmla="*/ 10800 w 21600"/>
              <a:gd name="T3" fmla="*/ 21600 h 21600"/>
              <a:gd name="T4" fmla="*/ 4757 w 21600"/>
              <a:gd name="T5" fmla="*/ 10800 h 21600"/>
              <a:gd name="T6" fmla="*/ 10800 w 21600"/>
              <a:gd name="T7" fmla="*/ 0 h 21600"/>
              <a:gd name="T8" fmla="*/ 6557 w 21600"/>
              <a:gd name="T9" fmla="*/ 6557 h 21600"/>
              <a:gd name="T10" fmla="*/ 15043 w 21600"/>
              <a:gd name="T11" fmla="*/ 1504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9514" y="21600"/>
                </a:lnTo>
                <a:lnTo>
                  <a:pt x="12086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21"/>
              <p:cNvSpPr txBox="1">
                <a:spLocks noChangeArrowheads="1"/>
              </p:cNvSpPr>
              <p:nvPr/>
            </p:nvSpPr>
            <p:spPr bwMode="auto">
              <a:xfrm>
                <a:off x="2873375" y="5189538"/>
                <a:ext cx="838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75" y="5189538"/>
                <a:ext cx="838200" cy="369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22"/>
              <p:cNvSpPr txBox="1">
                <a:spLocks noChangeArrowheads="1"/>
              </p:cNvSpPr>
              <p:nvPr/>
            </p:nvSpPr>
            <p:spPr bwMode="auto">
              <a:xfrm>
                <a:off x="3787775" y="5189538"/>
                <a:ext cx="1981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7775" y="5189538"/>
                <a:ext cx="1981200" cy="369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23"/>
              <p:cNvSpPr txBox="1">
                <a:spLocks noChangeArrowheads="1"/>
              </p:cNvSpPr>
              <p:nvPr/>
            </p:nvSpPr>
            <p:spPr bwMode="auto">
              <a:xfrm>
                <a:off x="5845175" y="5189538"/>
                <a:ext cx="9906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5175" y="5189538"/>
                <a:ext cx="990600" cy="369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705600" y="3657600"/>
            <a:ext cx="2438400" cy="320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7207250" y="4379913"/>
            <a:ext cx="604846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b="1" noProof="0" dirty="0"/>
              <a:t>. . .</a:t>
            </a: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381000" y="56388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noProof="0" dirty="0" err="1">
                <a:solidFill>
                  <a:srgbClr val="FF0000"/>
                </a:solidFill>
              </a:rPr>
              <a:t>xor</a:t>
            </a:r>
            <a:endParaRPr lang="en-US" b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27"/>
              <p:cNvSpPr txBox="1">
                <a:spLocks noChangeArrowheads="1"/>
              </p:cNvSpPr>
              <p:nvPr/>
            </p:nvSpPr>
            <p:spPr bwMode="auto">
              <a:xfrm>
                <a:off x="1143000" y="6019800"/>
                <a:ext cx="16779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6019800"/>
                <a:ext cx="1677988" cy="369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28"/>
              <p:cNvSpPr txBox="1">
                <a:spLocks noChangeArrowheads="1"/>
              </p:cNvSpPr>
              <p:nvPr/>
            </p:nvSpPr>
            <p:spPr bwMode="auto">
              <a:xfrm>
                <a:off x="2873375" y="6027738"/>
                <a:ext cx="838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75" y="6027738"/>
                <a:ext cx="838200" cy="369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29"/>
              <p:cNvSpPr txBox="1">
                <a:spLocks noChangeArrowheads="1"/>
              </p:cNvSpPr>
              <p:nvPr/>
            </p:nvSpPr>
            <p:spPr bwMode="auto">
              <a:xfrm>
                <a:off x="3787775" y="6027738"/>
                <a:ext cx="1981200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7775" y="6027738"/>
                <a:ext cx="1981200" cy="369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Box 31"/>
              <p:cNvSpPr txBox="1">
                <a:spLocks noChangeArrowheads="1"/>
              </p:cNvSpPr>
              <p:nvPr/>
            </p:nvSpPr>
            <p:spPr bwMode="auto">
              <a:xfrm>
                <a:off x="3863975" y="3970338"/>
                <a:ext cx="2419350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is computed “on fly”</a:t>
                </a:r>
              </a:p>
            </p:txBody>
          </p:sp>
        </mc:Choice>
        <mc:Fallback>
          <p:sp>
            <p:nvSpPr>
              <p:cNvPr id="20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975" y="3970338"/>
                <a:ext cx="2419350" cy="366712"/>
              </a:xfrm>
              <a:prstGeom prst="rect">
                <a:avLst/>
              </a:prstGeom>
              <a:blipFill>
                <a:blip r:embed="rId14"/>
                <a:stretch>
                  <a:fillRect t="-6667" r="-524" b="-2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00034" y="2633650"/>
                <a:ext cx="22767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/>
                  <a:t>divide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noProof="0" dirty="0"/>
                  <a:t> </a:t>
                </a:r>
                <a:r>
                  <a:rPr lang="en-US" noProof="0" dirty="0"/>
                  <a:t>in blocks:</a:t>
                </a: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2633650"/>
                <a:ext cx="2276714" cy="369332"/>
              </a:xfrm>
              <a:prstGeom prst="rect">
                <a:avLst/>
              </a:prstGeom>
              <a:blipFill>
                <a:blip r:embed="rId15"/>
                <a:stretch>
                  <a:fillRect l="-2222" t="-6667" r="-2222" b="-2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 rot="5400000">
            <a:off x="2572530" y="4856966"/>
            <a:ext cx="571504" cy="15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3429786" y="4856966"/>
            <a:ext cx="571504" cy="15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5501488" y="4856966"/>
            <a:ext cx="571504" cy="158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214942" y="1785926"/>
            <a:ext cx="3429024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this can be proven to be CPA-secure</a:t>
            </a:r>
          </a:p>
        </p:txBody>
      </p:sp>
    </p:spTree>
    <p:extLst>
      <p:ext uri="{BB962C8B-B14F-4D97-AF65-F5344CB8AC3E}">
        <p14:creationId xmlns:p14="http://schemas.microsoft.com/office/powerpoint/2010/main" val="301586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80039"/>
            <a:ext cx="7886700" cy="1325563"/>
          </a:xfrm>
        </p:spPr>
        <p:txBody>
          <a:bodyPr/>
          <a:lstStyle/>
          <a:p>
            <a:r>
              <a:rPr lang="en-US" noProof="0" dirty="0"/>
              <a:t>Unsynchronized mode</a:t>
            </a: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 flipV="1">
            <a:off x="5105400" y="4648200"/>
            <a:ext cx="37338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5" name="Text Box 5"/>
              <p:cNvSpPr txBox="1">
                <a:spLocks noChangeArrowheads="1"/>
              </p:cNvSpPr>
              <p:nvPr/>
            </p:nvSpPr>
            <p:spPr bwMode="auto">
              <a:xfrm>
                <a:off x="5105400" y="4038600"/>
                <a:ext cx="3733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6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4038600"/>
                <a:ext cx="3733800" cy="369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66" name="Rectangle 6"/>
              <p:cNvSpPr>
                <a:spLocks noChangeArrowheads="1"/>
              </p:cNvSpPr>
              <p:nvPr/>
            </p:nvSpPr>
            <p:spPr bwMode="auto">
              <a:xfrm>
                <a:off x="7086600" y="2057400"/>
                <a:ext cx="6858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6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600" y="2057400"/>
                <a:ext cx="685800" cy="30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67" name="Rectangle 7"/>
              <p:cNvSpPr>
                <a:spLocks noChangeArrowheads="1"/>
              </p:cNvSpPr>
              <p:nvPr/>
            </p:nvSpPr>
            <p:spPr bwMode="auto">
              <a:xfrm>
                <a:off x="5105400" y="3505200"/>
                <a:ext cx="37338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6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3505200"/>
                <a:ext cx="3733800" cy="381000"/>
              </a:xfrm>
              <a:prstGeom prst="rect">
                <a:avLst/>
              </a:prstGeom>
              <a:blipFill>
                <a:blip r:embed="rId5"/>
                <a:stretch>
                  <a:fillRect b="-1562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8" name="AutoShape 8"/>
          <p:cNvSpPr>
            <a:spLocks noChangeArrowheads="1"/>
          </p:cNvSpPr>
          <p:nvPr/>
        </p:nvSpPr>
        <p:spPr bwMode="auto">
          <a:xfrm rot="10800000">
            <a:off x="5105400" y="2438400"/>
            <a:ext cx="3733800" cy="838200"/>
          </a:xfrm>
          <a:custGeom>
            <a:avLst/>
            <a:gdLst>
              <a:gd name="G0" fmla="+- 5969 0 0"/>
              <a:gd name="G1" fmla="+- 21600 0 5969"/>
              <a:gd name="G2" fmla="*/ 5969 1 2"/>
              <a:gd name="G3" fmla="+- 21600 0 G2"/>
              <a:gd name="G4" fmla="+/ 5969 21600 2"/>
              <a:gd name="G5" fmla="+/ G1 0 2"/>
              <a:gd name="G6" fmla="*/ 21600 21600 5969"/>
              <a:gd name="G7" fmla="*/ G6 1 2"/>
              <a:gd name="G8" fmla="+- 21600 0 G7"/>
              <a:gd name="G9" fmla="*/ 21600 1 2"/>
              <a:gd name="G10" fmla="+- 5969 0 G9"/>
              <a:gd name="G11" fmla="?: G10 G8 0"/>
              <a:gd name="G12" fmla="?: G10 G7 21600"/>
              <a:gd name="T0" fmla="*/ 18615 w 21600"/>
              <a:gd name="T1" fmla="*/ 10800 h 21600"/>
              <a:gd name="T2" fmla="*/ 10800 w 21600"/>
              <a:gd name="T3" fmla="*/ 21600 h 21600"/>
              <a:gd name="T4" fmla="*/ 2985 w 21600"/>
              <a:gd name="T5" fmla="*/ 10800 h 21600"/>
              <a:gd name="T6" fmla="*/ 10800 w 21600"/>
              <a:gd name="T7" fmla="*/ 0 h 21600"/>
              <a:gd name="T8" fmla="*/ 4785 w 21600"/>
              <a:gd name="T9" fmla="*/ 4785 h 21600"/>
              <a:gd name="T10" fmla="*/ 16815 w 21600"/>
              <a:gd name="T11" fmla="*/ 1681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9" y="21600"/>
                </a:lnTo>
                <a:lnTo>
                  <a:pt x="15631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9" name="Text Box 9"/>
              <p:cNvSpPr txBox="1">
                <a:spLocks noChangeArrowheads="1"/>
              </p:cNvSpPr>
              <p:nvPr/>
            </p:nvSpPr>
            <p:spPr bwMode="auto">
              <a:xfrm>
                <a:off x="5105400" y="4876800"/>
                <a:ext cx="3733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6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4876800"/>
                <a:ext cx="3733800" cy="369888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70" name="Rectangle 10"/>
              <p:cNvSpPr>
                <a:spLocks noChangeArrowheads="1"/>
              </p:cNvSpPr>
              <p:nvPr/>
            </p:nvSpPr>
            <p:spPr bwMode="auto">
              <a:xfrm>
                <a:off x="6172200" y="2057400"/>
                <a:ext cx="8382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7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2057400"/>
                <a:ext cx="838200" cy="304800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495800" y="44196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noProof="0" dirty="0" err="1">
                <a:solidFill>
                  <a:srgbClr val="FF0000"/>
                </a:solidFill>
              </a:rPr>
              <a:t>xor</a:t>
            </a:r>
            <a:endParaRPr lang="en-US" b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2" name="Rectangle 12"/>
              <p:cNvSpPr>
                <a:spLocks noChangeArrowheads="1"/>
              </p:cNvSpPr>
              <p:nvPr/>
            </p:nvSpPr>
            <p:spPr bwMode="auto">
              <a:xfrm>
                <a:off x="4114800" y="4876800"/>
                <a:ext cx="8382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72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4876800"/>
                <a:ext cx="8382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4" name="AutoShape 14"/>
          <p:cNvSpPr>
            <a:spLocks/>
          </p:cNvSpPr>
          <p:nvPr/>
        </p:nvSpPr>
        <p:spPr bwMode="auto">
          <a:xfrm rot="16200000">
            <a:off x="6305550" y="3219450"/>
            <a:ext cx="381000" cy="4762500"/>
          </a:xfrm>
          <a:prstGeom prst="leftBrace">
            <a:avLst>
              <a:gd name="adj1" fmla="val 104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5" name="Text Box 15"/>
              <p:cNvSpPr txBox="1">
                <a:spLocks noChangeArrowheads="1"/>
              </p:cNvSpPr>
              <p:nvPr/>
            </p:nvSpPr>
            <p:spPr bwMode="auto">
              <a:xfrm>
                <a:off x="5867400" y="5943600"/>
                <a:ext cx="130830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7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5943600"/>
                <a:ext cx="1308307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76" name="Text Box 16"/>
              <p:cNvSpPr txBox="1">
                <a:spLocks noChangeArrowheads="1"/>
              </p:cNvSpPr>
              <p:nvPr/>
            </p:nvSpPr>
            <p:spPr bwMode="auto">
              <a:xfrm>
                <a:off x="152400" y="1391313"/>
                <a:ext cx="3657600" cy="495520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US" sz="2800" b="1" u="sng" noProof="0" dirty="0">
                    <a:solidFill>
                      <a:srgbClr val="0070C0"/>
                    </a:solidFill>
                  </a:rPr>
                  <a:t>Idea</a:t>
                </a:r>
              </a:p>
              <a:p>
                <a:endParaRPr lang="en-US" sz="2800" u="sng" noProof="0" dirty="0"/>
              </a:p>
              <a:p>
                <a:r>
                  <a:rPr lang="en-US" sz="2000" b="1" noProof="0" dirty="0"/>
                  <a:t>Randomize the encryption procedure.</a:t>
                </a:r>
              </a:p>
              <a:p>
                <a:pPr algn="l"/>
                <a:endParaRPr lang="en-US" sz="2000" noProof="0" dirty="0"/>
              </a:p>
              <a:p>
                <a:pPr algn="l"/>
                <a:r>
                  <a:rPr lang="en-US" sz="2000" noProof="0" dirty="0"/>
                  <a:t>Assume that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noProof="0" dirty="0"/>
                  <a:t>takes as an additional input</a:t>
                </a:r>
                <a:br>
                  <a:rPr lang="en-US" sz="2000" noProof="0" dirty="0"/>
                </a:br>
                <a:endParaRPr lang="en-US" sz="2000" noProof="0" dirty="0"/>
              </a:p>
              <a:p>
                <a:r>
                  <a:rPr lang="en-US" sz="2000" noProof="0" dirty="0"/>
                  <a:t>an </a:t>
                </a:r>
                <a:r>
                  <a:rPr lang="en-US" sz="2000" b="1" noProof="0" dirty="0">
                    <a:solidFill>
                      <a:srgbClr val="0070C0"/>
                    </a:solidFill>
                  </a:rPr>
                  <a:t>initialization vector </a:t>
                </a:r>
                <a:r>
                  <a:rPr lang="en-US" sz="2000" noProof="0" dirty="0"/>
                  <a:t>(</a:t>
                </a:r>
                <a14:m>
                  <m:oMath xmlns:m="http://schemas.openxmlformats.org/officeDocument/2006/math">
                    <m:r>
                      <a:rPr lang="en-US" sz="20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𝐈𝐕</m:t>
                    </m:r>
                  </m:oMath>
                </a14:m>
                <a:r>
                  <a:rPr lang="en-US" sz="2000" noProof="0" dirty="0"/>
                  <a:t>).</a:t>
                </a:r>
              </a:p>
              <a:p>
                <a:endParaRPr lang="en-US" sz="2000" noProof="0" dirty="0"/>
              </a:p>
              <a:p>
                <a:pPr algn="l"/>
                <a:r>
                  <a:rPr lang="en-US" sz="2000" noProof="0" dirty="0"/>
                  <a:t>The 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Enc</a:t>
                </a:r>
                <a:r>
                  <a:rPr lang="en-US" sz="20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noProof="0" dirty="0"/>
                  <a:t>algorithm selects a fresh random </a:t>
                </a:r>
                <a:r>
                  <a:rPr lang="en-US" sz="2000" b="1" noProof="0" dirty="0" err="1">
                    <a:solidFill>
                      <a:srgbClr val="FF0000"/>
                    </a:solidFill>
                  </a:rPr>
                  <a:t>IV</a:t>
                </a:r>
                <a:r>
                  <a:rPr lang="en-US" sz="2000" b="1" i="1" baseline="-25000" noProof="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sz="2000" b="1" noProof="0" dirty="0"/>
                  <a:t> </a:t>
                </a:r>
                <a:r>
                  <a:rPr lang="en-US" sz="2000" noProof="0" dirty="0"/>
                  <a:t>for each message 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m</a:t>
                </a:r>
                <a:r>
                  <a:rPr lang="en-US" sz="2000" b="1" i="1" baseline="-25000" noProof="0" dirty="0">
                    <a:solidFill>
                      <a:srgbClr val="FF0000"/>
                    </a:solidFill>
                  </a:rPr>
                  <a:t>i</a:t>
                </a:r>
                <a:r>
                  <a:rPr lang="en-US" sz="2000" noProof="0" dirty="0"/>
                  <a:t>.</a:t>
                </a:r>
              </a:p>
              <a:p>
                <a:pPr algn="r"/>
                <a:r>
                  <a:rPr lang="en-US" sz="2000" noProof="0" dirty="0"/>
                  <a:t>Later </a:t>
                </a:r>
                <a:r>
                  <a:rPr lang="en-US" sz="2000" b="1" noProof="0" dirty="0" err="1">
                    <a:solidFill>
                      <a:srgbClr val="FF0000"/>
                    </a:solidFill>
                  </a:rPr>
                  <a:t>IV</a:t>
                </a:r>
                <a:r>
                  <a:rPr lang="en-US" sz="2000" b="1" i="1" baseline="-25000" noProof="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sz="2000" b="1" i="1" baseline="-250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b="1" baseline="-25000" noProof="0" dirty="0">
                    <a:solidFill>
                      <a:srgbClr val="990000"/>
                    </a:solidFill>
                  </a:rPr>
                  <a:t> </a:t>
                </a:r>
                <a:r>
                  <a:rPr lang="en-US" sz="2000" noProof="0" dirty="0"/>
                  <a:t>is included in the </a:t>
                </a:r>
                <a:r>
                  <a:rPr lang="en-US" sz="2000" b="1" noProof="0" dirty="0"/>
                  <a:t>ciphertext</a:t>
                </a:r>
              </a:p>
            </p:txBody>
          </p:sp>
        </mc:Choice>
        <mc:Fallback>
          <p:sp>
            <p:nvSpPr>
              <p:cNvPr id="1537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391313"/>
                <a:ext cx="3657600" cy="4955203"/>
              </a:xfrm>
              <a:prstGeom prst="rect">
                <a:avLst/>
              </a:prstGeom>
              <a:blipFill>
                <a:blip r:embed="rId10"/>
                <a:stretch>
                  <a:fillRect l="-3448" t="-1018" r="-3103" b="-127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ular Callout 1"/>
          <p:cNvSpPr/>
          <p:nvPr/>
        </p:nvSpPr>
        <p:spPr>
          <a:xfrm>
            <a:off x="3983467" y="1814513"/>
            <a:ext cx="1541033" cy="997297"/>
          </a:xfrm>
          <a:prstGeom prst="wedgeRectCallout">
            <a:avLst>
              <a:gd name="adj1" fmla="val -139506"/>
              <a:gd name="adj2" fmla="val 18309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weaker version: a </a:t>
            </a:r>
            <a:r>
              <a:rPr lang="en-US" b="1" noProof="0" dirty="0">
                <a:solidFill>
                  <a:srgbClr val="0070C0"/>
                </a:solidFill>
              </a:rPr>
              <a:t>nonce</a:t>
            </a:r>
            <a:r>
              <a:rPr lang="en-US" noProof="0" dirty="0">
                <a:solidFill>
                  <a:schemeClr val="tx1"/>
                </a:solidFill>
              </a:rPr>
              <a:t>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416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  <p:bldP spid="15366" grpId="0" animBg="1"/>
      <p:bldP spid="15367" grpId="0" animBg="1"/>
      <p:bldP spid="15368" grpId="0" animBg="1"/>
      <p:bldP spid="15369" grpId="0" animBg="1"/>
      <p:bldP spid="15370" grpId="0" animBg="1"/>
      <p:bldP spid="15371" grpId="0"/>
      <p:bldP spid="15372" grpId="0" animBg="1"/>
      <p:bldP spid="15374" grpId="0" animBg="1"/>
      <p:bldP spid="15375" grpId="0"/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2" name="AutoShape 8"/>
          <p:cNvSpPr>
            <a:spLocks noChangeArrowheads="1"/>
          </p:cNvSpPr>
          <p:nvPr/>
        </p:nvSpPr>
        <p:spPr bwMode="auto">
          <a:xfrm rot="-1249413">
            <a:off x="457200" y="2971800"/>
            <a:ext cx="2743200" cy="2873375"/>
          </a:xfrm>
          <a:prstGeom prst="curvedRightArrow">
            <a:avLst>
              <a:gd name="adj1" fmla="val 6624"/>
              <a:gd name="adj2" fmla="val 27573"/>
              <a:gd name="adj3" fmla="val 33333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noProof="0" dirty="0"/>
              <a:t>We need an “augmented” PRG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736899"/>
                <a:ext cx="8610600" cy="194280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Tx/>
                  <a:buNone/>
                </a:pPr>
                <a:r>
                  <a:rPr lang="en-US" sz="2000" noProof="0" dirty="0"/>
                  <a:t>We need a </a:t>
                </a:r>
                <a:r>
                  <a:rPr lang="en-US" sz="2000" b="1" noProof="0" dirty="0">
                    <a:solidFill>
                      <a:srgbClr val="0070C0"/>
                    </a:solidFill>
                  </a:rPr>
                  <a:t>PRG</a:t>
                </a:r>
                <a:r>
                  <a:rPr lang="en-US" sz="2000" noProof="0" dirty="0"/>
                  <a:t> such that the adversary cannot distinguish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i="0" noProof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2000" noProof="0" dirty="0"/>
                  <a:t>from a random string even if she knows 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IV </a:t>
                </a:r>
                <a:r>
                  <a:rPr lang="en-US" sz="2000" noProof="0" dirty="0"/>
                  <a:t>and</a:t>
                </a:r>
                <a:r>
                  <a:rPr lang="en-US" sz="20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2000" noProof="0" dirty="0"/>
                  <a:t>some pairs </a:t>
                </a:r>
              </a:p>
              <a:p>
                <a:pPr algn="ctr">
                  <a:lnSpc>
                    <a:spcPct val="10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000" b="1" i="0" noProof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i="0" noProof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sz="2000" b="1" i="1" baseline="-2500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sz="2000" b="1" i="0" noProof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1" i="0" noProof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sz="2000" b="1" i="1" baseline="-25000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1" i="0" noProof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i="0" noProof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sz="2000" b="1" i="1" baseline="-2500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sz="2000" b="1" i="0" noProof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1" i="0" noProof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sz="2000" b="1" i="1" baseline="-25000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1" i="0" noProof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i="0" noProof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sz="2000" b="1" i="1" baseline="-2500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sz="2000" b="1" i="0" noProof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1" i="0" noProof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sz="2000" b="1" i="1" baseline="-25000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. . .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buFontTx/>
                  <a:buNone/>
                </a:pPr>
                <a:r>
                  <a:rPr lang="en-US" sz="2000" noProof="0" dirty="0"/>
                  <a:t>where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noProof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noProof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noProof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1" i="0" noProof="0">
                        <a:solidFill>
                          <a:srgbClr val="FF0000"/>
                        </a:solidFill>
                      </a:rPr>
                      <m:t>IV</m:t>
                    </m:r>
                    <m:r>
                      <a:rPr lang="en-US" sz="2000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  </m:t>
                    </m:r>
                  </m:oMath>
                </a14:m>
                <a:r>
                  <a:rPr lang="en-US" sz="2000" noProof="0" dirty="0"/>
                  <a:t>are random.</a:t>
                </a:r>
              </a:p>
            </p:txBody>
          </p:sp>
        </mc:Choice>
        <mc:Fallback>
          <p:sp>
            <p:nvSpPr>
              <p:cNvPr id="16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736899"/>
                <a:ext cx="8610600" cy="1942801"/>
              </a:xfrm>
              <a:blipFill>
                <a:blip r:embed="rId3"/>
                <a:stretch>
                  <a:fillRect l="-736" t="-194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276600" y="2590800"/>
            <a:ext cx="6858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i="1" noProof="0" dirty="0">
                <a:solidFill>
                  <a:srgbClr val="FF0000"/>
                </a:solidFill>
              </a:rPr>
              <a:t>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9" name="Rectangle 5"/>
              <p:cNvSpPr>
                <a:spLocks noChangeArrowheads="1"/>
              </p:cNvSpPr>
              <p:nvPr/>
            </p:nvSpPr>
            <p:spPr bwMode="auto">
              <a:xfrm>
                <a:off x="1295400" y="3962400"/>
                <a:ext cx="37338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1" i="0" noProof="0">
                          <a:solidFill>
                            <a:srgbClr val="FF0000"/>
                          </a:solidFill>
                        </a:rPr>
                        <m:t>IV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38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3962400"/>
                <a:ext cx="3733800" cy="38100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0" name="AutoShape 6"/>
          <p:cNvSpPr>
            <a:spLocks noChangeArrowheads="1"/>
          </p:cNvSpPr>
          <p:nvPr/>
        </p:nvSpPr>
        <p:spPr bwMode="auto">
          <a:xfrm rot="10800000">
            <a:off x="1295400" y="2971800"/>
            <a:ext cx="3733800" cy="838200"/>
          </a:xfrm>
          <a:custGeom>
            <a:avLst/>
            <a:gdLst>
              <a:gd name="G0" fmla="+- 5969 0 0"/>
              <a:gd name="G1" fmla="+- 21600 0 5969"/>
              <a:gd name="G2" fmla="*/ 5969 1 2"/>
              <a:gd name="G3" fmla="+- 21600 0 G2"/>
              <a:gd name="G4" fmla="+/ 5969 21600 2"/>
              <a:gd name="G5" fmla="+/ G1 0 2"/>
              <a:gd name="G6" fmla="*/ 21600 21600 5969"/>
              <a:gd name="G7" fmla="*/ G6 1 2"/>
              <a:gd name="G8" fmla="+- 21600 0 G7"/>
              <a:gd name="G9" fmla="*/ 21600 1 2"/>
              <a:gd name="G10" fmla="+- 5969 0 G9"/>
              <a:gd name="G11" fmla="?: G10 G8 0"/>
              <a:gd name="G12" fmla="?: G10 G7 21600"/>
              <a:gd name="T0" fmla="*/ 18615 w 21600"/>
              <a:gd name="T1" fmla="*/ 10800 h 21600"/>
              <a:gd name="T2" fmla="*/ 10800 w 21600"/>
              <a:gd name="T3" fmla="*/ 21600 h 21600"/>
              <a:gd name="T4" fmla="*/ 2985 w 21600"/>
              <a:gd name="T5" fmla="*/ 10800 h 21600"/>
              <a:gd name="T6" fmla="*/ 10800 w 21600"/>
              <a:gd name="T7" fmla="*/ 0 h 21600"/>
              <a:gd name="T8" fmla="*/ 4785 w 21600"/>
              <a:gd name="T9" fmla="*/ 4785 h 21600"/>
              <a:gd name="T10" fmla="*/ 16815 w 21600"/>
              <a:gd name="T11" fmla="*/ 1681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9" y="21600"/>
                </a:lnTo>
                <a:lnTo>
                  <a:pt x="15631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10800000" wrap="none" anchor="ctr"/>
          <a:lstStyle/>
          <a:p>
            <a:pPr algn="ctr"/>
            <a:r>
              <a:rPr lang="en-US" b="1" i="1" noProof="0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2362200" y="2590800"/>
            <a:ext cx="8382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IV</a:t>
            </a:r>
            <a:endParaRPr lang="en-US" b="1" baseline="-25000" noProof="0" dirty="0">
              <a:solidFill>
                <a:srgbClr val="FF0000"/>
              </a:solidFill>
            </a:endParaRPr>
          </a:p>
        </p:txBody>
      </p:sp>
      <p:pic>
        <p:nvPicPr>
          <p:cNvPr id="16393" name="Picture 9" descr="MCj0435941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4953000"/>
            <a:ext cx="1447800" cy="105092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395" name="Rectangle 11"/>
              <p:cNvSpPr>
                <a:spLocks noChangeArrowheads="1"/>
              </p:cNvSpPr>
              <p:nvPr/>
            </p:nvSpPr>
            <p:spPr bwMode="auto">
              <a:xfrm>
                <a:off x="5145537" y="3971392"/>
                <a:ext cx="37338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39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5537" y="3971392"/>
                <a:ext cx="37338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397" name="Rectangle 13"/>
              <p:cNvSpPr>
                <a:spLocks noChangeArrowheads="1"/>
              </p:cNvSpPr>
              <p:nvPr/>
            </p:nvSpPr>
            <p:spPr bwMode="auto">
              <a:xfrm>
                <a:off x="3124200" y="5334000"/>
                <a:ext cx="8382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397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5334000"/>
                <a:ext cx="838200" cy="304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5594350" y="4635500"/>
            <a:ext cx="80486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8000" b="1" noProof="0" dirty="0">
                <a:solidFill>
                  <a:srgbClr val="990000"/>
                </a:solidFill>
              </a:rPr>
              <a:t>?</a:t>
            </a:r>
          </a:p>
        </p:txBody>
      </p:sp>
      <p:sp>
        <p:nvSpPr>
          <p:cNvPr id="16399" name="AutoShape 15"/>
          <p:cNvSpPr>
            <a:spLocks noChangeArrowheads="1"/>
          </p:cNvSpPr>
          <p:nvPr/>
        </p:nvSpPr>
        <p:spPr bwMode="auto">
          <a:xfrm>
            <a:off x="4459737" y="2429935"/>
            <a:ext cx="4419600" cy="381000"/>
          </a:xfrm>
          <a:prstGeom prst="wedgeRoundRectCallout">
            <a:avLst>
              <a:gd name="adj1" fmla="val 2157"/>
              <a:gd name="adj2" fmla="val -370833"/>
              <a:gd name="adj3" fmla="val 16667"/>
            </a:avLst>
          </a:prstGeom>
          <a:solidFill>
            <a:srgbClr val="F3FA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with a non-negligible advantage</a:t>
            </a:r>
          </a:p>
        </p:txBody>
      </p:sp>
      <p:sp>
        <p:nvSpPr>
          <p:cNvPr id="16401" name="AutoShape 17"/>
          <p:cNvSpPr>
            <a:spLocks noChangeArrowheads="1"/>
          </p:cNvSpPr>
          <p:nvPr/>
        </p:nvSpPr>
        <p:spPr bwMode="auto">
          <a:xfrm rot="-13844827">
            <a:off x="4351338" y="4089400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6403" name="AutoShape 19"/>
          <p:cNvSpPr>
            <a:spLocks noChangeArrowheads="1"/>
          </p:cNvSpPr>
          <p:nvPr/>
        </p:nvSpPr>
        <p:spPr bwMode="auto">
          <a:xfrm rot="-8209910">
            <a:off x="5486400" y="4114800"/>
            <a:ext cx="304800" cy="838200"/>
          </a:xfrm>
          <a:prstGeom prst="upArrow">
            <a:avLst>
              <a:gd name="adj1" fmla="val 50000"/>
              <a:gd name="adj2" fmla="val 68750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876800" y="441960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noProof="0" dirty="0"/>
              <a:t>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06" name="Text Box 22"/>
              <p:cNvSpPr txBox="1">
                <a:spLocks noChangeArrowheads="1"/>
              </p:cNvSpPr>
              <p:nvPr/>
            </p:nvSpPr>
            <p:spPr bwMode="auto">
              <a:xfrm>
                <a:off x="652024" y="5867400"/>
                <a:ext cx="5150191" cy="4049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1" i="0" noProof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noProof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b="1" i="1" baseline="-2500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0" noProof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noProof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b="1" i="1" baseline="-25000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1" i="0" noProof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noProof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b="1" i="1" baseline="-2500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0" noProof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noProof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b="1" i="1" baseline="-25000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1" i="0" noProof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noProof="0">
                              <a:solidFill>
                                <a:srgbClr val="FF0000"/>
                              </a:solidFill>
                            </a:rPr>
                            <m:t>IV</m:t>
                          </m:r>
                          <m:r>
                            <a:rPr lang="en-US" b="1" i="1" baseline="-2500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d>
                            <m:dPr>
                              <m:ctrlPr>
                                <a:rPr lang="en-US" b="1" i="0" noProof="0">
                                  <a:solidFill>
                                    <a:srgbClr val="FF0000"/>
                                  </a:solidFill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noProof="0">
                                  <a:solidFill>
                                    <a:srgbClr val="FF0000"/>
                                  </a:solidFill>
                                </a:rPr>
                                <m:t>IV</m:t>
                              </m:r>
                              <m:r>
                                <a:rPr lang="en-US" b="1" i="1" baseline="-25000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. . .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40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024" y="5867400"/>
                <a:ext cx="5150191" cy="404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77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  <p:bldP spid="16388" grpId="0" animBg="1"/>
      <p:bldP spid="16389" grpId="0" animBg="1"/>
      <p:bldP spid="16390" grpId="0" animBg="1"/>
      <p:bldP spid="16391" grpId="0" animBg="1"/>
      <p:bldP spid="16395" grpId="0" animBg="1"/>
      <p:bldP spid="16397" grpId="0" animBg="1"/>
      <p:bldP spid="16398" grpId="0"/>
      <p:bldP spid="16399" grpId="0" animBg="1"/>
      <p:bldP spid="16399" grpId="1" animBg="1"/>
      <p:bldP spid="16401" grpId="0" animBg="1"/>
      <p:bldP spid="16403" grpId="0" animBg="1"/>
      <p:bldP spid="16405" grpId="0"/>
      <p:bldP spid="1640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413" name="Rectangle 5"/>
              <p:cNvSpPr>
                <a:spLocks noChangeArrowheads="1"/>
              </p:cNvSpPr>
              <p:nvPr/>
            </p:nvSpPr>
            <p:spPr bwMode="auto">
              <a:xfrm>
                <a:off x="0" y="4648200"/>
                <a:ext cx="9144000" cy="1524000"/>
              </a:xfrm>
              <a:prstGeom prst="rect">
                <a:avLst/>
              </a:prstGeom>
              <a:solidFill>
                <a:srgbClr val="FFFFD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609600" indent="-609600"/>
                <a:r>
                  <a:rPr lang="en-US" sz="2800" noProof="0" dirty="0"/>
                  <a:t>A more </a:t>
                </a:r>
                <a:r>
                  <a:rPr lang="en-US" sz="2800" b="1" noProof="0" dirty="0">
                    <a:solidFill>
                      <a:srgbClr val="0070C0"/>
                    </a:solidFill>
                  </a:rPr>
                  <a:t>modern approach</a:t>
                </a:r>
                <a:r>
                  <a:rPr lang="en-US" sz="2800" noProof="0" dirty="0"/>
                  <a:t>:</a:t>
                </a:r>
              </a:p>
              <a:p>
                <a:pPr marL="990600" lvl="1" indent="-533400" algn="ctr">
                  <a:buFontTx/>
                  <a:buNone/>
                </a:pPr>
                <a:r>
                  <a:rPr lang="en-US" sz="2400" noProof="0" dirty="0"/>
                  <a:t>design such a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noProof="0" dirty="0"/>
                  <a:t> from scratch.</a:t>
                </a:r>
              </a:p>
            </p:txBody>
          </p:sp>
        </mc:Choice>
        <mc:Fallback>
          <p:sp>
            <p:nvSpPr>
              <p:cNvPr id="1741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648200"/>
                <a:ext cx="9144000" cy="1524000"/>
              </a:xfrm>
              <a:prstGeom prst="rect">
                <a:avLst/>
              </a:prstGeom>
              <a:blipFill>
                <a:blip r:embed="rId3"/>
                <a:stretch>
                  <a:fillRect l="-138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12" name="Rectangle 4"/>
              <p:cNvSpPr>
                <a:spLocks noChangeArrowheads="1"/>
              </p:cNvSpPr>
              <p:nvPr/>
            </p:nvSpPr>
            <p:spPr bwMode="auto">
              <a:xfrm>
                <a:off x="0" y="1447800"/>
                <a:ext cx="9144000" cy="3200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anchor="ctr"/>
              <a:lstStyle/>
              <a:p>
                <a:pPr marL="609600" indent="-609600"/>
                <a:r>
                  <a:rPr lang="en-US" sz="2800" noProof="0" dirty="0"/>
                  <a:t>An </a:t>
                </a:r>
                <a:r>
                  <a:rPr lang="en-US" sz="2800" b="1" noProof="0" dirty="0">
                    <a:solidFill>
                      <a:srgbClr val="0070C0"/>
                    </a:solidFill>
                  </a:rPr>
                  <a:t>old-fashioned</a:t>
                </a:r>
                <a:r>
                  <a:rPr lang="en-US" sz="2800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noProof="0" dirty="0">
                    <a:solidFill>
                      <a:srgbClr val="0070C0"/>
                    </a:solidFill>
                  </a:rPr>
                  <a:t>approach</a:t>
                </a:r>
                <a:r>
                  <a:rPr lang="en-US" sz="2800" noProof="0" dirty="0"/>
                  <a:t>:</a:t>
                </a:r>
                <a:br>
                  <a:rPr lang="en-US" sz="2800" noProof="0" dirty="0"/>
                </a:br>
                <a:endParaRPr lang="en-US" sz="2800" noProof="0" dirty="0"/>
              </a:p>
              <a:p>
                <a:pPr marL="990600" lvl="1" indent="-533400">
                  <a:buFontTx/>
                  <a:buAutoNum type="arabicPeriod"/>
                </a:pPr>
                <a:r>
                  <a:rPr lang="en-US" sz="2400" noProof="0" dirty="0"/>
                  <a:t>take a standard</a:t>
                </a:r>
                <a:r>
                  <a:rPr lang="en-US" sz="2400" noProof="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PRG</a:t>
                </a:r>
                <a:r>
                  <a:rPr lang="en-US" sz="2400" noProof="0" dirty="0"/>
                  <a:t> 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G</a:t>
                </a:r>
              </a:p>
              <a:p>
                <a:pPr marL="990600" lvl="1" indent="-533400">
                  <a:buFontTx/>
                  <a:buAutoNum type="arabicPeriod"/>
                </a:pPr>
                <a:r>
                  <a:rPr lang="en-US" sz="2400" noProof="0" dirty="0"/>
                  <a:t>set </a:t>
                </a:r>
                <a14:m>
                  <m:oMath xmlns:m="http://schemas.openxmlformats.org/officeDocument/2006/math"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400" b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𝐈𝐕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:= 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𝐈𝐕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br>
                  <a:rPr lang="en-US" sz="3200" b="1" i="1" noProof="0" dirty="0">
                    <a:solidFill>
                      <a:srgbClr val="FF0000"/>
                    </a:solidFill>
                  </a:rPr>
                </a:br>
                <a:endParaRPr lang="en-US" sz="2400" b="1" i="1" noProof="0" dirty="0">
                  <a:solidFill>
                    <a:srgbClr val="FF0000"/>
                  </a:solidFill>
                </a:endParaRPr>
              </a:p>
              <a:p>
                <a:pPr marL="990600" lvl="1" indent="-533400">
                  <a:buFontTx/>
                  <a:buNone/>
                </a:pPr>
                <a:r>
                  <a:rPr lang="en-US" sz="2400" noProof="0" dirty="0"/>
                  <a:t>where </a:t>
                </a:r>
                <a14:m>
                  <m:oMath xmlns:m="http://schemas.openxmlformats.org/officeDocument/2006/math"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noProof="0" dirty="0"/>
                  <a:t> is a “hash-function” (we will define cryptographic hash functions later)</a:t>
                </a:r>
                <a:br>
                  <a:rPr lang="en-US" sz="2400" noProof="0" dirty="0"/>
                </a:br>
                <a:endParaRPr lang="en-US" sz="2400" noProof="0" dirty="0"/>
              </a:p>
            </p:txBody>
          </p:sp>
        </mc:Choice>
        <mc:Fallback>
          <p:sp>
            <p:nvSpPr>
              <p:cNvPr id="1741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447800"/>
                <a:ext cx="9144000" cy="3200400"/>
              </a:xfrm>
              <a:prstGeom prst="rect">
                <a:avLst/>
              </a:prstGeom>
              <a:blipFill>
                <a:blip r:embed="rId4"/>
                <a:stretch>
                  <a:fillRect l="-1385" t="-78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noProof="0" dirty="0"/>
              <a:t>How to construct such a PRG?</a:t>
            </a:r>
          </a:p>
        </p:txBody>
      </p:sp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5638800" y="1905000"/>
            <a:ext cx="2895600" cy="1095372"/>
          </a:xfrm>
          <a:prstGeom prst="wedgeRoundRectCallout">
            <a:avLst>
              <a:gd name="adj1" fmla="val -85433"/>
              <a:gd name="adj2" fmla="val 54278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2000" b="1" noProof="0" dirty="0">
                <a:solidFill>
                  <a:srgbClr val="0070C0"/>
                </a:solidFill>
              </a:rPr>
              <a:t>often</a:t>
            </a:r>
            <a:r>
              <a:rPr lang="en-US" sz="2000" b="1" noProof="0" dirty="0"/>
              <a:t>:</a:t>
            </a:r>
            <a:br>
              <a:rPr lang="en-US" sz="2000" b="1" noProof="0" dirty="0"/>
            </a:br>
            <a:r>
              <a:rPr lang="en-US" sz="2000" b="1" noProof="0" dirty="0"/>
              <a:t>just concatenate</a:t>
            </a:r>
          </a:p>
          <a:p>
            <a:pPr algn="ctr"/>
            <a:r>
              <a:rPr lang="en-US" sz="2000" b="1" noProof="0" dirty="0">
                <a:solidFill>
                  <a:srgbClr val="FF0000"/>
                </a:solidFill>
              </a:rPr>
              <a:t>IV</a:t>
            </a:r>
            <a:r>
              <a:rPr lang="en-US" sz="2000" b="1" noProof="0" dirty="0"/>
              <a:t> and </a:t>
            </a:r>
            <a:r>
              <a:rPr lang="en-US" sz="2000" b="1" i="1" noProof="0" dirty="0">
                <a:solidFill>
                  <a:srgbClr val="FF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6044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noProof="0" dirty="0"/>
              <a:t>Popular historical stream ciphers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874096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noProof="0" dirty="0"/>
              <a:t>Based on the </a:t>
            </a:r>
            <a:r>
              <a:rPr lang="en-US" sz="2400" b="1" noProof="0" dirty="0">
                <a:solidFill>
                  <a:srgbClr val="FF0000"/>
                </a:solidFill>
              </a:rPr>
              <a:t>linear feedback shift registers</a:t>
            </a:r>
            <a:r>
              <a:rPr lang="en-US" sz="2400" noProof="0" dirty="0"/>
              <a:t>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b="1" noProof="0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A5/1</a:t>
            </a:r>
            <a:r>
              <a:rPr lang="en-US" sz="2400" b="1" noProof="0" dirty="0">
                <a:solidFill>
                  <a:schemeClr val="accent2"/>
                </a:solidFill>
              </a:rPr>
              <a:t> </a:t>
            </a:r>
            <a:r>
              <a:rPr lang="en-US" sz="2400" noProof="0" dirty="0"/>
              <a:t>and </a:t>
            </a:r>
            <a:r>
              <a:rPr lang="en-US" sz="2400" b="1" noProof="0" dirty="0">
                <a:solidFill>
                  <a:srgbClr val="0070C0"/>
                </a:solidFill>
              </a:rPr>
              <a:t>A5/2</a:t>
            </a:r>
            <a:r>
              <a:rPr lang="en-US" sz="2400" b="1" noProof="0" dirty="0">
                <a:solidFill>
                  <a:schemeClr val="accent2"/>
                </a:solidFill>
              </a:rPr>
              <a:t> </a:t>
            </a:r>
            <a:r>
              <a:rPr lang="en-US" sz="2400" noProof="0" dirty="0"/>
              <a:t>(used in </a:t>
            </a:r>
            <a:r>
              <a:rPr lang="en-US" sz="2400" b="1" noProof="0" dirty="0"/>
              <a:t>GSM</a:t>
            </a:r>
            <a:r>
              <a:rPr lang="en-US" sz="2400" noProof="0" dirty="0"/>
              <a:t>)</a:t>
            </a:r>
            <a:br>
              <a:rPr lang="en-US" sz="2400" noProof="0" dirty="0"/>
            </a:br>
            <a:r>
              <a:rPr lang="en-US" sz="1800" noProof="0" dirty="0"/>
              <a:t>Ross Anderson: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noProof="0" dirty="0"/>
          </a:p>
          <a:p>
            <a:pPr marL="0" indent="0">
              <a:lnSpc>
                <a:spcPct val="80000"/>
              </a:lnSpc>
              <a:buNone/>
            </a:pPr>
            <a:endParaRPr lang="en-US" sz="2400" noProof="0" dirty="0"/>
          </a:p>
          <a:p>
            <a:pPr marL="0" indent="0">
              <a:lnSpc>
                <a:spcPct val="80000"/>
              </a:lnSpc>
              <a:buNone/>
            </a:pPr>
            <a:endParaRPr lang="en-US" sz="2400" noProof="0" dirty="0"/>
          </a:p>
          <a:p>
            <a:pPr marL="0" indent="0">
              <a:lnSpc>
                <a:spcPct val="80000"/>
              </a:lnSpc>
              <a:buNone/>
            </a:pPr>
            <a:endParaRPr lang="en-US" sz="2400" noProof="0" dirty="0"/>
          </a:p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Content Scramble System (CSS) </a:t>
            </a:r>
            <a:r>
              <a:rPr lang="en-US" sz="2400" noProof="0" dirty="0"/>
              <a:t>encryption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noProof="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400" noProof="0" dirty="0"/>
              <a:t>Other:</a:t>
            </a:r>
          </a:p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RC4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sz="2400" b="1" u="sng" noProof="0" dirty="0"/>
          </a:p>
          <a:p>
            <a:pPr>
              <a:lnSpc>
                <a:spcPct val="80000"/>
              </a:lnSpc>
              <a:buFontTx/>
              <a:buNone/>
            </a:pPr>
            <a:endParaRPr lang="en-US" b="1" u="sng" noProof="0" dirty="0"/>
          </a:p>
          <a:p>
            <a:pPr>
              <a:lnSpc>
                <a:spcPct val="80000"/>
              </a:lnSpc>
            </a:pPr>
            <a:endParaRPr lang="en-US" sz="2000" noProof="0" dirty="0"/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1543828" y="5451885"/>
            <a:ext cx="7163968" cy="717611"/>
          </a:xfrm>
          <a:prstGeom prst="leftArrow">
            <a:avLst>
              <a:gd name="adj1" fmla="val 55552"/>
              <a:gd name="adj2" fmla="val 15686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noProof="0" dirty="0"/>
              <a:t>very popular in the past, now broken</a:t>
            </a:r>
          </a:p>
        </p:txBody>
      </p:sp>
      <p:sp>
        <p:nvSpPr>
          <p:cNvPr id="19463" name="AutoShape 7"/>
          <p:cNvSpPr>
            <a:spLocks noChangeArrowheads="1"/>
          </p:cNvSpPr>
          <p:nvPr/>
        </p:nvSpPr>
        <p:spPr bwMode="auto">
          <a:xfrm>
            <a:off x="4910122" y="2068152"/>
            <a:ext cx="2448272" cy="409575"/>
          </a:xfrm>
          <a:prstGeom prst="leftArrow">
            <a:avLst>
              <a:gd name="adj1" fmla="val 65706"/>
              <a:gd name="adj2" fmla="val 15686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noProof="0" dirty="0"/>
              <a:t>completely broken</a:t>
            </a:r>
          </a:p>
        </p:txBody>
      </p:sp>
      <p:sp>
        <p:nvSpPr>
          <p:cNvPr id="3" name="Rectangular Callout 2"/>
          <p:cNvSpPr/>
          <p:nvPr/>
        </p:nvSpPr>
        <p:spPr>
          <a:xfrm>
            <a:off x="1543828" y="2853583"/>
            <a:ext cx="7036292" cy="1152128"/>
          </a:xfrm>
          <a:prstGeom prst="wedgeRectCallout">
            <a:avLst>
              <a:gd name="adj1" fmla="val -38847"/>
              <a:gd name="adj2" fmla="val -7294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en-US" noProof="0" dirty="0"/>
              <a:t>"there was a terrific row between the NATO signal intelligence agencies in the mid 1980s over whether GSM encryption should be strong or not. The Germans said it should be, as they shared a long border with the Warsaw Pact; but the other countries didn't feel this way, and the algorithm as now fielded is a French design."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644142" y="4398426"/>
            <a:ext cx="2448272" cy="409575"/>
          </a:xfrm>
          <a:prstGeom prst="leftArrow">
            <a:avLst>
              <a:gd name="adj1" fmla="val 65706"/>
              <a:gd name="adj2" fmla="val 15686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noProof="0" dirty="0"/>
              <a:t>completely broken</a:t>
            </a:r>
          </a:p>
        </p:txBody>
      </p:sp>
    </p:spTree>
    <p:extLst>
      <p:ext uri="{BB962C8B-B14F-4D97-AF65-F5344CB8AC3E}">
        <p14:creationId xmlns:p14="http://schemas.microsoft.com/office/powerpoint/2010/main" val="148320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animBg="1"/>
      <p:bldP spid="19463" grpId="0" animBg="1"/>
      <p:bldP spid="3" grpId="0" animBg="1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5163" y="122237"/>
            <a:ext cx="7886700" cy="1325563"/>
          </a:xfrm>
        </p:spPr>
        <p:txBody>
          <a:bodyPr/>
          <a:lstStyle/>
          <a:p>
            <a:pPr algn="l"/>
            <a:r>
              <a:rPr lang="en-US" noProof="0" dirty="0"/>
              <a:t>RC4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382000" cy="5105400"/>
          </a:xfrm>
        </p:spPr>
        <p:txBody>
          <a:bodyPr/>
          <a:lstStyle/>
          <a:p>
            <a:r>
              <a:rPr lang="en-US" sz="2400" noProof="0" dirty="0"/>
              <a:t>Designed by </a:t>
            </a:r>
            <a:r>
              <a:rPr lang="en-US" sz="2400" b="1" noProof="0" dirty="0">
                <a:solidFill>
                  <a:srgbClr val="0070C0"/>
                </a:solidFill>
              </a:rPr>
              <a:t>Ron Rivest</a:t>
            </a:r>
            <a:r>
              <a:rPr lang="en-US" sz="2400" noProof="0" dirty="0">
                <a:solidFill>
                  <a:srgbClr val="0070C0"/>
                </a:solidFill>
              </a:rPr>
              <a:t> </a:t>
            </a:r>
            <a:r>
              <a:rPr lang="en-US" sz="2400" noProof="0" dirty="0"/>
              <a:t>(</a:t>
            </a:r>
            <a:r>
              <a:rPr lang="en-US" sz="2400" b="1" noProof="0" dirty="0">
                <a:solidFill>
                  <a:srgbClr val="0070C0"/>
                </a:solidFill>
              </a:rPr>
              <a:t>RSA Security</a:t>
            </a:r>
            <a:r>
              <a:rPr lang="en-US" sz="2400" noProof="0" dirty="0"/>
              <a:t>)</a:t>
            </a:r>
            <a:br>
              <a:rPr lang="en-US" sz="2400" noProof="0" dirty="0"/>
            </a:br>
            <a:r>
              <a:rPr lang="en-US" sz="2400" noProof="0" dirty="0"/>
              <a:t>in 1987. </a:t>
            </a:r>
            <a:br>
              <a:rPr lang="en-US" sz="2400" noProof="0" dirty="0"/>
            </a:br>
            <a:r>
              <a:rPr lang="en-US" sz="2400" b="1" noProof="0" dirty="0"/>
              <a:t>RC4</a:t>
            </a:r>
            <a:r>
              <a:rPr lang="en-US" sz="2400" noProof="0" dirty="0"/>
              <a:t> =  “</a:t>
            </a:r>
            <a:r>
              <a:rPr lang="en-US" sz="2400" b="1" noProof="0" dirty="0"/>
              <a:t>Rivest Cipher 4</a:t>
            </a:r>
            <a:r>
              <a:rPr lang="en-US" sz="2400" noProof="0" dirty="0"/>
              <a:t>”, or “</a:t>
            </a:r>
            <a:r>
              <a:rPr lang="en-US" sz="2400" b="1" noProof="0" dirty="0"/>
              <a:t>Ron's Code 4</a:t>
            </a:r>
            <a:r>
              <a:rPr lang="en-US" sz="2400" noProof="0" dirty="0"/>
              <a:t>”.</a:t>
            </a:r>
          </a:p>
          <a:p>
            <a:r>
              <a:rPr lang="en-US" sz="2400" noProof="0" dirty="0"/>
              <a:t>Trade secret, but in </a:t>
            </a:r>
            <a:r>
              <a:rPr lang="en-US" sz="2400" b="1" noProof="0" dirty="0">
                <a:solidFill>
                  <a:srgbClr val="0070C0"/>
                </a:solidFill>
              </a:rPr>
              <a:t>September 1994</a:t>
            </a:r>
            <a:r>
              <a:rPr lang="en-US" sz="2400" noProof="0" dirty="0">
                <a:solidFill>
                  <a:srgbClr val="0070C0"/>
                </a:solidFill>
              </a:rPr>
              <a:t> </a:t>
            </a:r>
            <a:r>
              <a:rPr lang="en-US" sz="2400" noProof="0" dirty="0"/>
              <a:t>its </a:t>
            </a:r>
            <a:br>
              <a:rPr lang="en-US" sz="2400" noProof="0" dirty="0"/>
            </a:br>
            <a:r>
              <a:rPr lang="en-US" sz="2400" noProof="0" dirty="0"/>
              <a:t>description leaked to the internet.</a:t>
            </a:r>
          </a:p>
          <a:p>
            <a:r>
              <a:rPr lang="en-US" sz="2400" noProof="0" dirty="0"/>
              <a:t>For legal reasons sometimes it is called: "</a:t>
            </a:r>
            <a:r>
              <a:rPr lang="en-US" sz="2400" b="1" noProof="0" dirty="0"/>
              <a:t>ARCFOUR</a:t>
            </a:r>
            <a:r>
              <a:rPr lang="en-US" sz="2400" noProof="0" dirty="0"/>
              <a:t>" or "</a:t>
            </a:r>
            <a:r>
              <a:rPr lang="en-US" sz="2400" b="1" noProof="0" dirty="0"/>
              <a:t>ARC4</a:t>
            </a:r>
            <a:r>
              <a:rPr lang="en-US" sz="2400" noProof="0" dirty="0"/>
              <a:t>“.</a:t>
            </a:r>
          </a:p>
          <a:p>
            <a:r>
              <a:rPr lang="en-US" sz="2400" noProof="0" dirty="0"/>
              <a:t>Used in </a:t>
            </a:r>
            <a:r>
              <a:rPr lang="en-US" sz="2400" b="1" noProof="0" dirty="0"/>
              <a:t>WEP</a:t>
            </a:r>
            <a:r>
              <a:rPr lang="en-US" sz="2400" noProof="0" dirty="0"/>
              <a:t> and </a:t>
            </a:r>
            <a:r>
              <a:rPr lang="en-US" sz="2400" b="1" noProof="0" dirty="0"/>
              <a:t>WPA</a:t>
            </a:r>
            <a:r>
              <a:rPr lang="en-US" sz="2400" noProof="0" dirty="0"/>
              <a:t> and </a:t>
            </a:r>
            <a:r>
              <a:rPr lang="en-US" sz="2400" b="1" noProof="0" dirty="0"/>
              <a:t>TLS</a:t>
            </a:r>
            <a:r>
              <a:rPr lang="en-US" sz="2400" noProof="0" dirty="0"/>
              <a:t>.</a:t>
            </a:r>
          </a:p>
          <a:p>
            <a:r>
              <a:rPr lang="en-US" sz="2400" b="1" noProof="0" dirty="0">
                <a:solidFill>
                  <a:srgbClr val="008000"/>
                </a:solidFill>
              </a:rPr>
              <a:t>Very efficient and simple</a:t>
            </a:r>
            <a:r>
              <a:rPr lang="en-US" sz="2400" noProof="0" dirty="0"/>
              <a:t>, but has serious </a:t>
            </a:r>
            <a:r>
              <a:rPr lang="en-US" sz="2400" b="1" noProof="0" dirty="0">
                <a:solidFill>
                  <a:srgbClr val="0070C0"/>
                </a:solidFill>
              </a:rPr>
              <a:t>security flaws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7600" y="1066800"/>
            <a:ext cx="131603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53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RC4 – an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08" name="Text Box 4"/>
              <p:cNvSpPr txBox="1">
                <a:spLocks noChangeArrowheads="1"/>
              </p:cNvSpPr>
              <p:nvPr/>
            </p:nvSpPr>
            <p:spPr bwMode="auto">
              <a:xfrm>
                <a:off x="4038600" y="1828800"/>
                <a:ext cx="990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noProof="0" dirty="0"/>
                  <a:t>key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50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0" y="1828800"/>
                <a:ext cx="990600" cy="369888"/>
              </a:xfrm>
              <a:prstGeom prst="rect">
                <a:avLst/>
              </a:prstGeom>
              <a:blipFill>
                <a:blip r:embed="rId3"/>
                <a:stretch>
                  <a:fillRect t="-6667" b="-2333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9" name="AutoShape 5"/>
          <p:cNvSpPr>
            <a:spLocks noChangeArrowheads="1"/>
          </p:cNvSpPr>
          <p:nvPr/>
        </p:nvSpPr>
        <p:spPr bwMode="auto">
          <a:xfrm rot="10800000">
            <a:off x="2895600" y="2286000"/>
            <a:ext cx="3276600" cy="1524000"/>
          </a:xfrm>
          <a:custGeom>
            <a:avLst/>
            <a:gdLst>
              <a:gd name="G0" fmla="+- 7210 0 0"/>
              <a:gd name="G1" fmla="+- 21600 0 7210"/>
              <a:gd name="G2" fmla="*/ 7210 1 2"/>
              <a:gd name="G3" fmla="+- 21600 0 G2"/>
              <a:gd name="G4" fmla="+/ 7210 21600 2"/>
              <a:gd name="G5" fmla="+/ G1 0 2"/>
              <a:gd name="G6" fmla="*/ 21600 21600 7210"/>
              <a:gd name="G7" fmla="*/ G6 1 2"/>
              <a:gd name="G8" fmla="+- 21600 0 G7"/>
              <a:gd name="G9" fmla="*/ 21600 1 2"/>
              <a:gd name="G10" fmla="+- 7210 0 G9"/>
              <a:gd name="G11" fmla="?: G10 G8 0"/>
              <a:gd name="G12" fmla="?: G10 G7 21600"/>
              <a:gd name="T0" fmla="*/ 17995 w 21600"/>
              <a:gd name="T1" fmla="*/ 10800 h 21600"/>
              <a:gd name="T2" fmla="*/ 10800 w 21600"/>
              <a:gd name="T3" fmla="*/ 21600 h 21600"/>
              <a:gd name="T4" fmla="*/ 3605 w 21600"/>
              <a:gd name="T5" fmla="*/ 10800 h 21600"/>
              <a:gd name="T6" fmla="*/ 10800 w 21600"/>
              <a:gd name="T7" fmla="*/ 0 h 21600"/>
              <a:gd name="T8" fmla="*/ 5405 w 21600"/>
              <a:gd name="T9" fmla="*/ 5405 h 21600"/>
              <a:gd name="T10" fmla="*/ 16195 w 21600"/>
              <a:gd name="T11" fmla="*/ 1619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10" y="21600"/>
                </a:lnTo>
                <a:lnTo>
                  <a:pt x="14390" y="21600"/>
                </a:lnTo>
                <a:lnTo>
                  <a:pt x="2160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10800000" wrap="none" anchor="ctr"/>
          <a:lstStyle/>
          <a:p>
            <a:pPr algn="ctr"/>
            <a:r>
              <a:rPr lang="en-US" b="1" noProof="0" dirty="0"/>
              <a:t>key-scheduling</a:t>
            </a:r>
            <a:br>
              <a:rPr lang="en-US" b="1" noProof="0" dirty="0"/>
            </a:br>
            <a:r>
              <a:rPr lang="en-US" b="1" noProof="0" dirty="0"/>
              <a:t>algorithm</a:t>
            </a:r>
            <a:br>
              <a:rPr lang="en-US" b="1" noProof="0" dirty="0"/>
            </a:br>
            <a:r>
              <a:rPr lang="en-US" b="1" noProof="0" dirty="0"/>
              <a:t>(KSA)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10" name="Text Box 6"/>
              <p:cNvSpPr txBox="1">
                <a:spLocks noChangeArrowheads="1"/>
              </p:cNvSpPr>
              <p:nvPr/>
            </p:nvSpPr>
            <p:spPr bwMode="auto">
              <a:xfrm>
                <a:off x="2895600" y="3886200"/>
                <a:ext cx="3276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noProof="0" dirty="0"/>
                  <a:t>array</a:t>
                </a:r>
                <a:r>
                  <a:rPr lang="en-US" b="1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51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600" y="3886200"/>
                <a:ext cx="3276600" cy="369888"/>
              </a:xfrm>
              <a:prstGeom prst="rect">
                <a:avLst/>
              </a:prstGeom>
              <a:blipFill>
                <a:blip r:embed="rId4"/>
                <a:stretch>
                  <a:fillRect t="-10000" b="-2333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127250" y="3886200"/>
            <a:ext cx="256802" cy="369332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 noProof="0" dirty="0" err="1">
                <a:solidFill>
                  <a:srgbClr val="FF0000"/>
                </a:solidFill>
              </a:rPr>
              <a:t>i</a:t>
            </a:r>
            <a:endParaRPr lang="en-US" b="1" i="1" noProof="0" dirty="0">
              <a:solidFill>
                <a:srgbClr val="FF0000"/>
              </a:solidFill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2508250" y="3886200"/>
            <a:ext cx="255198" cy="369332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 noProof="0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1514" name="AutoShape 10"/>
          <p:cNvSpPr>
            <a:spLocks/>
          </p:cNvSpPr>
          <p:nvPr/>
        </p:nvSpPr>
        <p:spPr bwMode="auto">
          <a:xfrm rot="16200000">
            <a:off x="3962400" y="2590800"/>
            <a:ext cx="381000" cy="4038600"/>
          </a:xfrm>
          <a:prstGeom prst="leftBrace">
            <a:avLst>
              <a:gd name="adj1" fmla="val 8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15" name="Text Box 11"/>
              <p:cNvSpPr txBox="1">
                <a:spLocks noChangeArrowheads="1"/>
              </p:cNvSpPr>
              <p:nvPr/>
            </p:nvSpPr>
            <p:spPr bwMode="auto">
              <a:xfrm>
                <a:off x="2603041" y="4876800"/>
                <a:ext cx="3030958" cy="646331"/>
              </a:xfrm>
              <a:prstGeom prst="rect">
                <a:avLst/>
              </a:prstGeom>
              <a:solidFill>
                <a:srgbClr val="FDFFF3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noProof="0" dirty="0"/>
                  <a:t>in each round this is updated</a:t>
                </a:r>
                <a:br>
                  <a:rPr lang="en-US" noProof="0" dirty="0"/>
                </a:br>
                <a:r>
                  <a:rPr lang="en-US" noProof="0" dirty="0"/>
                  <a:t>and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noProof="0" dirty="0"/>
                  <a:t>byte is output</a:t>
                </a:r>
              </a:p>
            </p:txBody>
          </p:sp>
        </mc:Choice>
        <mc:Fallback>
          <p:sp>
            <p:nvSpPr>
              <p:cNvPr id="2151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041" y="4876800"/>
                <a:ext cx="3030958" cy="646331"/>
              </a:xfrm>
              <a:prstGeom prst="rect">
                <a:avLst/>
              </a:prstGeom>
              <a:blipFill>
                <a:blip r:embed="rId5"/>
                <a:stretch>
                  <a:fillRect l="-830" t="-3846" r="-830" b="-1153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16" name="Text Box 12"/>
              <p:cNvSpPr txBox="1">
                <a:spLocks noChangeArrowheads="1"/>
              </p:cNvSpPr>
              <p:nvPr/>
            </p:nvSpPr>
            <p:spPr bwMode="auto">
              <a:xfrm>
                <a:off x="6273892" y="1795432"/>
                <a:ext cx="257724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 =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𝐛𝐢𝐭𝐬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51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3892" y="1795432"/>
                <a:ext cx="2577244" cy="400110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17" name="Text Box 13"/>
              <p:cNvSpPr txBox="1">
                <a:spLocks noChangeArrowheads="1"/>
              </p:cNvSpPr>
              <p:nvPr/>
            </p:nvSpPr>
            <p:spPr bwMode="auto">
              <a:xfrm>
                <a:off x="6683748" y="3852832"/>
                <a:ext cx="216738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 =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𝐛𝐲𝐭𝐞𝐬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51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3748" y="3852832"/>
                <a:ext cx="2167388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8" name="AutoShape 14"/>
          <p:cNvSpPr>
            <a:spLocks noChangeArrowheads="1"/>
          </p:cNvSpPr>
          <p:nvPr/>
        </p:nvSpPr>
        <p:spPr bwMode="auto">
          <a:xfrm>
            <a:off x="685800" y="3810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noProof="0" dirty="0"/>
              <a:t>indices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549612" y="6071901"/>
            <a:ext cx="75396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noProof="0" dirty="0"/>
              <a:t>(this is called a </a:t>
            </a:r>
            <a:r>
              <a:rPr lang="en-US" sz="2000" b="1" noProof="0" dirty="0"/>
              <a:t>“pseudo-random generation algorithm (PRGA)”)</a:t>
            </a:r>
          </a:p>
          <a:p>
            <a:endParaRPr lang="en-US" sz="2000" noProof="0" dirty="0"/>
          </a:p>
        </p:txBody>
      </p:sp>
      <p:sp>
        <p:nvSpPr>
          <p:cNvPr id="21520" name="AutoShape 16"/>
          <p:cNvSpPr>
            <a:spLocks noChangeArrowheads="1"/>
          </p:cNvSpPr>
          <p:nvPr/>
        </p:nvSpPr>
        <p:spPr bwMode="auto">
          <a:xfrm>
            <a:off x="1066800" y="1676400"/>
            <a:ext cx="2514600" cy="638175"/>
          </a:xfrm>
          <a:prstGeom prst="rightArrow">
            <a:avLst>
              <a:gd name="adj1" fmla="val 50000"/>
              <a:gd name="adj2" fmla="val 98507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b="1" noProof="0" dirty="0"/>
              <a:t>note</a:t>
            </a:r>
            <a:r>
              <a:rPr lang="en-US" noProof="0" dirty="0"/>
              <a:t>: no </a:t>
            </a:r>
            <a:r>
              <a:rPr lang="en-US" b="1" noProof="0" dirty="0">
                <a:solidFill>
                  <a:srgbClr val="FF0000"/>
                </a:solidFill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01657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09" grpId="0" animBg="1"/>
      <p:bldP spid="21510" grpId="0" animBg="1"/>
      <p:bldP spid="21511" grpId="0" animBg="1"/>
      <p:bldP spid="21512" grpId="0" animBg="1"/>
      <p:bldP spid="21514" grpId="0" animBg="1"/>
      <p:bldP spid="21515" grpId="0" animBg="1"/>
      <p:bldP spid="21516" grpId="0"/>
      <p:bldP spid="21517" grpId="0"/>
      <p:bldP spid="21518" grpId="0" animBg="1"/>
      <p:bldP spid="21519" grpId="0"/>
      <p:bldP spid="215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381000" y="3582296"/>
            <a:ext cx="5791200" cy="3047104"/>
          </a:xfrm>
          <a:prstGeom prst="rect">
            <a:avLst/>
          </a:prstGeom>
          <a:solidFill>
            <a:srgbClr val="F3F4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u="sng" noProof="0" dirty="0">
                <a:solidFill>
                  <a:srgbClr val="FF0000"/>
                </a:solidFill>
              </a:rPr>
              <a:t>PRGA</a:t>
            </a:r>
          </a:p>
          <a:p>
            <a:r>
              <a:rPr lang="en-US" noProof="0" dirty="0" err="1"/>
              <a:t>i</a:t>
            </a:r>
            <a:r>
              <a:rPr lang="en-US" noProof="0" dirty="0"/>
              <a:t> := 0</a:t>
            </a:r>
          </a:p>
          <a:p>
            <a:r>
              <a:rPr lang="en-US" noProof="0" dirty="0"/>
              <a:t>j := 0 </a:t>
            </a:r>
          </a:p>
          <a:p>
            <a:r>
              <a:rPr lang="en-US" b="1" noProof="0" dirty="0"/>
              <a:t>while</a:t>
            </a:r>
            <a:r>
              <a:rPr lang="en-US" noProof="0" dirty="0"/>
              <a:t> </a:t>
            </a:r>
            <a:r>
              <a:rPr lang="en-US" noProof="0" dirty="0" err="1"/>
              <a:t>GeneratingOutput</a:t>
            </a:r>
            <a:r>
              <a:rPr lang="en-US" noProof="0" dirty="0"/>
              <a:t>:</a:t>
            </a:r>
          </a:p>
          <a:p>
            <a:pPr lvl="1"/>
            <a:r>
              <a:rPr lang="en-US" noProof="0" dirty="0" err="1"/>
              <a:t>i</a:t>
            </a:r>
            <a:r>
              <a:rPr lang="en-US" noProof="0" dirty="0"/>
              <a:t> := (</a:t>
            </a:r>
            <a:r>
              <a:rPr lang="en-US" noProof="0" dirty="0" err="1"/>
              <a:t>i</a:t>
            </a:r>
            <a:r>
              <a:rPr lang="en-US" noProof="0" dirty="0"/>
              <a:t> + 1) mod 256 </a:t>
            </a:r>
          </a:p>
          <a:p>
            <a:pPr lvl="1"/>
            <a:r>
              <a:rPr lang="en-US" noProof="0" dirty="0"/>
              <a:t>j := (j + S[</a:t>
            </a:r>
            <a:r>
              <a:rPr lang="en-US" noProof="0" dirty="0" err="1"/>
              <a:t>i</a:t>
            </a:r>
            <a:r>
              <a:rPr lang="en-US" noProof="0" dirty="0"/>
              <a:t>]) mod 256 </a:t>
            </a:r>
          </a:p>
          <a:p>
            <a:pPr lvl="1"/>
            <a:r>
              <a:rPr lang="en-US" noProof="0" dirty="0"/>
              <a:t>swap(S[</a:t>
            </a:r>
            <a:r>
              <a:rPr lang="en-US" noProof="0" dirty="0" err="1"/>
              <a:t>i</a:t>
            </a:r>
            <a:r>
              <a:rPr lang="en-US" noProof="0" dirty="0"/>
              <a:t>],S[j]) </a:t>
            </a:r>
          </a:p>
          <a:p>
            <a:pPr lvl="1"/>
            <a:r>
              <a:rPr lang="en-US" noProof="0" dirty="0"/>
              <a:t>output S[(S[</a:t>
            </a:r>
            <a:r>
              <a:rPr lang="en-US" noProof="0" dirty="0" err="1"/>
              <a:t>i</a:t>
            </a:r>
            <a:r>
              <a:rPr lang="en-US" noProof="0" dirty="0"/>
              <a:t>] + S[j]) mod 256] </a:t>
            </a:r>
          </a:p>
          <a:p>
            <a:r>
              <a:rPr lang="en-US" b="1" noProof="0" dirty="0" err="1"/>
              <a:t>endwhile</a:t>
            </a:r>
            <a:r>
              <a:rPr lang="en-US" noProof="0" dirty="0"/>
              <a:t> 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81000" y="990600"/>
            <a:ext cx="5791200" cy="2362200"/>
          </a:xfrm>
          <a:prstGeom prst="rect">
            <a:avLst/>
          </a:prstGeom>
          <a:solidFill>
            <a:srgbClr val="FDFFF3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u="sng" noProof="0" dirty="0">
                <a:solidFill>
                  <a:srgbClr val="FF0000"/>
                </a:solidFill>
              </a:rPr>
              <a:t>KSA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noProof="0" dirty="0"/>
              <a:t>for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b="1" noProof="0" dirty="0"/>
              <a:t>from</a:t>
            </a:r>
            <a:r>
              <a:rPr lang="en-US" noProof="0" dirty="0"/>
              <a:t> 0 </a:t>
            </a:r>
            <a:r>
              <a:rPr lang="en-US" b="1" noProof="0" dirty="0"/>
              <a:t>to</a:t>
            </a:r>
            <a:r>
              <a:rPr lang="en-US" noProof="0" dirty="0"/>
              <a:t> 255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noProof="0" dirty="0"/>
              <a:t>S[</a:t>
            </a:r>
            <a:r>
              <a:rPr lang="en-US" sz="1600" noProof="0" dirty="0" err="1"/>
              <a:t>i</a:t>
            </a:r>
            <a:r>
              <a:rPr lang="en-US" sz="1600" noProof="0" dirty="0"/>
              <a:t>] := </a:t>
            </a:r>
            <a:r>
              <a:rPr lang="en-US" sz="1600" noProof="0" dirty="0" err="1"/>
              <a:t>i</a:t>
            </a:r>
            <a:r>
              <a:rPr lang="en-US" sz="1600" noProof="0" dirty="0"/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noProof="0" dirty="0"/>
              <a:t>end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noProof="0" dirty="0"/>
              <a:t>for</a:t>
            </a:r>
            <a:r>
              <a:rPr lang="en-US" noProof="0" dirty="0"/>
              <a:t> j := 0 </a:t>
            </a:r>
            <a:r>
              <a:rPr lang="en-US" b="1" noProof="0" dirty="0"/>
              <a:t>for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b="1" noProof="0" dirty="0"/>
              <a:t>from</a:t>
            </a:r>
            <a:r>
              <a:rPr lang="en-US" noProof="0" dirty="0"/>
              <a:t> 0 </a:t>
            </a:r>
            <a:r>
              <a:rPr lang="en-US" b="1" noProof="0" dirty="0"/>
              <a:t>to</a:t>
            </a:r>
            <a:r>
              <a:rPr lang="en-US" noProof="0" dirty="0"/>
              <a:t> 255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noProof="0" dirty="0"/>
              <a:t>j := (j + S[</a:t>
            </a:r>
            <a:r>
              <a:rPr lang="en-US" sz="1600" noProof="0" dirty="0" err="1"/>
              <a:t>i</a:t>
            </a:r>
            <a:r>
              <a:rPr lang="en-US" sz="1600" noProof="0" dirty="0"/>
              <a:t>] + key[</a:t>
            </a:r>
            <a:r>
              <a:rPr lang="en-US" sz="1600" noProof="0" dirty="0" err="1"/>
              <a:t>i</a:t>
            </a:r>
            <a:r>
              <a:rPr lang="en-US" sz="1600" noProof="0" dirty="0"/>
              <a:t> mod 256]) mod 256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noProof="0" dirty="0"/>
              <a:t>swap(S[</a:t>
            </a:r>
            <a:r>
              <a:rPr lang="en-US" sz="1600" noProof="0" dirty="0" err="1"/>
              <a:t>i</a:t>
            </a:r>
            <a:r>
              <a:rPr lang="en-US" sz="1600" noProof="0" dirty="0"/>
              <a:t>],S[j])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b="1" noProof="0" dirty="0" err="1"/>
              <a:t>endfor</a:t>
            </a:r>
            <a:r>
              <a:rPr lang="en-US" noProof="0" dirty="0"/>
              <a:t> 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2805" y="-87854"/>
            <a:ext cx="8229600" cy="1143000"/>
          </a:xfrm>
        </p:spPr>
        <p:txBody>
          <a:bodyPr/>
          <a:lstStyle/>
          <a:p>
            <a:r>
              <a:rPr lang="en-US" noProof="0" dirty="0"/>
              <a:t>RC4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553200" y="3352800"/>
            <a:ext cx="23399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noProof="0" dirty="0">
                <a:solidFill>
                  <a:srgbClr val="FF0000"/>
                </a:solidFill>
              </a:rPr>
              <a:t>don’t read it!</a:t>
            </a:r>
          </a:p>
        </p:txBody>
      </p:sp>
    </p:spTree>
    <p:extLst>
      <p:ext uri="{BB962C8B-B14F-4D97-AF65-F5344CB8AC3E}">
        <p14:creationId xmlns:p14="http://schemas.microsoft.com/office/powerpoint/2010/main" val="287261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Problems with RC4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noProof="0" dirty="0"/>
              <a:t>Doesn’t have a separate</a:t>
            </a:r>
            <a:r>
              <a:rPr lang="en-US" sz="2400" b="1" noProof="0" dirty="0">
                <a:solidFill>
                  <a:srgbClr val="993300"/>
                </a:solidFill>
              </a:rPr>
              <a:t> </a:t>
            </a:r>
            <a:r>
              <a:rPr lang="en-US" sz="2400" b="1" noProof="0" dirty="0">
                <a:solidFill>
                  <a:srgbClr val="FF0000"/>
                </a:solidFill>
              </a:rPr>
              <a:t>IV</a:t>
            </a:r>
            <a:r>
              <a:rPr lang="en-US" sz="2400" noProof="0" dirty="0"/>
              <a:t>.</a:t>
            </a:r>
            <a:br>
              <a:rPr lang="en-US" sz="2400" noProof="0" dirty="0"/>
            </a:br>
            <a:endParaRPr lang="en-US" sz="2400" noProof="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noProof="0" dirty="0"/>
              <a:t>It was discovered that some bytes of the output are </a:t>
            </a:r>
            <a:r>
              <a:rPr lang="en-US" sz="2400" b="1" noProof="0" dirty="0"/>
              <a:t>biased</a:t>
            </a:r>
            <a:r>
              <a:rPr lang="en-US" sz="2400" noProof="0" dirty="0"/>
              <a:t>.</a:t>
            </a:r>
            <a:br>
              <a:rPr lang="en-US" sz="2400" noProof="0" dirty="0"/>
            </a:br>
            <a:r>
              <a:rPr lang="en-US" sz="2400" b="1" noProof="0" dirty="0">
                <a:solidFill>
                  <a:srgbClr val="00B050"/>
                </a:solidFill>
              </a:rPr>
              <a:t>[Mantin, Shamir, 2001]</a:t>
            </a:r>
            <a:br>
              <a:rPr lang="en-US" sz="2400" noProof="0" dirty="0"/>
            </a:br>
            <a:endParaRPr lang="en-US" sz="2400" noProof="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noProof="0" dirty="0"/>
              <a:t>First few bytes of output sometimes </a:t>
            </a:r>
            <a:r>
              <a:rPr lang="en-US" sz="2400" b="1" noProof="0" dirty="0"/>
              <a:t>leak some information about the key</a:t>
            </a:r>
            <a:br>
              <a:rPr lang="en-US" sz="2400" noProof="0" dirty="0"/>
            </a:br>
            <a:r>
              <a:rPr lang="en-US" sz="2400" b="1" noProof="0" dirty="0">
                <a:solidFill>
                  <a:srgbClr val="00B050"/>
                </a:solidFill>
              </a:rPr>
              <a:t>[Fluhrer, Mantin and Shamir, 2001]</a:t>
            </a:r>
            <a:br>
              <a:rPr lang="en-US" sz="2400" b="1" noProof="0" dirty="0">
                <a:solidFill>
                  <a:srgbClr val="00B050"/>
                </a:solidFill>
              </a:rPr>
            </a:br>
            <a:r>
              <a:rPr lang="en-US" sz="2400" b="1" u="sng" noProof="0" dirty="0">
                <a:solidFill>
                  <a:srgbClr val="7030A0"/>
                </a:solidFill>
              </a:rPr>
              <a:t>Recommendation</a:t>
            </a:r>
            <a:r>
              <a:rPr lang="en-US" sz="2400" noProof="0" dirty="0"/>
              <a:t>: discard the first </a:t>
            </a:r>
            <a:r>
              <a:rPr lang="en-US" sz="2400" b="1" noProof="0" dirty="0">
                <a:solidFill>
                  <a:srgbClr val="0070C0"/>
                </a:solidFill>
              </a:rPr>
              <a:t>768-3072</a:t>
            </a:r>
            <a:r>
              <a:rPr lang="en-US" sz="2400" noProof="0" dirty="0"/>
              <a:t> bytes.</a:t>
            </a:r>
            <a:br>
              <a:rPr lang="en-US" sz="2400" noProof="0" dirty="0"/>
            </a:br>
            <a:endParaRPr lang="en-US" sz="2400" noProof="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noProof="0" dirty="0"/>
              <a:t>Other weaknesses are also known...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78414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/>
              <a:t>Use of RC4 in WEP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800" b="1" noProof="0" dirty="0">
                    <a:solidFill>
                      <a:srgbClr val="7030A0"/>
                    </a:solidFill>
                  </a:rPr>
                  <a:t>WEP</a:t>
                </a:r>
                <a:r>
                  <a:rPr lang="en-US" sz="2800" noProof="0" dirty="0">
                    <a:solidFill>
                      <a:srgbClr val="7030A0"/>
                    </a:solidFill>
                  </a:rPr>
                  <a:t> </a:t>
                </a:r>
                <a:r>
                  <a:rPr lang="en-US" sz="2800" noProof="0" dirty="0"/>
                  <a:t>= “Wired Equivalent Privacy”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800" noProof="0" dirty="0"/>
              </a:p>
              <a:p>
                <a:pPr>
                  <a:lnSpc>
                    <a:spcPct val="90000"/>
                  </a:lnSpc>
                </a:pPr>
                <a:r>
                  <a:rPr lang="en-US" sz="2800" noProof="0" dirty="0"/>
                  <a:t>Introduced in </a:t>
                </a:r>
                <a:r>
                  <a:rPr lang="en-US" sz="2800" b="1" noProof="0" dirty="0"/>
                  <a:t>1999</a:t>
                </a:r>
                <a:r>
                  <a:rPr lang="en-US" sz="2800" noProof="0" dirty="0"/>
                  <a:t>, for a long time widely used to protect </a:t>
                </a:r>
                <a:r>
                  <a:rPr lang="en-US" sz="2800" b="1" noProof="0" dirty="0" err="1">
                    <a:solidFill>
                      <a:srgbClr val="7030A0"/>
                    </a:solidFill>
                  </a:rPr>
                  <a:t>WiFi</a:t>
                </a:r>
                <a:r>
                  <a:rPr lang="en-US" sz="2800" noProof="0" dirty="0">
                    <a:solidFill>
                      <a:srgbClr val="7030A0"/>
                    </a:solidFill>
                  </a:rPr>
                  <a:t> </a:t>
                </a:r>
                <a:r>
                  <a:rPr lang="en-US" sz="2800" noProof="0" dirty="0"/>
                  <a:t>communication.</a:t>
                </a:r>
                <a:br>
                  <a:rPr lang="en-US" sz="2800" noProof="0" dirty="0"/>
                </a:br>
                <a:endParaRPr lang="en-US" sz="2800" noProof="0" dirty="0"/>
              </a:p>
              <a:p>
                <a:pPr>
                  <a:lnSpc>
                    <a:spcPct val="90000"/>
                  </a:lnSpc>
                </a:pPr>
                <a:r>
                  <a:rPr lang="en-US" sz="2800" noProof="0" dirty="0"/>
                  <a:t>How </a:t>
                </a:r>
                <a:r>
                  <a:rPr lang="en-US" sz="2800" b="1" noProof="0" dirty="0">
                    <a:solidFill>
                      <a:srgbClr val="FF0000"/>
                    </a:solidFill>
                  </a:rPr>
                  <a:t>RC4</a:t>
                </a:r>
                <a:r>
                  <a:rPr lang="en-US" sz="28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noProof="0" dirty="0"/>
                  <a:t>is used:</a:t>
                </a:r>
              </a:p>
              <a:p>
                <a:pPr lvl="1" algn="ctr">
                  <a:lnSpc>
                    <a:spcPct val="90000"/>
                  </a:lnSpc>
                  <a:buFontTx/>
                  <a:buNone/>
                </a:pPr>
                <a:r>
                  <a:rPr lang="en-US" sz="2400" noProof="0" dirty="0"/>
                  <a:t>to get the </a:t>
                </a:r>
                <a:r>
                  <a:rPr lang="en-US" sz="2400" b="1" noProof="0" dirty="0"/>
                  <a:t>seed</a:t>
                </a:r>
                <a:r>
                  <a:rPr lang="en-US" sz="2400" noProof="0" dirty="0"/>
                  <a:t>, the key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noProof="0" dirty="0"/>
                  <a:t> is </a:t>
                </a:r>
                <a:r>
                  <a:rPr lang="en-US" sz="2400" b="1" noProof="0" dirty="0"/>
                  <a:t>concatenated</a:t>
                </a:r>
                <a:r>
                  <a:rPr lang="en-US" sz="2400" noProof="0" dirty="0"/>
                  <a:t> with the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IV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400" noProof="0" dirty="0"/>
                  <a:t>old versions: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|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k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| = 40 bits, |IV| = 24 bits</a:t>
                </a:r>
                <a:br>
                  <a:rPr lang="en-US" sz="2400" noProof="0" dirty="0">
                    <a:solidFill>
                      <a:srgbClr val="FF0000"/>
                    </a:solidFill>
                  </a:rPr>
                </a:br>
                <a:r>
                  <a:rPr lang="en-US" sz="2400" noProof="0" dirty="0"/>
                  <a:t>(artificially weak because of the </a:t>
                </a:r>
                <a:r>
                  <a:rPr lang="en-US" sz="2400" b="1" noProof="0" dirty="0">
                    <a:solidFill>
                      <a:srgbClr val="008000"/>
                    </a:solidFill>
                  </a:rPr>
                  <a:t>US export restrictions</a:t>
                </a:r>
                <a:r>
                  <a:rPr lang="en-US" sz="2400" noProof="0" dirty="0"/>
                  <a:t>)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400" noProof="0" dirty="0"/>
                  <a:t>new versions: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|</a:t>
                </a:r>
                <a:r>
                  <a:rPr lang="en-US" sz="2400" b="1" i="1" noProof="0" dirty="0">
                    <a:solidFill>
                      <a:srgbClr val="FF0000"/>
                    </a:solidFill>
                  </a:rPr>
                  <a:t>k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| = 104 bits, |IV| = 24 bits</a:t>
                </a:r>
                <a:r>
                  <a:rPr lang="en-US" sz="2400" noProof="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447" t="-319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37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noProof="0" dirty="0"/>
              <a:t>RC4</a:t>
            </a:r>
            <a:r>
              <a:rPr lang="en-US" sz="4000" noProof="0" dirty="0"/>
              <a:t> in WEP – problems with the key length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80390"/>
            <a:ext cx="8229600" cy="47387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noProof="0" dirty="0">
                <a:solidFill>
                  <a:srgbClr val="FF0000"/>
                </a:solidFill>
              </a:rPr>
              <a:t>|k| = 40 bits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is </a:t>
            </a:r>
            <a:r>
              <a:rPr lang="en-US" sz="2800" b="1" noProof="0" dirty="0">
                <a:solidFill>
                  <a:srgbClr val="FF0000"/>
                </a:solidFill>
              </a:rPr>
              <a:t>not enough</a:t>
            </a:r>
            <a:r>
              <a:rPr lang="en-US" sz="2800" noProof="0" dirty="0"/>
              <a:t>: </a:t>
            </a:r>
            <a:br>
              <a:rPr lang="en-US" sz="2800" noProof="0" dirty="0"/>
            </a:br>
            <a:r>
              <a:rPr lang="en-US" sz="2800" noProof="0" dirty="0"/>
              <a:t>can be cracked using a </a:t>
            </a:r>
            <a:r>
              <a:rPr lang="en-US" sz="2800" b="1" noProof="0" dirty="0">
                <a:solidFill>
                  <a:srgbClr val="0070C0"/>
                </a:solidFill>
              </a:rPr>
              <a:t>brute-force attack</a:t>
            </a:r>
          </a:p>
          <a:p>
            <a:pPr>
              <a:lnSpc>
                <a:spcPct val="90000"/>
              </a:lnSpc>
            </a:pPr>
            <a:r>
              <a:rPr lang="en-US" sz="2800" b="1" noProof="0" dirty="0">
                <a:solidFill>
                  <a:srgbClr val="FF0000"/>
                </a:solidFill>
              </a:rPr>
              <a:t>IV </a:t>
            </a:r>
            <a:r>
              <a:rPr lang="en-US" sz="2800" noProof="0" dirty="0"/>
              <a:t>is changed for each packet.</a:t>
            </a:r>
            <a:br>
              <a:rPr lang="en-US" sz="2800" noProof="0" dirty="0"/>
            </a:br>
            <a:r>
              <a:rPr lang="en-US" sz="2800" noProof="0" dirty="0"/>
              <a:t>Hence </a:t>
            </a:r>
            <a:r>
              <a:rPr lang="en-US" sz="2800" b="1" noProof="0" dirty="0">
                <a:solidFill>
                  <a:srgbClr val="FF0000"/>
                </a:solidFill>
              </a:rPr>
              <a:t>|IV| = 24 bits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is also not enough:</a:t>
            </a:r>
          </a:p>
          <a:p>
            <a:pPr lvl="1">
              <a:lnSpc>
                <a:spcPct val="90000"/>
              </a:lnSpc>
            </a:pPr>
            <a:r>
              <a:rPr lang="en-US" sz="2400" noProof="0" dirty="0"/>
              <a:t>assume that each packet has length </a:t>
            </a:r>
            <a:r>
              <a:rPr lang="en-US" sz="2400" b="1" noProof="0" dirty="0">
                <a:solidFill>
                  <a:srgbClr val="FF0000"/>
                </a:solidFill>
              </a:rPr>
              <a:t>1500</a:t>
            </a:r>
            <a:r>
              <a:rPr lang="en-US" sz="2400" noProof="0" dirty="0">
                <a:solidFill>
                  <a:srgbClr val="FF0000"/>
                </a:solidFill>
              </a:rPr>
              <a:t> </a:t>
            </a:r>
            <a:r>
              <a:rPr lang="en-US" sz="2400" b="1" noProof="0" dirty="0">
                <a:solidFill>
                  <a:srgbClr val="FF0000"/>
                </a:solidFill>
              </a:rPr>
              <a:t>bytes</a:t>
            </a:r>
            <a:r>
              <a:rPr lang="en-US" sz="2400" noProof="0" dirty="0"/>
              <a:t>,</a:t>
            </a:r>
          </a:p>
          <a:p>
            <a:pPr lvl="1">
              <a:lnSpc>
                <a:spcPct val="90000"/>
              </a:lnSpc>
            </a:pPr>
            <a:r>
              <a:rPr lang="en-US" sz="2400" noProof="0" dirty="0"/>
              <a:t>with </a:t>
            </a:r>
            <a:r>
              <a:rPr lang="en-US" sz="2400" b="1" noProof="0" dirty="0">
                <a:solidFill>
                  <a:srgbClr val="FF0000"/>
                </a:solidFill>
              </a:rPr>
              <a:t>5Mbps</a:t>
            </a:r>
            <a:r>
              <a:rPr lang="en-US" sz="2400" noProof="0" dirty="0"/>
              <a:t> bandwidth the set of all possible </a:t>
            </a:r>
            <a:r>
              <a:rPr lang="en-US" sz="2400" b="1" noProof="0" dirty="0">
                <a:solidFill>
                  <a:srgbClr val="FF0000"/>
                </a:solidFill>
              </a:rPr>
              <a:t>IVs</a:t>
            </a:r>
            <a:r>
              <a:rPr lang="en-US" sz="2400" noProof="0" dirty="0"/>
              <a:t> will be exhausted in half a day</a:t>
            </a:r>
          </a:p>
          <a:p>
            <a:pPr>
              <a:lnSpc>
                <a:spcPct val="90000"/>
              </a:lnSpc>
            </a:pPr>
            <a:r>
              <a:rPr lang="en-US" sz="2800" noProof="0" dirty="0"/>
              <a:t>Some implementations reset </a:t>
            </a:r>
            <a:r>
              <a:rPr lang="en-US" sz="2800" b="1" noProof="0" dirty="0">
                <a:solidFill>
                  <a:srgbClr val="FF0000"/>
                </a:solidFill>
              </a:rPr>
              <a:t>IV := 0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after each restart – this makes things even worse.</a:t>
            </a:r>
            <a:br>
              <a:rPr lang="en-US" sz="2800" noProof="0" dirty="0"/>
            </a:br>
            <a:endParaRPr lang="en-US" sz="2800" noProof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noProof="0" dirty="0"/>
              <a:t>see </a:t>
            </a:r>
            <a:r>
              <a:rPr lang="en-US" sz="2000" b="1" noProof="0" dirty="0">
                <a:solidFill>
                  <a:srgbClr val="00B050"/>
                </a:solidFill>
              </a:rPr>
              <a:t>Nikita Borisov, Ian Goldberg, David Wagner (2001). "</a:t>
            </a:r>
            <a:r>
              <a:rPr lang="en-US" sz="2000" b="1" i="1" noProof="0" dirty="0">
                <a:solidFill>
                  <a:srgbClr val="00B050"/>
                </a:solidFill>
              </a:rPr>
              <a:t>Intercepting Mobile Communications: The Insecurity of 802.11</a:t>
            </a:r>
            <a:r>
              <a:rPr lang="en-US" sz="2000" b="1" noProof="0" dirty="0">
                <a:solidFill>
                  <a:srgbClr val="00B050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227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RC4 in WEP – the weak IVs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406" y="1759364"/>
            <a:ext cx="78867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noProof="0" dirty="0">
                <a:solidFill>
                  <a:srgbClr val="00B050"/>
                </a:solidFill>
              </a:rPr>
              <a:t>[Fluhrer, Mantin and Shamir, 2001]</a:t>
            </a:r>
            <a:br>
              <a:rPr lang="en-US" sz="2400" b="1" noProof="0" dirty="0">
                <a:solidFill>
                  <a:srgbClr val="00B050"/>
                </a:solidFill>
              </a:rPr>
            </a:br>
            <a:r>
              <a:rPr lang="en-US" sz="2400" noProof="0" dirty="0"/>
              <a:t>(we mentioned this attack already)</a:t>
            </a:r>
            <a:br>
              <a:rPr lang="en-US" sz="2400" noProof="0" dirty="0"/>
            </a:br>
            <a:br>
              <a:rPr lang="en-US" sz="2400" noProof="0" dirty="0"/>
            </a:br>
            <a:r>
              <a:rPr lang="en-US" sz="2400" noProof="0" dirty="0"/>
              <a:t>For so-called </a:t>
            </a:r>
            <a:r>
              <a:rPr lang="en-US" sz="2400" b="1" noProof="0" dirty="0">
                <a:solidFill>
                  <a:srgbClr val="008000"/>
                </a:solidFill>
              </a:rPr>
              <a:t>“weak IVs”</a:t>
            </a:r>
            <a:r>
              <a:rPr lang="en-US" sz="2400" noProof="0" dirty="0"/>
              <a:t> the key stream </a:t>
            </a:r>
            <a:r>
              <a:rPr lang="en-US" sz="2400" b="1" noProof="0" dirty="0"/>
              <a:t>reveals some information about the key</a:t>
            </a:r>
            <a:r>
              <a:rPr lang="en-US" sz="2400" noProof="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noProof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noProof="0" dirty="0"/>
              <a:t>In response the vendors started to “filter” the </a:t>
            </a:r>
            <a:r>
              <a:rPr lang="en-US" sz="2400" b="1" noProof="0" dirty="0">
                <a:solidFill>
                  <a:srgbClr val="008000"/>
                </a:solidFill>
              </a:rPr>
              <a:t>weak IVs</a:t>
            </a:r>
            <a:r>
              <a:rPr lang="en-US" sz="2400" noProof="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noProof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noProof="0" dirty="0"/>
              <a:t>But then </a:t>
            </a:r>
            <a:r>
              <a:rPr lang="en-US" sz="2400" b="1" noProof="0" dirty="0">
                <a:solidFill>
                  <a:srgbClr val="0070C0"/>
                </a:solidFill>
              </a:rPr>
              <a:t>new weak IVs were discovered</a:t>
            </a:r>
            <a:r>
              <a:rPr lang="en-US" sz="2400" noProof="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noProof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noProof="0" dirty="0"/>
              <a:t>[see e.g. </a:t>
            </a:r>
            <a:r>
              <a:rPr lang="en-US" sz="1800" noProof="0" dirty="0" err="1"/>
              <a:t>Bittau</a:t>
            </a:r>
            <a:r>
              <a:rPr lang="en-US" sz="1800" noProof="0" dirty="0"/>
              <a:t>, Handley, Lackey  </a:t>
            </a:r>
            <a:r>
              <a:rPr lang="en-US" sz="1800" i="1" noProof="0" dirty="0"/>
              <a:t>The final nail in WEP's coffin.</a:t>
            </a:r>
            <a:r>
              <a:rPr lang="en-US" sz="1800" noProof="0" dirty="0"/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800" i="1" noProof="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20064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15917"/>
          </a:xfrm>
        </p:spPr>
        <p:txBody>
          <a:bodyPr/>
          <a:lstStyle/>
          <a:p>
            <a:r>
              <a:rPr lang="en-US" noProof="0"/>
              <a:t>Another attack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“RC4 NOMORE” (</a:t>
            </a:r>
            <a:r>
              <a:rPr lang="en-US" noProof="0" dirty="0">
                <a:hlinkClick r:id="rId2"/>
              </a:rPr>
              <a:t>www.rc4nomore.com</a:t>
            </a:r>
            <a:r>
              <a:rPr lang="en-US" noProof="0" dirty="0"/>
              <a:t>)  </a:t>
            </a:r>
            <a:br>
              <a:rPr lang="en-US" noProof="0" dirty="0"/>
            </a:br>
            <a:r>
              <a:rPr lang="en-US" b="1" noProof="0" dirty="0">
                <a:solidFill>
                  <a:srgbClr val="00B050"/>
                </a:solidFill>
              </a:rPr>
              <a:t>[</a:t>
            </a:r>
            <a:r>
              <a:rPr lang="en-US" b="1" noProof="0" dirty="0" err="1">
                <a:solidFill>
                  <a:srgbClr val="00B050"/>
                </a:solidFill>
              </a:rPr>
              <a:t>Vanhoef</a:t>
            </a:r>
            <a:r>
              <a:rPr lang="en-US" b="1" noProof="0" dirty="0">
                <a:solidFill>
                  <a:srgbClr val="00B050"/>
                </a:solidFill>
              </a:rPr>
              <a:t> and </a:t>
            </a:r>
            <a:r>
              <a:rPr lang="en-US" b="1" noProof="0" dirty="0" err="1">
                <a:solidFill>
                  <a:srgbClr val="00B050"/>
                </a:solidFill>
              </a:rPr>
              <a:t>Piessens</a:t>
            </a:r>
            <a:r>
              <a:rPr lang="en-US" b="1" noProof="0" dirty="0">
                <a:solidFill>
                  <a:srgbClr val="00B050"/>
                </a:solidFill>
              </a:rPr>
              <a:t>, USENIX Security 2015]</a:t>
            </a:r>
          </a:p>
          <a:p>
            <a:pPr marL="0" indent="0">
              <a:buNone/>
            </a:pPr>
            <a:endParaRPr lang="en-US" b="1" noProof="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noProof="0" dirty="0">
                <a:solidFill>
                  <a:srgbClr val="FF0000"/>
                </a:solidFill>
              </a:rPr>
              <a:t>Conclusion</a:t>
            </a:r>
            <a:r>
              <a:rPr lang="en-US" noProof="0" dirty="0"/>
              <a:t>: RC4 should not be used in real life.</a:t>
            </a:r>
          </a:p>
        </p:txBody>
      </p:sp>
    </p:spTree>
    <p:extLst>
      <p:ext uri="{BB962C8B-B14F-4D97-AF65-F5344CB8AC3E}">
        <p14:creationId xmlns:p14="http://schemas.microsoft.com/office/powerpoint/2010/main" val="1165477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181" y="210518"/>
            <a:ext cx="7886700" cy="1325563"/>
          </a:xfrm>
        </p:spPr>
        <p:txBody>
          <a:bodyPr/>
          <a:lstStyle/>
          <a:p>
            <a:r>
              <a:rPr lang="en-US" noProof="0" dirty="0"/>
              <a:t>RC4 forbidden in TLS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065" t="19979" r="54069" b="46778"/>
          <a:stretch/>
        </p:blipFill>
        <p:spPr>
          <a:xfrm>
            <a:off x="527051" y="2165753"/>
            <a:ext cx="8327838" cy="371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889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Competitions for new stream ciphers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b="1" noProof="0" dirty="0">
                    <a:solidFill>
                      <a:srgbClr val="0070C0"/>
                    </a:solidFill>
                  </a:rPr>
                  <a:t>NESSIE</a:t>
                </a:r>
                <a:r>
                  <a:rPr lang="en-US" noProof="0" dirty="0"/>
                  <a:t> (New European Schemes for Signatures, Integrity and Encryption, 2000 – 2003) project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failed to select</a:t>
                </a:r>
                <a:r>
                  <a:rPr lang="en-US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noProof="0" dirty="0"/>
                  <a:t>a new stream cipher (all 6 candidates were broken)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noProof="0" dirty="0"/>
                  <a:t>	(where “</a:t>
                </a:r>
                <a:r>
                  <a:rPr lang="en-US" i="1" noProof="0" dirty="0"/>
                  <a:t>broken</a:t>
                </a:r>
                <a:r>
                  <a:rPr lang="en-US" noProof="0" dirty="0"/>
                  <a:t>” can mean e.g. that one can distinguish the output from random after seeing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r>
                  <a:rPr lang="en-US" noProof="0" dirty="0"/>
                  <a:t> bytes of output)</a:t>
                </a:r>
                <a:br>
                  <a:rPr lang="en-US" noProof="0" dirty="0"/>
                </a:br>
                <a:endParaRPr lang="en-US" baseline="30000" noProof="0" dirty="0"/>
              </a:p>
              <a:p>
                <a:pPr>
                  <a:lnSpc>
                    <a:spcPct val="80000"/>
                  </a:lnSpc>
                </a:pPr>
                <a:r>
                  <a:rPr lang="en-US" b="1" noProof="0" dirty="0" err="1">
                    <a:solidFill>
                      <a:srgbClr val="0070C0"/>
                    </a:solidFill>
                  </a:rPr>
                  <a:t>eStream</a:t>
                </a:r>
                <a:r>
                  <a:rPr lang="en-US" noProof="0" dirty="0"/>
                  <a:t> project (November 2004 – May 2008) chosen a portfolio of ciphers: </a:t>
                </a:r>
                <a:r>
                  <a:rPr lang="en-US" b="1" noProof="0" dirty="0"/>
                  <a:t>HC-128, Grain v1, Rabbit, MICKEY v2, Salsa20/12, Trivium, SOSEMANUK</a:t>
                </a:r>
                <a:r>
                  <a:rPr lang="en-US" noProof="0" dirty="0"/>
                  <a:t>.</a:t>
                </a:r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3198" r="-482" b="-319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63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176" y="79083"/>
            <a:ext cx="7886700" cy="947307"/>
          </a:xfrm>
        </p:spPr>
        <p:txBody>
          <a:bodyPr/>
          <a:lstStyle/>
          <a:p>
            <a:r>
              <a:rPr lang="en-US" noProof="0" dirty="0"/>
              <a:t>Salsa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0176" y="1187755"/>
                <a:ext cx="7886700" cy="538654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One of the winners of the </a:t>
                </a:r>
                <a:r>
                  <a:rPr lang="en-US" b="1" noProof="0" dirty="0" err="1">
                    <a:solidFill>
                      <a:srgbClr val="0070C0"/>
                    </a:solidFill>
                  </a:rPr>
                  <a:t>eStream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noProof="0" dirty="0"/>
                  <a:t>competition. </a:t>
                </a:r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rgbClr val="7030A0"/>
                    </a:solidFill>
                  </a:rPr>
                  <a:t>Author</a:t>
                </a:r>
                <a:r>
                  <a:rPr lang="en-US" noProof="0" dirty="0"/>
                  <a:t>: Dan Bernstein.</a:t>
                </a:r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rgbClr val="0070C0"/>
                    </a:solidFill>
                  </a:rPr>
                  <a:t>Very efficient</a:t>
                </a:r>
                <a:r>
                  <a:rPr lang="en-US" noProof="0" dirty="0"/>
                  <a:t> both in </a:t>
                </a:r>
                <a:r>
                  <a:rPr lang="en-US" b="1" noProof="0" dirty="0">
                    <a:solidFill>
                      <a:schemeClr val="accent6">
                        <a:lumMod val="75000"/>
                      </a:schemeClr>
                    </a:solidFill>
                  </a:rPr>
                  <a:t>hardware</a:t>
                </a:r>
                <a:r>
                  <a:rPr lang="en-US" noProof="0" dirty="0"/>
                  <a:t> and in </a:t>
                </a:r>
                <a:r>
                  <a:rPr lang="en-US" b="1" noProof="0" dirty="0">
                    <a:solidFill>
                      <a:schemeClr val="accent6">
                        <a:lumMod val="75000"/>
                      </a:schemeClr>
                    </a:solidFill>
                  </a:rPr>
                  <a:t>software</a:t>
                </a:r>
                <a:r>
                  <a:rPr lang="en-US" noProof="0" dirty="0"/>
                  <a:t>.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𝐒𝐚𝐥𝐬𝐚𝟐𝟎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)||⋯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Note: </a:t>
                </a:r>
              </a:p>
              <a:p>
                <a:r>
                  <a:rPr lang="en-US" b="1" noProof="0" dirty="0">
                    <a:solidFill>
                      <a:srgbClr val="00B050"/>
                    </a:solidFill>
                  </a:rPr>
                  <a:t>parallelizable</a:t>
                </a:r>
              </a:p>
              <a:p>
                <a:r>
                  <a:rPr lang="en-US" noProof="0" dirty="0"/>
                  <a:t>allows “</a:t>
                </a:r>
                <a:r>
                  <a:rPr lang="en-US" b="1" noProof="0" dirty="0">
                    <a:solidFill>
                      <a:srgbClr val="00B050"/>
                    </a:solidFill>
                  </a:rPr>
                  <a:t>random access</a:t>
                </a:r>
                <a:r>
                  <a:rPr lang="en-US" noProof="0" dirty="0"/>
                  <a:t>”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176" y="1187755"/>
                <a:ext cx="7886700" cy="5386547"/>
              </a:xfrm>
              <a:blipFill>
                <a:blip r:embed="rId2"/>
                <a:stretch>
                  <a:fillRect l="-1286" t="-305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ular Callout 3"/>
              <p:cNvSpPr/>
              <p:nvPr/>
            </p:nvSpPr>
            <p:spPr>
              <a:xfrm>
                <a:off x="2257450" y="2574304"/>
                <a:ext cx="2173046" cy="854696"/>
              </a:xfrm>
              <a:prstGeom prst="wedgeRectCallout">
                <a:avLst>
                  <a:gd name="adj1" fmla="val -20338"/>
                  <a:gd name="adj2" fmla="val 69423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noProof="0" dirty="0"/>
                  <a:t>key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noProof="0" dirty="0"/>
                  <a:t>(size: 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256</a:t>
                </a:r>
                <a:r>
                  <a:rPr lang="en-US" sz="2000" noProof="0" dirty="0"/>
                  <a:t> bits)</a:t>
                </a:r>
              </a:p>
            </p:txBody>
          </p:sp>
        </mc:Choice>
        <mc:Fallback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450" y="2574304"/>
                <a:ext cx="2173046" cy="854696"/>
              </a:xfrm>
              <a:prstGeom prst="wedgeRectCallout">
                <a:avLst>
                  <a:gd name="adj1" fmla="val -20338"/>
                  <a:gd name="adj2" fmla="val 69423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ular Callout 4"/>
              <p:cNvSpPr/>
              <p:nvPr/>
            </p:nvSpPr>
            <p:spPr>
              <a:xfrm>
                <a:off x="2743183" y="4304585"/>
                <a:ext cx="1790476" cy="809035"/>
              </a:xfrm>
              <a:prstGeom prst="wedgeRectCallout">
                <a:avLst>
                  <a:gd name="adj1" fmla="val -23236"/>
                  <a:gd name="adj2" fmla="val -8376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noProof="0" dirty="0"/>
                  <a:t>nonce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br>
                  <a:rPr lang="en-US" sz="2000" noProof="0" dirty="0"/>
                </a:br>
                <a:r>
                  <a:rPr lang="en-US" sz="2000" noProof="0" dirty="0"/>
                  <a:t>(size: 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64</a:t>
                </a:r>
                <a:r>
                  <a:rPr lang="en-US" sz="2000" noProof="0" dirty="0"/>
                  <a:t> bits)</a:t>
                </a:r>
              </a:p>
            </p:txBody>
          </p:sp>
        </mc:Choice>
        <mc:Fallback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83" y="4304585"/>
                <a:ext cx="1790476" cy="809035"/>
              </a:xfrm>
              <a:prstGeom prst="wedgeRectCallout">
                <a:avLst>
                  <a:gd name="adj1" fmla="val -23236"/>
                  <a:gd name="adj2" fmla="val -83766"/>
                </a:avLst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55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23" y="27821"/>
            <a:ext cx="7886700" cy="1325563"/>
          </a:xfrm>
        </p:spPr>
        <p:txBody>
          <a:bodyPr/>
          <a:lstStyle/>
          <a:p>
            <a:r>
              <a:rPr lang="en-US" noProof="0" dirty="0"/>
              <a:t>How is </a:t>
            </a:r>
            <a:r>
              <a:rPr lang="en-US" b="1" i="1" noProof="0" dirty="0">
                <a:solidFill>
                  <a:srgbClr val="FF0000"/>
                </a:solidFill>
              </a:rPr>
              <a:t>H </a:t>
            </a:r>
            <a:r>
              <a:rPr lang="en-US" noProof="0" dirty="0"/>
              <a:t>defined?</a:t>
            </a:r>
            <a:endParaRPr lang="en-US" b="1" i="1" noProof="0" dirty="0"/>
          </a:p>
        </p:txBody>
      </p:sp>
      <p:sp>
        <p:nvSpPr>
          <p:cNvPr id="4" name="Rectangle 3"/>
          <p:cNvSpPr/>
          <p:nvPr/>
        </p:nvSpPr>
        <p:spPr>
          <a:xfrm>
            <a:off x="1161043" y="3164781"/>
            <a:ext cx="393437" cy="21947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47967" y="1353384"/>
                <a:ext cx="16571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800" b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800" b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</m:oMath>
                  </m:oMathPara>
                </a14:m>
                <a:endParaRPr lang="en-US" sz="2800" noProof="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67" y="1353384"/>
                <a:ext cx="165712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5" idx="2"/>
            <a:endCxn id="4" idx="0"/>
          </p:cNvCxnSpPr>
          <p:nvPr/>
        </p:nvCxnSpPr>
        <p:spPr>
          <a:xfrm flipH="1">
            <a:off x="1357762" y="1876604"/>
            <a:ext cx="18765" cy="128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9843" y="2291897"/>
                <a:ext cx="229473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noProof="0" dirty="0"/>
                  <a:t>bits from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noProof="0" dirty="0"/>
                  <a:t>, and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43" y="2291897"/>
                <a:ext cx="2294731" cy="400110"/>
              </a:xfrm>
              <a:prstGeom prst="rect">
                <a:avLst/>
              </a:prstGeom>
              <a:blipFill>
                <a:blip r:embed="rId3"/>
                <a:stretch>
                  <a:fillRect l="-2762" t="-9091" b="-2424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/>
          <p:cNvSpPr/>
          <p:nvPr/>
        </p:nvSpPr>
        <p:spPr>
          <a:xfrm>
            <a:off x="796065" y="3202167"/>
            <a:ext cx="242047" cy="2164098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34973" y="3940940"/>
            <a:ext cx="76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64</a:t>
            </a:r>
            <a:r>
              <a:rPr lang="en-US" noProof="0" dirty="0"/>
              <a:t> bytes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7725" y="3175180"/>
            <a:ext cx="415852" cy="219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Arrow Connector 15"/>
          <p:cNvCxnSpPr>
            <a:stCxn id="4" idx="3"/>
            <a:endCxn id="13" idx="1"/>
          </p:cNvCxnSpPr>
          <p:nvPr/>
        </p:nvCxnSpPr>
        <p:spPr>
          <a:xfrm>
            <a:off x="1554480" y="4262154"/>
            <a:ext cx="1093245" cy="10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3"/>
            <a:endCxn id="30" idx="1"/>
          </p:cNvCxnSpPr>
          <p:nvPr/>
        </p:nvCxnSpPr>
        <p:spPr>
          <a:xfrm>
            <a:off x="3063577" y="4272553"/>
            <a:ext cx="1193761" cy="1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879730" y="4063110"/>
            <a:ext cx="420672" cy="3665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noProof="0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3707" y="4063110"/>
            <a:ext cx="420672" cy="3665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noProof="0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7338" y="3186843"/>
            <a:ext cx="415852" cy="219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/>
          <p:cNvSpPr/>
          <p:nvPr/>
        </p:nvSpPr>
        <p:spPr>
          <a:xfrm>
            <a:off x="6957401" y="3164779"/>
            <a:ext cx="415852" cy="219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43"/>
          <p:cNvSpPr/>
          <p:nvPr/>
        </p:nvSpPr>
        <p:spPr>
          <a:xfrm>
            <a:off x="8303900" y="3171519"/>
            <a:ext cx="415852" cy="21947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9" name="Straight Arrow Connector 48"/>
          <p:cNvCxnSpPr>
            <a:stCxn id="33" idx="3"/>
            <a:endCxn id="44" idx="1"/>
          </p:cNvCxnSpPr>
          <p:nvPr/>
        </p:nvCxnSpPr>
        <p:spPr>
          <a:xfrm>
            <a:off x="7373253" y="4262152"/>
            <a:ext cx="930647" cy="6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/>
              <p:cNvSpPr/>
              <p:nvPr/>
            </p:nvSpPr>
            <p:spPr>
              <a:xfrm>
                <a:off x="7632553" y="4056866"/>
                <a:ext cx="457870" cy="36658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⊞</m:t>
                      </m:r>
                    </m:oMath>
                  </m:oMathPara>
                </a14:m>
                <a:endParaRPr lang="en-US" sz="1600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553" y="4056866"/>
                <a:ext cx="457870" cy="366589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/>
          <p:cNvSpPr/>
          <p:nvPr/>
        </p:nvSpPr>
        <p:spPr>
          <a:xfrm>
            <a:off x="1658863" y="4215680"/>
            <a:ext cx="80682" cy="929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77" name="Elbow Connector 76"/>
          <p:cNvCxnSpPr>
            <a:stCxn id="65" idx="4"/>
          </p:cNvCxnSpPr>
          <p:nvPr/>
        </p:nvCxnSpPr>
        <p:spPr>
          <a:xfrm rot="16200000" flipH="1">
            <a:off x="3720873" y="2286954"/>
            <a:ext cx="2119907" cy="61632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52" idx="2"/>
          </p:cNvCxnSpPr>
          <p:nvPr/>
        </p:nvCxnSpPr>
        <p:spPr>
          <a:xfrm flipV="1">
            <a:off x="7861488" y="4423455"/>
            <a:ext cx="0" cy="200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ular Callout 86"/>
              <p:cNvSpPr/>
              <p:nvPr/>
            </p:nvSpPr>
            <p:spPr>
              <a:xfrm>
                <a:off x="2855431" y="1826446"/>
                <a:ext cx="1997896" cy="612648"/>
              </a:xfrm>
              <a:prstGeom prst="wedgeRectCallout">
                <a:avLst>
                  <a:gd name="adj1" fmla="val -73876"/>
                  <a:gd name="adj2" fmla="val 300428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some function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7" name="Rectangular Callout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431" y="1826446"/>
                <a:ext cx="1997896" cy="612648"/>
              </a:xfrm>
              <a:prstGeom prst="wedgeRectCallout">
                <a:avLst>
                  <a:gd name="adj1" fmla="val -73876"/>
                  <a:gd name="adj2" fmla="val 300428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4916260" y="403101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. . .</a:t>
            </a:r>
          </a:p>
        </p:txBody>
      </p:sp>
      <p:sp>
        <p:nvSpPr>
          <p:cNvPr id="89" name="Left Brace 88"/>
          <p:cNvSpPr/>
          <p:nvPr/>
        </p:nvSpPr>
        <p:spPr>
          <a:xfrm rot="16200000">
            <a:off x="4746773" y="3090921"/>
            <a:ext cx="494347" cy="4965237"/>
          </a:xfrm>
          <a:prstGeom prst="leftBrace">
            <a:avLst>
              <a:gd name="adj1" fmla="val 311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/>
              <p:cNvSpPr txBox="1"/>
              <p:nvPr/>
            </p:nvSpPr>
            <p:spPr>
              <a:xfrm>
                <a:off x="4388748" y="5782253"/>
                <a:ext cx="12103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rounds</a:t>
                </a: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748" y="5782253"/>
                <a:ext cx="1210396" cy="369332"/>
              </a:xfrm>
              <a:prstGeom prst="rect">
                <a:avLst/>
              </a:prstGeom>
              <a:blipFill>
                <a:blip r:embed="rId6"/>
                <a:stretch>
                  <a:fillRect t="-6667" r="-4167" b="-2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ular Callout 99"/>
          <p:cNvSpPr/>
          <p:nvPr/>
        </p:nvSpPr>
        <p:spPr>
          <a:xfrm>
            <a:off x="6890273" y="1081252"/>
            <a:ext cx="1829479" cy="612648"/>
          </a:xfrm>
          <a:prstGeom prst="wedgeRectCallout">
            <a:avLst>
              <a:gd name="adj1" fmla="val 4985"/>
              <a:gd name="adj2" fmla="val 42509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word (</a:t>
            </a:r>
            <a:r>
              <a:rPr lang="en-US" b="1" noProof="0" dirty="0">
                <a:solidFill>
                  <a:srgbClr val="FF0000"/>
                </a:solidFill>
              </a:rPr>
              <a:t>32</a:t>
            </a:r>
            <a:r>
              <a:rPr lang="en-US" noProof="0" dirty="0"/>
              <a:t> bit) addition</a:t>
            </a:r>
            <a:endParaRPr lang="en-US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72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/>
      <p:bldP spid="13" grpId="0" animBg="1"/>
      <p:bldP spid="19" grpId="0" animBg="1"/>
      <p:bldP spid="20" grpId="0" animBg="1"/>
      <p:bldP spid="30" grpId="0" animBg="1"/>
      <p:bldP spid="33" grpId="0" animBg="1"/>
      <p:bldP spid="44" grpId="0" animBg="1"/>
      <p:bldP spid="52" grpId="0" animBg="1"/>
      <p:bldP spid="65" grpId="0" animBg="1"/>
      <p:bldP spid="87" grpId="0" animBg="1"/>
      <p:bldP spid="88" grpId="0"/>
      <p:bldP spid="89" grpId="0" animBg="1"/>
      <p:bldP spid="90" grpId="0"/>
      <p:bldP spid="10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Is there an alternative to the stream ciphers?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438400"/>
            <a:ext cx="82296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noProof="0" dirty="0"/>
              <a:t>Yes!</a:t>
            </a:r>
          </a:p>
          <a:p>
            <a:pPr algn="ctr">
              <a:buFontTx/>
              <a:buNone/>
            </a:pPr>
            <a:r>
              <a:rPr lang="en-US" sz="4400" noProof="0" dirty="0"/>
              <a:t>the </a:t>
            </a:r>
            <a:r>
              <a:rPr lang="en-US" sz="4400" b="1" noProof="0" dirty="0">
                <a:solidFill>
                  <a:srgbClr val="FF0000"/>
                </a:solidFill>
              </a:rPr>
              <a:t>block ciphers</a:t>
            </a:r>
          </a:p>
          <a:p>
            <a:pPr algn="ctr">
              <a:buFontTx/>
              <a:buNone/>
            </a:pPr>
            <a:endParaRPr lang="en-US" sz="4400" b="1" noProof="0" dirty="0">
              <a:solidFill>
                <a:srgbClr val="99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4915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9493" y="1091017"/>
            <a:ext cx="6572296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496359" y="3827779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3750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EF44A5-44EB-2E05-FA41-EDDF24F5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9" y="158064"/>
            <a:ext cx="8739941" cy="1325563"/>
          </a:xfrm>
        </p:spPr>
        <p:txBody>
          <a:bodyPr/>
          <a:lstStyle/>
          <a:p>
            <a:r>
              <a:rPr lang="en-US" noProof="0" dirty="0"/>
              <a:t>A common way of constructing “ciphers”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C70BE2-82C8-249D-4697-1EAD2E4CA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380" y="1690689"/>
            <a:ext cx="8739941" cy="840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A cipher is just “a </a:t>
            </a:r>
            <a:r>
              <a:rPr lang="en-US" b="1" noProof="0" dirty="0"/>
              <a:t>deterministic</a:t>
            </a:r>
            <a:r>
              <a:rPr lang="en-US" noProof="0" dirty="0"/>
              <a:t> </a:t>
            </a:r>
            <a:r>
              <a:rPr lang="en-US" b="1" noProof="0" dirty="0"/>
              <a:t>box that </a:t>
            </a:r>
            <a:r>
              <a:rPr lang="en-US" b="1" noProof="0" dirty="0">
                <a:solidFill>
                  <a:srgbClr val="0070C0"/>
                </a:solidFill>
              </a:rPr>
              <a:t>encrypts</a:t>
            </a:r>
            <a:r>
              <a:rPr lang="en-US" noProof="0" dirty="0"/>
              <a:t>”.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249CC1-D41A-6CA7-33F0-896F243F085C}"/>
                  </a:ext>
                </a:extLst>
              </p:cNvPr>
              <p:cNvSpPr/>
              <p:nvPr/>
            </p:nvSpPr>
            <p:spPr>
              <a:xfrm>
                <a:off x="4382134" y="3531036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4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249CC1-D41A-6CA7-33F0-896F243F0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134" y="3531036"/>
                <a:ext cx="1214446" cy="1143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0F4845-C64F-24F7-3C8C-441FA1015352}"/>
                  </a:ext>
                </a:extLst>
              </p:cNvPr>
              <p:cNvSpPr/>
              <p:nvPr/>
            </p:nvSpPr>
            <p:spPr>
              <a:xfrm>
                <a:off x="3667754" y="3531036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0F4845-C64F-24F7-3C8C-441FA1015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754" y="3531036"/>
                <a:ext cx="357190" cy="1143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13F918-210A-FE15-FA61-563167802A9C}"/>
                  </a:ext>
                </a:extLst>
              </p:cNvPr>
              <p:cNvSpPr/>
              <p:nvPr/>
            </p:nvSpPr>
            <p:spPr>
              <a:xfrm>
                <a:off x="4382134" y="2888094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13F918-210A-FE15-FA61-563167802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134" y="2888094"/>
                <a:ext cx="1214446" cy="357190"/>
              </a:xfrm>
              <a:prstGeom prst="rect">
                <a:avLst/>
              </a:prstGeom>
              <a:blipFill>
                <a:blip r:embed="rId4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824D4E-3AE3-399A-1DCE-AE2A1E9F44D1}"/>
                  </a:ext>
                </a:extLst>
              </p:cNvPr>
              <p:cNvSpPr/>
              <p:nvPr/>
            </p:nvSpPr>
            <p:spPr>
              <a:xfrm>
                <a:off x="4382134" y="4959796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824D4E-3AE3-399A-1DCE-AE2A1E9F4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134" y="4959796"/>
                <a:ext cx="1214446" cy="357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81914B-EC88-DAB1-1C94-AC4DC9DAD3E5}"/>
              </a:ext>
            </a:extLst>
          </p:cNvPr>
          <p:cNvCxnSpPr/>
          <p:nvPr/>
        </p:nvCxnSpPr>
        <p:spPr>
          <a:xfrm rot="5400000" flipH="1" flipV="1">
            <a:off x="4668680" y="338736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338750-685D-0756-25CB-3161E4EE0CC0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4024944" y="4102540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E51F19-895F-906B-A783-6E27E7D124EA}"/>
              </a:ext>
            </a:extLst>
          </p:cNvPr>
          <p:cNvCxnSpPr/>
          <p:nvPr/>
        </p:nvCxnSpPr>
        <p:spPr>
          <a:xfrm rot="5400000">
            <a:off x="5034600" y="337863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E47FD3-864E-F5BC-143E-425B2CB91341}"/>
              </a:ext>
            </a:extLst>
          </p:cNvPr>
          <p:cNvCxnSpPr/>
          <p:nvPr/>
        </p:nvCxnSpPr>
        <p:spPr>
          <a:xfrm rot="5400000" flipH="1" flipV="1">
            <a:off x="4668680" y="481612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DD5481-A42E-E4AE-8640-489FB1C427B8}"/>
              </a:ext>
            </a:extLst>
          </p:cNvPr>
          <p:cNvCxnSpPr/>
          <p:nvPr/>
        </p:nvCxnSpPr>
        <p:spPr>
          <a:xfrm rot="5400000">
            <a:off x="5034600" y="480739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4">
            <a:extLst>
              <a:ext uri="{FF2B5EF4-FFF2-40B4-BE49-F238E27FC236}">
                <a16:creationId xmlns:a16="http://schemas.microsoft.com/office/drawing/2014/main" id="{A8EB483B-1BA4-BA46-DA9F-C6F51182F4AB}"/>
              </a:ext>
            </a:extLst>
          </p:cNvPr>
          <p:cNvSpPr txBox="1"/>
          <p:nvPr/>
        </p:nvSpPr>
        <p:spPr>
          <a:xfrm>
            <a:off x="414721" y="5493115"/>
            <a:ext cx="8479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Name: </a:t>
            </a:r>
            <a:r>
              <a:rPr lang="en-US" sz="2400" dirty="0"/>
              <a:t>block ciphers</a:t>
            </a:r>
            <a:endParaRPr lang="en-US" sz="2400" noProof="0" dirty="0"/>
          </a:p>
          <a:p>
            <a:pPr marL="0" indent="0">
              <a:buNone/>
            </a:pPr>
            <a:r>
              <a:rPr lang="en-US" sz="2400" b="1" noProof="0" dirty="0">
                <a:solidFill>
                  <a:srgbClr val="0070C0"/>
                </a:solidFill>
              </a:rPr>
              <a:t>Examples</a:t>
            </a:r>
            <a:r>
              <a:rPr lang="en-US" sz="2400" noProof="0" dirty="0"/>
              <a:t>: DES, AES,…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Warning</a:t>
            </a:r>
            <a:r>
              <a:rPr lang="en-US" sz="2400" dirty="0"/>
              <a:t>: not a good way to encrypt “directly”</a:t>
            </a:r>
            <a:r>
              <a:rPr lang="en-US" sz="2400" noProof="0" dirty="0"/>
              <a:t> </a:t>
            </a:r>
            <a:endParaRPr lang="en-US" sz="240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414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1E8E-6B11-4E78-B249-888BC1ED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7" y="244919"/>
            <a:ext cx="7886700" cy="713951"/>
          </a:xfrm>
        </p:spPr>
        <p:txBody>
          <a:bodyPr/>
          <a:lstStyle/>
          <a:p>
            <a:r>
              <a:rPr lang="en-US" dirty="0"/>
              <a:t>How to model them formally?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C50CB1-6147-4412-9EB3-8DBC02670B1C}"/>
                  </a:ext>
                </a:extLst>
              </p:cNvPr>
              <p:cNvSpPr/>
              <p:nvPr/>
            </p:nvSpPr>
            <p:spPr>
              <a:xfrm>
                <a:off x="4056313" y="2482018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4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C50CB1-6147-4412-9EB3-8DBC02670B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313" y="2482018"/>
                <a:ext cx="1214446" cy="1143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BF9E948-E33B-499E-8C72-DF192FD6EC4B}"/>
                  </a:ext>
                </a:extLst>
              </p:cNvPr>
              <p:cNvSpPr/>
              <p:nvPr/>
            </p:nvSpPr>
            <p:spPr>
              <a:xfrm>
                <a:off x="3341933" y="2482018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BF9E948-E33B-499E-8C72-DF192FD6E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933" y="2482018"/>
                <a:ext cx="357190" cy="1143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0E8BB4-F6E6-4CB7-97F8-77C4C12DA51D}"/>
                  </a:ext>
                </a:extLst>
              </p:cNvPr>
              <p:cNvSpPr/>
              <p:nvPr/>
            </p:nvSpPr>
            <p:spPr>
              <a:xfrm>
                <a:off x="4056313" y="1839076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0E8BB4-F6E6-4CB7-97F8-77C4C12DA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313" y="1839076"/>
                <a:ext cx="1214446" cy="357190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151AA7-41B7-443A-9BAB-1BCDA36181DA}"/>
                  </a:ext>
                </a:extLst>
              </p:cNvPr>
              <p:cNvSpPr/>
              <p:nvPr/>
            </p:nvSpPr>
            <p:spPr>
              <a:xfrm>
                <a:off x="4056313" y="3910778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151AA7-41B7-443A-9BAB-1BCDA3618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313" y="3910778"/>
                <a:ext cx="1214446" cy="357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3DD469-6621-4965-A77B-2B7F1B4651A1}"/>
              </a:ext>
            </a:extLst>
          </p:cNvPr>
          <p:cNvCxnSpPr/>
          <p:nvPr/>
        </p:nvCxnSpPr>
        <p:spPr>
          <a:xfrm rot="5400000" flipH="1" flipV="1">
            <a:off x="4342859" y="233834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AE9FCA-57A4-40EA-89B4-565BE2478046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3699123" y="305352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1B755D-B5EC-470D-B383-87DBA51EAA30}"/>
              </a:ext>
            </a:extLst>
          </p:cNvPr>
          <p:cNvCxnSpPr/>
          <p:nvPr/>
        </p:nvCxnSpPr>
        <p:spPr>
          <a:xfrm rot="5400000">
            <a:off x="4708779" y="2329618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81D08E-5A7D-4812-AECD-A270A027129F}"/>
              </a:ext>
            </a:extLst>
          </p:cNvPr>
          <p:cNvCxnSpPr/>
          <p:nvPr/>
        </p:nvCxnSpPr>
        <p:spPr>
          <a:xfrm rot="5400000" flipH="1" flipV="1">
            <a:off x="4342859" y="376710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BB6DDB-7267-4737-9A76-FFDCEEE12B1C}"/>
              </a:ext>
            </a:extLst>
          </p:cNvPr>
          <p:cNvCxnSpPr/>
          <p:nvPr/>
        </p:nvCxnSpPr>
        <p:spPr>
          <a:xfrm rot="5400000">
            <a:off x="4708779" y="3758378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D78C7A-ACF3-4D01-BF75-A633E21F8F77}"/>
              </a:ext>
            </a:extLst>
          </p:cNvPr>
          <p:cNvSpPr txBox="1"/>
          <p:nvPr/>
        </p:nvSpPr>
        <p:spPr>
          <a:xfrm>
            <a:off x="332372" y="4622862"/>
            <a:ext cx="8479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2400" noProof="0" dirty="0"/>
          </a:p>
          <a:p>
            <a:pPr algn="ctr"/>
            <a:r>
              <a:rPr lang="en-US" sz="2400" b="1" kern="1200" noProof="0" dirty="0">
                <a:solidFill>
                  <a:srgbClr val="008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block cipher</a:t>
            </a:r>
            <a:r>
              <a:rPr lang="en-US" sz="2400" kern="1200" noProof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 ≈ </a:t>
            </a:r>
            <a:r>
              <a:rPr lang="en-US" sz="2400" dirty="0"/>
              <a:t>“a </a:t>
            </a:r>
            <a:r>
              <a:rPr lang="en-US" sz="2400" b="1" dirty="0"/>
              <a:t>deterministic</a:t>
            </a:r>
            <a:r>
              <a:rPr lang="en-US" sz="2400" dirty="0"/>
              <a:t> </a:t>
            </a:r>
            <a:r>
              <a:rPr lang="en-US" sz="2400" b="1" dirty="0"/>
              <a:t>box that </a:t>
            </a:r>
            <a:r>
              <a:rPr lang="en-US" sz="2400" b="1" dirty="0">
                <a:solidFill>
                  <a:srgbClr val="7030A0"/>
                </a:solidFill>
              </a:rPr>
              <a:t>behaves randomly</a:t>
            </a:r>
            <a:r>
              <a:rPr lang="en-US" sz="2400" dirty="0"/>
              <a:t>”.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≈</a:t>
            </a:r>
            <a:r>
              <a:rPr lang="en-US" sz="2400" b="1" kern="1200" noProof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 a pseudorandom </a:t>
            </a:r>
            <a:r>
              <a:rPr lang="en-US" sz="2400" b="1" u="sng" kern="1200" noProof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permutation</a:t>
            </a:r>
            <a:endParaRPr lang="en-US" sz="240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525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939784"/>
          </a:xfrm>
        </p:spPr>
        <p:txBody>
          <a:bodyPr>
            <a:noAutofit/>
          </a:bodyPr>
          <a:lstStyle/>
          <a:p>
            <a:r>
              <a:rPr lang="en-US" sz="4000" noProof="0" dirty="0"/>
              <a:t>Random permutations</a:t>
            </a:r>
          </a:p>
        </p:txBody>
      </p:sp>
      <p:pic>
        <p:nvPicPr>
          <p:cNvPr id="1026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792311"/>
            <a:ext cx="2447409" cy="2851267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714744" y="3863881"/>
                <a:ext cx="2428891" cy="64633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noProof="0" dirty="0">
                    <a:solidFill>
                      <a:schemeClr val="tx1"/>
                    </a:solidFill>
                  </a:rPr>
                  <a:t>A random function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44" y="3863881"/>
                <a:ext cx="2428891" cy="646331"/>
              </a:xfrm>
              <a:prstGeom prst="rect">
                <a:avLst/>
              </a:prstGeom>
              <a:blipFill>
                <a:blip r:embed="rId4"/>
                <a:stretch>
                  <a:fillRect t="-3774" b="-754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2" descr="MCj0411466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29520" y="1857364"/>
            <a:ext cx="1401763" cy="1457325"/>
          </a:xfrm>
          <a:prstGeom prst="rect">
            <a:avLst/>
          </a:prstGeom>
          <a:noFill/>
        </p:spPr>
      </p:pic>
      <p:pic>
        <p:nvPicPr>
          <p:cNvPr id="7" name="Picture 6" descr="MCj0415808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2910" y="1785926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ight Arrow 7"/>
              <p:cNvSpPr/>
              <p:nvPr/>
            </p:nvSpPr>
            <p:spPr>
              <a:xfrm rot="2407857">
                <a:off x="2454961" y="2399819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07857">
                <a:off x="2454961" y="2399819"/>
                <a:ext cx="1589063" cy="667032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Left Arrow 9"/>
              <p:cNvSpPr/>
              <p:nvPr/>
            </p:nvSpPr>
            <p:spPr>
              <a:xfrm rot="2465745">
                <a:off x="1906996" y="2874401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Lef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65745">
                <a:off x="1906996" y="2874401"/>
                <a:ext cx="1643074" cy="766919"/>
              </a:xfrm>
              <a:prstGeom prst="lef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Left Arrow 12"/>
              <p:cNvSpPr/>
              <p:nvPr/>
            </p:nvSpPr>
            <p:spPr>
              <a:xfrm rot="19070068">
                <a:off x="5705097" y="2708853"/>
                <a:ext cx="1562828" cy="785818"/>
              </a:xfrm>
              <a:prstGeom prst="lef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Lef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70068">
                <a:off x="5705097" y="2708853"/>
                <a:ext cx="1562828" cy="785818"/>
              </a:xfrm>
              <a:prstGeom prst="lef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ight Arrow 14"/>
              <p:cNvSpPr/>
              <p:nvPr/>
            </p:nvSpPr>
            <p:spPr>
              <a:xfrm rot="19096710">
                <a:off x="6205828" y="3280819"/>
                <a:ext cx="1571636" cy="785818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Right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96710">
                <a:off x="6205828" y="3280819"/>
                <a:ext cx="1571636" cy="785818"/>
              </a:xfrm>
              <a:prstGeom prst="rightArrow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ight Arrow 16"/>
              <p:cNvSpPr/>
              <p:nvPr/>
            </p:nvSpPr>
            <p:spPr>
              <a:xfrm rot="2407857">
                <a:off x="1597705" y="3719711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Right Arrow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07857">
                <a:off x="1597705" y="3719711"/>
                <a:ext cx="1589063" cy="667032"/>
              </a:xfrm>
              <a:prstGeom prst="rightArrow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Left Arrow 17"/>
              <p:cNvSpPr/>
              <p:nvPr/>
            </p:nvSpPr>
            <p:spPr>
              <a:xfrm rot="2465745">
                <a:off x="978301" y="4160284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Left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65745">
                <a:off x="978301" y="4160284"/>
                <a:ext cx="1643074" cy="766919"/>
              </a:xfrm>
              <a:prstGeom prst="leftArrow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Left Arrow 18"/>
              <p:cNvSpPr/>
              <p:nvPr/>
            </p:nvSpPr>
            <p:spPr>
              <a:xfrm rot="19070068">
                <a:off x="6652282" y="3923301"/>
                <a:ext cx="1562828" cy="785818"/>
              </a:xfrm>
              <a:prstGeom prst="lef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Left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70068">
                <a:off x="6652282" y="3923301"/>
                <a:ext cx="1562828" cy="785818"/>
              </a:xfrm>
              <a:prstGeom prst="leftArrow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ight Arrow 19"/>
              <p:cNvSpPr/>
              <p:nvPr/>
            </p:nvSpPr>
            <p:spPr>
              <a:xfrm rot="19096710">
                <a:off x="7153013" y="4495267"/>
                <a:ext cx="1571636" cy="785818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Right Arrow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96710">
                <a:off x="7153013" y="4495267"/>
                <a:ext cx="1571636" cy="785818"/>
              </a:xfrm>
              <a:prstGeom prst="rightArrow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500430" y="1357298"/>
            <a:ext cx="30003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/>
              <a:t>A box with a “random function”</a:t>
            </a:r>
          </a:p>
          <a:p>
            <a:pPr algn="ctr"/>
            <a:r>
              <a:rPr lang="en-US" sz="2000" noProof="0" dirty="0"/>
              <a:t>that Alice and Bob can query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ounded Rectangular Callout 21"/>
              <p:cNvSpPr/>
              <p:nvPr/>
            </p:nvSpPr>
            <p:spPr>
              <a:xfrm>
                <a:off x="1066532" y="5463273"/>
                <a:ext cx="6545436" cy="1071570"/>
              </a:xfrm>
              <a:prstGeom prst="wedgeRoundRectCallout">
                <a:avLst>
                  <a:gd name="adj1" fmla="val -5595"/>
                  <a:gd name="adj2" fmla="val -141012"/>
                  <a:gd name="adj3" fmla="val 16667"/>
                </a:avLst>
              </a:prstGeom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noProof="0" dirty="0">
                    <a:solidFill>
                      <a:schemeClr val="tx1"/>
                    </a:solidFill>
                  </a:rPr>
                  <a:t>suppose</a:t>
                </a:r>
                <a:r>
                  <a:rPr lang="en-US" sz="2400" noProof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noProof="0" dirty="0"/>
                  <a:t> is a bijection</a:t>
                </a:r>
              </a:p>
              <a:p>
                <a:pPr algn="ctr"/>
                <a:r>
                  <a:rPr lang="en-US" sz="2400" noProof="0" dirty="0"/>
                  <a:t>In other words: it is a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permutation on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Rounded Rectangular Callou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32" y="5463273"/>
                <a:ext cx="6545436" cy="1071570"/>
              </a:xfrm>
              <a:prstGeom prst="wedgeRoundRectCallout">
                <a:avLst>
                  <a:gd name="adj1" fmla="val -5595"/>
                  <a:gd name="adj2" fmla="val -141012"/>
                  <a:gd name="adj3" fmla="val 16667"/>
                </a:avLst>
              </a:prstGeom>
              <a:blipFill>
                <a:blip r:embed="rId15"/>
                <a:stretch>
                  <a:fillRect/>
                </a:stretch>
              </a:blip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 rot="18793852">
            <a:off x="1131541" y="4829092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. . .</a:t>
            </a:r>
          </a:p>
        </p:txBody>
      </p:sp>
      <p:sp>
        <p:nvSpPr>
          <p:cNvPr id="24" name="TextBox 23"/>
          <p:cNvSpPr txBox="1"/>
          <p:nvPr/>
        </p:nvSpPr>
        <p:spPr>
          <a:xfrm rot="2780507">
            <a:off x="8072462" y="521495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22211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2" grpId="1" animBg="1"/>
      <p:bldP spid="23" grpId="0"/>
      <p:bldP spid="2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71414"/>
            <a:ext cx="8421528" cy="1143000"/>
          </a:xfrm>
        </p:spPr>
        <p:txBody>
          <a:bodyPr/>
          <a:lstStyle/>
          <a:p>
            <a:r>
              <a:rPr lang="en-US" noProof="0" dirty="0"/>
              <a:t>Note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1214422"/>
                <a:ext cx="8229600" cy="1400172"/>
              </a:xfrm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en-US" noProof="0" dirty="0"/>
                  <a:t>We consider permutations 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noProof="0" dirty="0"/>
                  <a:t>, </a:t>
                </a:r>
                <a:r>
                  <a:rPr lang="en-US" b="1" u="sng" noProof="0" dirty="0"/>
                  <a:t>not</a:t>
                </a:r>
                <a:r>
                  <a:rPr lang="en-US" b="1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noProof="0" dirty="0"/>
                  <a:t>on</a:t>
                </a:r>
                <a:r>
                  <a:rPr lang="en-US" b="1" noProof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endParaRPr lang="en-US" b="1" baseline="30000" noProof="0" dirty="0">
                  <a:solidFill>
                    <a:srgbClr val="C00000"/>
                  </a:solidFill>
                </a:endParaRPr>
              </a:p>
              <a:p>
                <a:pPr algn="ctr">
                  <a:buNone/>
                </a:pPr>
                <a:r>
                  <a:rPr lang="en-US" b="1" noProof="0" dirty="0">
                    <a:solidFill>
                      <a:srgbClr val="0070C0"/>
                    </a:solidFill>
                  </a:rPr>
                  <a:t>Example: </a:t>
                </a:r>
                <a:endParaRPr lang="en-US" noProof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1214422"/>
                <a:ext cx="8229600" cy="1400172"/>
              </a:xfrm>
              <a:blipFill>
                <a:blip r:embed="rId3"/>
                <a:stretch>
                  <a:fillRect l="-1387" t="-6306" b="-360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500166" y="2857496"/>
            <a:ext cx="1428760" cy="37862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41623"/>
              </p:ext>
            </p:extLst>
          </p:nvPr>
        </p:nvGraphicFramePr>
        <p:xfrm>
          <a:off x="1714480" y="307181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69827"/>
              </p:ext>
            </p:extLst>
          </p:nvPr>
        </p:nvGraphicFramePr>
        <p:xfrm>
          <a:off x="1714480" y="3500438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956052"/>
              </p:ext>
            </p:extLst>
          </p:nvPr>
        </p:nvGraphicFramePr>
        <p:xfrm>
          <a:off x="1714480" y="3929066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072995"/>
              </p:ext>
            </p:extLst>
          </p:nvPr>
        </p:nvGraphicFramePr>
        <p:xfrm>
          <a:off x="1714480" y="4344044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828931"/>
              </p:ext>
            </p:extLst>
          </p:nvPr>
        </p:nvGraphicFramePr>
        <p:xfrm>
          <a:off x="1714480" y="4786322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80643"/>
              </p:ext>
            </p:extLst>
          </p:nvPr>
        </p:nvGraphicFramePr>
        <p:xfrm>
          <a:off x="1714480" y="521495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86158"/>
              </p:ext>
            </p:extLst>
          </p:nvPr>
        </p:nvGraphicFramePr>
        <p:xfrm>
          <a:off x="1714480" y="5643578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735485"/>
              </p:ext>
            </p:extLst>
          </p:nvPr>
        </p:nvGraphicFramePr>
        <p:xfrm>
          <a:off x="1714480" y="6058556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57950" y="2786058"/>
            <a:ext cx="1428760" cy="37862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374640"/>
              </p:ext>
            </p:extLst>
          </p:nvPr>
        </p:nvGraphicFramePr>
        <p:xfrm>
          <a:off x="6572264" y="2928934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956896"/>
              </p:ext>
            </p:extLst>
          </p:nvPr>
        </p:nvGraphicFramePr>
        <p:xfrm>
          <a:off x="6572264" y="3357562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45659"/>
              </p:ext>
            </p:extLst>
          </p:nvPr>
        </p:nvGraphicFramePr>
        <p:xfrm>
          <a:off x="6572264" y="378619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477342"/>
              </p:ext>
            </p:extLst>
          </p:nvPr>
        </p:nvGraphicFramePr>
        <p:xfrm>
          <a:off x="6572264" y="4201168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60116"/>
              </p:ext>
            </p:extLst>
          </p:nvPr>
        </p:nvGraphicFramePr>
        <p:xfrm>
          <a:off x="6572264" y="4643446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03290"/>
              </p:ext>
            </p:extLst>
          </p:nvPr>
        </p:nvGraphicFramePr>
        <p:xfrm>
          <a:off x="6572264" y="5072074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16373"/>
              </p:ext>
            </p:extLst>
          </p:nvPr>
        </p:nvGraphicFramePr>
        <p:xfrm>
          <a:off x="6572264" y="5500702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660637"/>
              </p:ext>
            </p:extLst>
          </p:nvPr>
        </p:nvGraphicFramePr>
        <p:xfrm>
          <a:off x="6572264" y="5915680"/>
          <a:ext cx="976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2714612" y="3214686"/>
            <a:ext cx="3857652" cy="164307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786050" y="3071810"/>
            <a:ext cx="3786214" cy="1000132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86050" y="3643314"/>
            <a:ext cx="3714776" cy="2500330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786050" y="4500570"/>
            <a:ext cx="3714776" cy="78581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2786050" y="4000504"/>
            <a:ext cx="3714776" cy="1000132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786050" y="5429264"/>
            <a:ext cx="3714776" cy="285752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786050" y="4357694"/>
            <a:ext cx="3714776" cy="150019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2786050" y="3500438"/>
            <a:ext cx="3714776" cy="271464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4286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Can this box be simulated in real life?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1142984"/>
                <a:ext cx="8229600" cy="107157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b="1" u="sng" noProof="0" dirty="0"/>
                  <a:t>Naive solution</a:t>
                </a:r>
                <a:r>
                  <a:rPr lang="en-US" sz="2400" noProof="0" dirty="0"/>
                  <a:t>:</a:t>
                </a:r>
              </a:p>
              <a:p>
                <a:pPr>
                  <a:buNone/>
                </a:pPr>
                <a:r>
                  <a:rPr lang="en-US" sz="2400" noProof="0" dirty="0"/>
                  <a:t>Select a random permutation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1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noProof="0" dirty="0"/>
                  <a:t>and give it to both parties.</a:t>
                </a:r>
              </a:p>
              <a:p>
                <a:pPr>
                  <a:buNone/>
                </a:pPr>
                <a:endParaRPr lang="en-US" sz="2400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1142984"/>
                <a:ext cx="8229600" cy="1071570"/>
              </a:xfrm>
              <a:blipFill>
                <a:blip r:embed="rId3"/>
                <a:stretch>
                  <a:fillRect l="-1233" t="-6977" r="-924" b="-2441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57158" y="5572140"/>
                <a:ext cx="821537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u="sng" noProof="0" dirty="0"/>
                  <a:t>Problem</a:t>
                </a:r>
                <a:r>
                  <a:rPr lang="en-US" sz="2400" noProof="0" dirty="0"/>
                  <a:t>:</a:t>
                </a:r>
              </a:p>
              <a:p>
                <a:pPr>
                  <a:buNone/>
                </a:pPr>
                <a:r>
                  <a:rPr lang="en-US" sz="2400" noProof="0" dirty="0"/>
                  <a:t>The number of possible permutations is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)! </m:t>
                    </m:r>
                  </m:oMath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5572140"/>
                <a:ext cx="8215370" cy="830997"/>
              </a:xfrm>
              <a:prstGeom prst="rect">
                <a:avLst/>
              </a:prstGeom>
              <a:blipFill>
                <a:blip r:embed="rId4"/>
                <a:stretch>
                  <a:fillRect l="-1236" t="-5970" b="-1492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2" descr="MCj0411466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29322" y="2786057"/>
            <a:ext cx="2500330" cy="2450897"/>
          </a:xfrm>
          <a:prstGeom prst="rect">
            <a:avLst/>
          </a:prstGeom>
          <a:noFill/>
        </p:spPr>
      </p:pic>
      <p:pic>
        <p:nvPicPr>
          <p:cNvPr id="6" name="Picture 5" descr="MCj0415808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3192" y="2589321"/>
            <a:ext cx="2428892" cy="2552872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086641" y="4143380"/>
                <a:ext cx="2432708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41" y="4143380"/>
                <a:ext cx="243270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017238" y="4152564"/>
                <a:ext cx="2324497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38" y="4152564"/>
                <a:ext cx="2324497" cy="369332"/>
              </a:xfrm>
              <a:prstGeom prst="rect">
                <a:avLst/>
              </a:prstGeom>
              <a:blipFill>
                <a:blip r:embed="rId8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38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 animBg="1"/>
      <p:bldP spid="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en-US" noProof="0" dirty="0"/>
              <a:t>That’s why </a:t>
            </a:r>
            <a:r>
              <a:rPr lang="en-US" b="1" noProof="0" dirty="0"/>
              <a:t>pseudo</a:t>
            </a:r>
            <a:r>
              <a:rPr lang="en-US" noProof="0" dirty="0"/>
              <a:t>random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071547"/>
                <a:ext cx="8229600" cy="3143272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noProof="0" dirty="0"/>
                  <a:t>One </a:t>
                </a:r>
                <a:r>
                  <a:rPr lang="en-US" sz="2400" b="1" noProof="0" dirty="0"/>
                  <a:t>cannot</a:t>
                </a:r>
                <a:r>
                  <a:rPr lang="en-US" sz="2400" noProof="0" dirty="0"/>
                  <a:t> describe a random permutation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:{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4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4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b="1" baseline="30000" noProof="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2400" noProof="0" dirty="0"/>
                  <a:t>in a short space.</a:t>
                </a:r>
              </a:p>
              <a:p>
                <a:pPr>
                  <a:buNone/>
                </a:pPr>
                <a:endParaRPr lang="en-US" sz="2400" noProof="0" dirty="0"/>
              </a:p>
              <a:p>
                <a:pPr>
                  <a:buNone/>
                </a:pPr>
                <a:r>
                  <a:rPr lang="en-US" sz="2400" noProof="0" dirty="0"/>
                  <a:t>But we can describe a permutation t</a:t>
                </a:r>
                <a:r>
                  <a:rPr lang="en-US" sz="2400" dirty="0"/>
                  <a:t>hat</a:t>
                </a:r>
              </a:p>
              <a:p>
                <a:pPr algn="ctr">
                  <a:buNone/>
                </a:pPr>
                <a:r>
                  <a:rPr lang="en-US" sz="2400" noProof="0" dirty="0"/>
                  <a:t>“behaves almost random”</a:t>
                </a:r>
              </a:p>
              <a:p>
                <a:pPr>
                  <a:buNone/>
                </a:pPr>
                <a:endParaRPr lang="en-US" sz="2400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071547"/>
                <a:ext cx="8229600" cy="3143272"/>
              </a:xfrm>
              <a:blipFill>
                <a:blip r:embed="rId3"/>
                <a:stretch>
                  <a:fillRect l="-1079" t="-2823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28596" y="4786322"/>
            <a:ext cx="8286808" cy="1200329"/>
          </a:xfrm>
          <a:prstGeom prst="rect">
            <a:avLst/>
          </a:prstGeom>
          <a:solidFill>
            <a:schemeClr val="bg2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Terminology</a:t>
            </a:r>
            <a:endParaRPr lang="en-US" sz="2400" noProof="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noProof="0" dirty="0">
                <a:solidFill>
                  <a:srgbClr val="0070C0"/>
                </a:solidFill>
              </a:rPr>
              <a:t>pseudorandom permutations </a:t>
            </a:r>
            <a:r>
              <a:rPr lang="en-US" sz="2400" b="1" noProof="0" dirty="0"/>
              <a:t>(</a:t>
            </a:r>
            <a:r>
              <a:rPr lang="en-US" sz="2400" b="1" dirty="0"/>
              <a:t>in </a:t>
            </a:r>
            <a:r>
              <a:rPr lang="en-US" sz="2400" b="1" noProof="0" dirty="0"/>
              <a:t>theory)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noProof="0" dirty="0">
                <a:solidFill>
                  <a:srgbClr val="0070C0"/>
                </a:solidFill>
              </a:rPr>
              <a:t>block ciphers </a:t>
            </a:r>
            <a:r>
              <a:rPr lang="en-US" sz="2400" b="1" noProof="0" dirty="0"/>
              <a:t>(</a:t>
            </a:r>
            <a:r>
              <a:rPr lang="en-US" sz="2400" b="1" dirty="0"/>
              <a:t>in </a:t>
            </a:r>
            <a:r>
              <a:rPr lang="en-US" sz="2400" b="1" noProof="0" dirty="0"/>
              <a:t>practice)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46753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noProof="0" dirty="0"/>
              <a:t>Keyed permutations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4643446"/>
            <a:ext cx="8229600" cy="3473441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br>
              <a:rPr lang="en-US" sz="2400" b="1" noProof="0" dirty="0">
                <a:solidFill>
                  <a:schemeClr val="accent2"/>
                </a:solidFill>
              </a:rPr>
            </a:br>
            <a:endParaRPr lang="en-US" sz="2400" b="1" noProof="0" dirty="0">
              <a:solidFill>
                <a:schemeClr val="accent2"/>
              </a:solidFill>
            </a:endParaRPr>
          </a:p>
          <a:p>
            <a:pPr marL="609600" indent="-609600" algn="ctr">
              <a:lnSpc>
                <a:spcPct val="80000"/>
              </a:lnSpc>
              <a:buFontTx/>
              <a:buNone/>
            </a:pPr>
            <a:endParaRPr lang="en-US" sz="2400" b="1" noProof="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57158" y="1428736"/>
                <a:ext cx="6000792" cy="9787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/>
                  <a:t>For a partial function </a:t>
                </a:r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×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→ </m:t>
                      </m:r>
                      <m:sSup>
                        <m:sSup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noProof="0" dirty="0"/>
                  <a:t> denote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noProof="0" dirty="0">
                    <a:solidFill>
                      <a:schemeClr val="tx1"/>
                    </a:solidFill>
                  </a:rPr>
                  <a:t>.</a:t>
                </a:r>
                <a:endParaRPr lang="en-US" sz="24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428736"/>
                <a:ext cx="6000792" cy="9787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57158" y="2928934"/>
                <a:ext cx="5929354" cy="31947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/>
                  <a:t>A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keyed-permutation </a:t>
                </a:r>
                <a:r>
                  <a:rPr lang="en-US" sz="2400" noProof="0" dirty="0"/>
                  <a:t>is a function </a:t>
                </a:r>
                <a:br>
                  <a:rPr lang="en-US" sz="2400" noProof="0" dirty="0"/>
                </a:b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×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→ 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noProof="0" dirty="0"/>
                  <a:t> such that </a:t>
                </a:r>
                <a:br>
                  <a:rPr lang="en-US" sz="2400" noProof="0" dirty="0"/>
                </a:br>
                <a:endParaRPr lang="en-US" sz="2400" noProof="0" dirty="0"/>
              </a:p>
              <a:p>
                <a:pPr marL="533400" indent="-533400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noProof="0" dirty="0"/>
                  <a:t>for every</a:t>
                </a:r>
                <a:r>
                  <a:rPr lang="en-US" sz="2400" b="1" noProof="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function</a:t>
                </a:r>
                <a:r>
                  <a:rPr lang="en-US" sz="2400" b="1" noProof="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is a permutation on some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br>
                  <a:rPr lang="en-US" sz="2400" b="1" baseline="30000" noProof="0" dirty="0">
                    <a:solidFill>
                      <a:srgbClr val="FF0000"/>
                    </a:solidFill>
                  </a:rPr>
                </a:br>
                <a:br>
                  <a:rPr lang="en-US" sz="2400" b="1" baseline="30000" noProof="0" dirty="0">
                    <a:solidFill>
                      <a:srgbClr val="C00000"/>
                    </a:solidFill>
                  </a:rPr>
                </a:br>
                <a:r>
                  <a:rPr lang="en-US" sz="2400" noProof="0" dirty="0">
                    <a:solidFill>
                      <a:srgbClr val="C00000"/>
                    </a:solidFill>
                  </a:rPr>
                  <a:t>  </a:t>
                </a:r>
                <a:br>
                  <a:rPr lang="en-US" sz="2400" noProof="0" dirty="0"/>
                </a:br>
                <a:endParaRPr lang="en-US" sz="2400" noProof="0" dirty="0"/>
              </a:p>
              <a:p>
                <a:pPr marL="533400" indent="-533400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noProof="0" dirty="0"/>
                  <a:t>for every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noProof="0" dirty="0"/>
                  <a:t>functions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baseline="-25000" noProof="0" dirty="0">
                    <a:solidFill>
                      <a:srgbClr val="008000"/>
                    </a:solidFill>
                  </a:rPr>
                  <a:t> </a:t>
                </a:r>
                <a:r>
                  <a:rPr lang="en-US" sz="2400" noProof="0" dirty="0"/>
                  <a:t>and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sz="2400" b="1" noProof="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noProof="0" dirty="0"/>
                  <a:t>are poly-time computable.</a:t>
                </a:r>
                <a:br>
                  <a:rPr lang="en-US" sz="2000" noProof="0" dirty="0"/>
                </a:br>
                <a:endParaRPr lang="en-US" sz="2000" noProof="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2928934"/>
                <a:ext cx="5929354" cy="31947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7358082" y="2143116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4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82" y="2143116"/>
                <a:ext cx="1214446" cy="1143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ular Callout 7"/>
              <p:cNvSpPr/>
              <p:nvPr/>
            </p:nvSpPr>
            <p:spPr>
              <a:xfrm>
                <a:off x="6561513" y="4286256"/>
                <a:ext cx="2368205" cy="2071702"/>
              </a:xfrm>
              <a:prstGeom prst="wedgeRectCallout">
                <a:avLst>
                  <a:gd name="adj1" fmla="val -203981"/>
                  <a:gd name="adj2" fmla="val -51649"/>
                </a:avLst>
              </a:prstGeom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300" b="1" noProof="0" dirty="0"/>
                  <a:t> </a:t>
                </a:r>
                <a:r>
                  <a:rPr lang="en-US" sz="2300" noProof="0" dirty="0"/>
                  <a:t>is a function of</a:t>
                </a:r>
                <a:r>
                  <a:rPr lang="en-US" sz="2300" b="1" noProof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br>
                  <a:rPr lang="en-US" sz="2300" b="1" noProof="0" dirty="0">
                    <a:solidFill>
                      <a:srgbClr val="C00000"/>
                    </a:solidFill>
                  </a:rPr>
                </a:br>
                <a:endParaRPr lang="en-US" sz="2300" noProof="0" dirty="0"/>
              </a:p>
              <a:p>
                <a:pPr algn="ctr"/>
                <a:r>
                  <a:rPr lang="en-US" sz="2300" noProof="0" dirty="0"/>
                  <a:t>for simplicity assume: </a:t>
                </a:r>
                <a14:m>
                  <m:oMath xmlns:m="http://schemas.openxmlformats.org/officeDocument/2006/math"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|</m:t>
                    </m:r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3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3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513" y="4286256"/>
                <a:ext cx="2368205" cy="2071702"/>
              </a:xfrm>
              <a:prstGeom prst="wedgeRectCallout">
                <a:avLst>
                  <a:gd name="adj1" fmla="val -203981"/>
                  <a:gd name="adj2" fmla="val -51649"/>
                </a:avLst>
              </a:prstGeom>
              <a:blipFill>
                <a:blip r:embed="rId6"/>
                <a:stretch>
                  <a:fillRect/>
                </a:stretch>
              </a:blip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643702" y="2143116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702" y="2143116"/>
                <a:ext cx="357190" cy="114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7358082" y="1500174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82" y="1500174"/>
                <a:ext cx="1214446" cy="357190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7358082" y="3571876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82" y="3571876"/>
                <a:ext cx="1214446" cy="3571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rot="5400000" flipH="1" flipV="1">
            <a:off x="7644628" y="199944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3"/>
            <a:endCxn id="7" idx="1"/>
          </p:cNvCxnSpPr>
          <p:nvPr/>
        </p:nvCxnSpPr>
        <p:spPr>
          <a:xfrm>
            <a:off x="7000892" y="2714620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8010548" y="199071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 flipH="1" flipV="1">
            <a:off x="7644628" y="342820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8010548" y="341947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67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Pseudorandom permutations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u="sng" noProof="0" dirty="0"/>
                  <a:t>Intuition: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>
                  <a:buNone/>
                </a:pPr>
                <a:r>
                  <a:rPr lang="en-US" noProof="0" dirty="0"/>
                  <a:t>A keyed permutation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noProof="0" dirty="0"/>
                  <a:t> is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pseudorandom</a:t>
                </a:r>
                <a:r>
                  <a:rPr lang="en-US" b="1" noProof="0" dirty="0"/>
                  <a:t> </a:t>
                </a:r>
                <a:r>
                  <a:rPr lang="en-US" noProof="0" dirty="0"/>
                  <a:t>if it cannot be distinguished from a completely random permutation.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08" t="-232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/>
          <p:cNvSpPr/>
          <p:nvPr/>
        </p:nvSpPr>
        <p:spPr>
          <a:xfrm rot="1912780">
            <a:off x="4023043" y="4013264"/>
            <a:ext cx="4514434" cy="1857388"/>
          </a:xfrm>
          <a:prstGeom prst="leftArrow">
            <a:avLst>
              <a:gd name="adj1" fmla="val 50000"/>
              <a:gd name="adj2" fmla="val 11768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noProof="0" dirty="0"/>
              <a:t>This has to be formalized</a:t>
            </a:r>
          </a:p>
        </p:txBody>
      </p:sp>
    </p:spTree>
    <p:extLst>
      <p:ext uri="{BB962C8B-B14F-4D97-AF65-F5344CB8AC3E}">
        <p14:creationId xmlns:p14="http://schemas.microsoft.com/office/powerpoint/2010/main" val="117804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3570" y="2500306"/>
            <a:ext cx="3113243" cy="2857520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86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/>
              <a:lstStyle/>
              <a:p>
                <a:r>
                  <a:rPr lang="en-US" noProof="0" dirty="0"/>
                  <a:t>Scenario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6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>
                <a:blip r:embed="rId4"/>
                <a:stretch>
                  <a:fillRect l="-3086" b="-549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69" name="Text Box 5"/>
              <p:cNvSpPr txBox="1">
                <a:spLocks noChangeArrowheads="1"/>
              </p:cNvSpPr>
              <p:nvPr/>
            </p:nvSpPr>
            <p:spPr bwMode="auto">
              <a:xfrm>
                <a:off x="5486400" y="2438400"/>
                <a:ext cx="3505200" cy="64452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/>
                <a:r>
                  <a:rPr lang="en-US" b="1" noProof="0" dirty="0"/>
                  <a:t>oracle </a:t>
                </a:r>
                <a:br>
                  <a:rPr lang="en-US" b="1" noProof="0" dirty="0"/>
                </a:br>
                <a:r>
                  <a:rPr lang="en-US" noProof="0" dirty="0"/>
                  <a:t>chooses a random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{</m:t>
                    </m:r>
                    <m:r>
                      <a:rPr lang="en-US" sz="16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𝟎</m:t>
                    </m:r>
                    <m:r>
                      <a:rPr lang="en-US" sz="16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16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𝟏</m:t>
                    </m:r>
                    <m:r>
                      <a:rPr lang="en-US" sz="16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}</m:t>
                    </m:r>
                    <m:r>
                      <a:rPr lang="en-US" sz="16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sz="1600" b="1" noProof="0" dirty="0">
                    <a:solidFill>
                      <a:srgbClr val="993300"/>
                    </a:solidFill>
                    <a:cs typeface="Arial" charset="0"/>
                  </a:rPr>
                  <a:t>.</a:t>
                </a:r>
                <a:endParaRPr lang="en-US" sz="1600" b="1" baseline="30000" noProof="0" dirty="0">
                  <a:solidFill>
                    <a:srgbClr val="9933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3686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2438400"/>
                <a:ext cx="3505200" cy="644525"/>
              </a:xfrm>
              <a:prstGeom prst="rect">
                <a:avLst/>
              </a:prstGeom>
              <a:blipFill>
                <a:blip r:embed="rId5"/>
                <a:stretch>
                  <a:fillRect l="-1079" t="-1887" b="-1132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2819400" y="2971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H="1">
            <a:off x="2819400" y="34290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72" name="Text Box 8"/>
              <p:cNvSpPr txBox="1">
                <a:spLocks noChangeArrowheads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73" name="Text Box 9"/>
              <p:cNvSpPr txBox="1">
                <a:spLocks noChangeArrowheads="1"/>
              </p:cNvSpPr>
              <p:nvPr/>
            </p:nvSpPr>
            <p:spPr bwMode="auto">
              <a:xfrm>
                <a:off x="3556611" y="3276600"/>
                <a:ext cx="97654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611" y="3276600"/>
                <a:ext cx="976549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851150" y="4038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 flipH="1">
            <a:off x="2851150" y="4495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76" name="Text Box 12"/>
              <p:cNvSpPr txBox="1">
                <a:spLocks noChangeArrowheads="1"/>
              </p:cNvSpPr>
              <p:nvPr/>
            </p:nvSpPr>
            <p:spPr bwMode="auto">
              <a:xfrm>
                <a:off x="3288769" y="3810000"/>
                <a:ext cx="145738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8769" y="3810000"/>
                <a:ext cx="1457387" cy="363305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77" name="Text Box 13"/>
              <p:cNvSpPr txBox="1">
                <a:spLocks noChangeArrowheads="1"/>
              </p:cNvSpPr>
              <p:nvPr/>
            </p:nvSpPr>
            <p:spPr bwMode="auto">
              <a:xfrm>
                <a:off x="3588361" y="4343400"/>
                <a:ext cx="97654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8361" y="4343400"/>
                <a:ext cx="976549" cy="369332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8" name="Text Box 14"/>
          <p:cNvSpPr txBox="1">
            <a:spLocks noChangeArrowheads="1"/>
          </p:cNvSpPr>
          <p:nvPr/>
        </p:nvSpPr>
        <p:spPr bwMode="auto">
          <a:xfrm rot="5400000">
            <a:off x="3888581" y="4874419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51150" y="571500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2851150" y="6172200"/>
            <a:ext cx="2438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81" name="Text Box 17"/>
              <p:cNvSpPr txBox="1">
                <a:spLocks noChangeArrowheads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blipFill>
                <a:blip r:embed="rId10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82" name="Text Box 18"/>
              <p:cNvSpPr txBox="1">
                <a:spLocks noChangeArrowheads="1"/>
              </p:cNvSpPr>
              <p:nvPr/>
            </p:nvSpPr>
            <p:spPr bwMode="auto">
              <a:xfrm>
                <a:off x="3603980" y="6019800"/>
                <a:ext cx="94929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𝒎𝒕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3980" y="6019800"/>
                <a:ext cx="949299" cy="369332"/>
              </a:xfrm>
              <a:prstGeom prst="rect">
                <a:avLst/>
              </a:prstGeom>
              <a:blipFill>
                <a:blip r:embed="rId11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83" name="Text Box 19"/>
              <p:cNvSpPr txBox="1">
                <a:spLocks noChangeArrowheads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noProof="0" dirty="0"/>
                  <a:t>security parameter</a:t>
                </a:r>
                <a:br>
                  <a:rPr lang="en-US" noProof="0" dirty="0"/>
                </a:b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blipFill>
                <a:blip r:embed="rId12"/>
                <a:stretch>
                  <a:fillRect l="-1829" t="-1887" r="-18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84" name="Line 20"/>
          <p:cNvSpPr>
            <a:spLocks noChangeShapeType="1"/>
          </p:cNvSpPr>
          <p:nvPr/>
        </p:nvSpPr>
        <p:spPr bwMode="auto">
          <a:xfrm flipH="1">
            <a:off x="2057400" y="19812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5334000" y="19812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86" name="Text Box 22"/>
              <p:cNvSpPr txBox="1">
                <a:spLocks noChangeArrowheads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 algn="ctr"/>
                <a:r>
                  <a:rPr lang="en-US" b="1" noProof="0" dirty="0"/>
                  <a:t>distinguisher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sz="1600" b="1" baseline="30000" noProof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3688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blipFill>
                <a:blip r:embed="rId13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noProof="0" dirty="0"/>
                  <a:t>outputs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blipFill>
                <a:blip r:embed="rId14"/>
                <a:stretch>
                  <a:fillRect l="-2469" t="-10000" b="-2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4" descr="MCj04359310000[1]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57158" y="307181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749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876" grpId="0" animBg="1"/>
      <p:bldP spid="36877" grpId="0" animBg="1"/>
      <p:bldP spid="36878" grpId="0"/>
      <p:bldP spid="36879" grpId="0" animBg="1"/>
      <p:bldP spid="36880" grpId="0" animBg="1"/>
      <p:bldP spid="36881" grpId="0" animBg="1"/>
      <p:bldP spid="36882" grpId="0" animBg="1"/>
      <p:bldP spid="36883" grpId="0" animBg="1"/>
      <p:bldP spid="36884" grpId="0" animBg="1"/>
      <p:bldP spid="36885" grpId="0" animBg="1"/>
      <p:bldP spid="36886" grpId="0" animBg="1"/>
      <p:bldP spid="3688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533640"/>
            <a:ext cx="3113243" cy="2857520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86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/>
              <a:lstStyle/>
              <a:p>
                <a:r>
                  <a:rPr lang="en-US" noProof="0" dirty="0"/>
                  <a:t>Scenario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6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>
                <a:blip r:embed="rId4"/>
                <a:stretch>
                  <a:fillRect l="-3086" b="-549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2819400" y="2971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H="1">
            <a:off x="2819400" y="34290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72" name="Text Box 8"/>
              <p:cNvSpPr txBox="1">
                <a:spLocks noChangeArrowheads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9774" y="2743200"/>
                <a:ext cx="1471877" cy="363305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73" name="Text Box 9"/>
              <p:cNvSpPr txBox="1">
                <a:spLocks noChangeArrowheads="1"/>
              </p:cNvSpPr>
              <p:nvPr/>
            </p:nvSpPr>
            <p:spPr bwMode="auto">
              <a:xfrm>
                <a:off x="3603899" y="3276600"/>
                <a:ext cx="88197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3899" y="3276600"/>
                <a:ext cx="881973" cy="369332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851150" y="4038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 flipH="1">
            <a:off x="2851150" y="4495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76" name="Text Box 12"/>
              <p:cNvSpPr txBox="1">
                <a:spLocks noChangeArrowheads="1"/>
              </p:cNvSpPr>
              <p:nvPr/>
            </p:nvSpPr>
            <p:spPr bwMode="auto">
              <a:xfrm>
                <a:off x="3281524" y="3810000"/>
                <a:ext cx="1471877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1524" y="3810000"/>
                <a:ext cx="1471877" cy="363305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77" name="Text Box 13"/>
              <p:cNvSpPr txBox="1">
                <a:spLocks noChangeArrowheads="1"/>
              </p:cNvSpPr>
              <p:nvPr/>
            </p:nvSpPr>
            <p:spPr bwMode="auto">
              <a:xfrm>
                <a:off x="3635649" y="4343400"/>
                <a:ext cx="88197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649" y="4343400"/>
                <a:ext cx="881973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8" name="Text Box 14"/>
          <p:cNvSpPr txBox="1">
            <a:spLocks noChangeArrowheads="1"/>
          </p:cNvSpPr>
          <p:nvPr/>
        </p:nvSpPr>
        <p:spPr bwMode="auto">
          <a:xfrm rot="5400000">
            <a:off x="3888581" y="4874419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51150" y="571500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2851150" y="6172200"/>
            <a:ext cx="2438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81" name="Text Box 17"/>
              <p:cNvSpPr txBox="1">
                <a:spLocks noChangeArrowheads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974" y="5486400"/>
                <a:ext cx="1410963" cy="363305"/>
              </a:xfrm>
              <a:prstGeom prst="rect">
                <a:avLst/>
              </a:prstGeom>
              <a:blipFill>
                <a:blip r:embed="rId9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82" name="Text Box 18"/>
              <p:cNvSpPr txBox="1">
                <a:spLocks noChangeArrowheads="1"/>
              </p:cNvSpPr>
              <p:nvPr/>
            </p:nvSpPr>
            <p:spPr bwMode="auto">
              <a:xfrm>
                <a:off x="3651269" y="6019800"/>
                <a:ext cx="85472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𝒎𝒕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1269" y="6019800"/>
                <a:ext cx="854721" cy="369332"/>
              </a:xfrm>
              <a:prstGeom prst="rect">
                <a:avLst/>
              </a:prstGeom>
              <a:blipFill>
                <a:blip r:embed="rId10"/>
                <a:stretch>
                  <a:fillRect b="-161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83" name="Text Box 19"/>
              <p:cNvSpPr txBox="1">
                <a:spLocks noChangeArrowheads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noProof="0" dirty="0"/>
                  <a:t>security parameter</a:t>
                </a:r>
                <a:br>
                  <a:rPr lang="en-US" noProof="0" dirty="0"/>
                </a:b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7316" y="1219200"/>
                <a:ext cx="2066976" cy="646331"/>
              </a:xfrm>
              <a:prstGeom prst="rect">
                <a:avLst/>
              </a:prstGeom>
              <a:blipFill>
                <a:blip r:embed="rId11"/>
                <a:stretch>
                  <a:fillRect l="-1829" t="-1887" r="-18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84" name="Line 20"/>
          <p:cNvSpPr>
            <a:spLocks noChangeShapeType="1"/>
          </p:cNvSpPr>
          <p:nvPr/>
        </p:nvSpPr>
        <p:spPr bwMode="auto">
          <a:xfrm flipH="1">
            <a:off x="2057400" y="19812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5334000" y="19812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86" name="Text Box 22"/>
              <p:cNvSpPr txBox="1">
                <a:spLocks noChangeArrowheads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 algn="ctr"/>
                <a:r>
                  <a:rPr lang="en-US" b="1" noProof="0" dirty="0"/>
                  <a:t>distinguisher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sz="1600" b="1" baseline="30000" noProof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3688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514600"/>
                <a:ext cx="1905000" cy="369888"/>
              </a:xfrm>
              <a:prstGeom prst="rect">
                <a:avLst/>
              </a:prstGeom>
              <a:blipFill>
                <a:blip r:embed="rId12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noProof="0" dirty="0"/>
                  <a:t>outputs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88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6324600"/>
                <a:ext cx="2055371" cy="369332"/>
              </a:xfrm>
              <a:prstGeom prst="rect">
                <a:avLst/>
              </a:prstGeom>
              <a:blipFill>
                <a:blip r:embed="rId13"/>
                <a:stretch>
                  <a:fillRect l="-2469" t="-10000" b="-2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4" descr="MCj04359310000[1]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57158" y="3071810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Box 5"/>
              <p:cNvSpPr txBox="1">
                <a:spLocks noChangeArrowheads="1"/>
              </p:cNvSpPr>
              <p:nvPr/>
            </p:nvSpPr>
            <p:spPr bwMode="auto">
              <a:xfrm>
                <a:off x="5559328" y="2325469"/>
                <a:ext cx="3432272" cy="91730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en-US" b="1" noProof="0" dirty="0"/>
                  <a:t>oracle </a:t>
                </a:r>
              </a:p>
              <a:p>
                <a:pPr marL="342900" indent="-342900" algn="ctr"/>
                <a:r>
                  <a:rPr lang="en-US" noProof="0" dirty="0"/>
                  <a:t>chooses a random permutation</a:t>
                </a:r>
              </a:p>
              <a:p>
                <a:pPr marL="342900" indent="-342900"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 {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2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9328" y="2325469"/>
                <a:ext cx="3432272" cy="917302"/>
              </a:xfrm>
              <a:prstGeom prst="rect">
                <a:avLst/>
              </a:prstGeom>
              <a:blipFill>
                <a:blip r:embed="rId15"/>
                <a:stretch>
                  <a:fillRect t="-2703" b="-675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utoShape 23"/>
          <p:cNvSpPr>
            <a:spLocks noChangeArrowheads="1"/>
          </p:cNvSpPr>
          <p:nvPr/>
        </p:nvSpPr>
        <p:spPr bwMode="auto">
          <a:xfrm>
            <a:off x="5638800" y="5572140"/>
            <a:ext cx="3048000" cy="1133460"/>
          </a:xfrm>
          <a:prstGeom prst="wedgeRoundRectCallout">
            <a:avLst>
              <a:gd name="adj1" fmla="val 8788"/>
              <a:gd name="adj2" fmla="val -256154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noProof="0" dirty="0"/>
              <a:t>This of course </a:t>
            </a:r>
            <a:r>
              <a:rPr lang="en-US" b="1" noProof="0" dirty="0"/>
              <a:t>cannot</a:t>
            </a:r>
            <a:r>
              <a:rPr lang="en-US" noProof="0" dirty="0"/>
              <a:t> be done efficiently, but it doesn’t matter</a:t>
            </a:r>
          </a:p>
        </p:txBody>
      </p:sp>
    </p:spTree>
    <p:extLst>
      <p:ext uri="{BB962C8B-B14F-4D97-AF65-F5344CB8AC3E}">
        <p14:creationId xmlns:p14="http://schemas.microsoft.com/office/powerpoint/2010/main" val="28389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876" grpId="0" animBg="1"/>
      <p:bldP spid="36877" grpId="0" animBg="1"/>
      <p:bldP spid="36878" grpId="0"/>
      <p:bldP spid="36879" grpId="0" animBg="1"/>
      <p:bldP spid="36880" grpId="0" animBg="1"/>
      <p:bldP spid="36881" grpId="0" animBg="1"/>
      <p:bldP spid="36882" grpId="0" animBg="1"/>
      <p:bldP spid="36883" grpId="0" animBg="1"/>
      <p:bldP spid="36884" grpId="0" animBg="1"/>
      <p:bldP spid="36885" grpId="0" animBg="1"/>
      <p:bldP spid="36886" grpId="0" animBg="1"/>
      <p:bldP spid="36888" grpId="0"/>
      <p:bldP spid="24" grpId="0" animBg="1"/>
      <p:bldP spid="27" grpId="0" animBg="1"/>
      <p:bldP spid="27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0" y="5569526"/>
                <a:ext cx="9144000" cy="128847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𝐨𝐮𝐭𝐩𝐮𝐭𝐬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“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” 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𝐢𝐧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𝐬𝐜𝐞𝐧𝐚𝐫𝐢𝐨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𝐨𝐮𝐭𝐩𝐮𝐭𝐬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“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” 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𝐢𝐧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𝐬𝐜𝐞𝐧𝐚𝐫𝐢𝐨</m:t>
                              </m:r>
                              <m:r>
                                <a:rPr lang="en-US" sz="2200" b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b="1" noProof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200" noProof="0" dirty="0"/>
                  <a:t>is negligible in</a:t>
                </a:r>
                <a:r>
                  <a:rPr lang="en-US" sz="2200" b="1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200" noProof="0" dirty="0"/>
                  <a:t>.</a:t>
                </a:r>
                <a:endParaRPr lang="en-US" sz="22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69526"/>
                <a:ext cx="9144000" cy="1288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142852"/>
            <a:ext cx="8863216" cy="1143000"/>
          </a:xfrm>
        </p:spPr>
        <p:txBody>
          <a:bodyPr>
            <a:normAutofit fontScale="90000"/>
          </a:bodyPr>
          <a:lstStyle/>
          <a:p>
            <a:r>
              <a:rPr lang="en-US" sz="4000" noProof="0" dirty="0"/>
              <a:t>Pseudorandom permutations – the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9753" y="1651462"/>
                <a:ext cx="8889075" cy="366868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noProof="0" dirty="0"/>
                  <a:t>We say that a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keyed-permutation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×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→ 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is a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pseudorandom permutation (PRP)</a:t>
                </a:r>
                <a:r>
                  <a:rPr lang="en-US" noProof="0" dirty="0"/>
                  <a:t> if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noProof="0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noProof="0" dirty="0"/>
                  <a:t>any </a:t>
                </a:r>
                <a:r>
                  <a:rPr lang="en-US" b="1" noProof="0" dirty="0"/>
                  <a:t>polynomial-time randomized distinguisher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noProof="0" dirty="0"/>
                  <a:t>cannot distinguish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scenario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noProof="0" dirty="0"/>
                  <a:t> from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scenario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noProof="0" dirty="0"/>
                  <a:t>with </a:t>
                </a:r>
                <a:br>
                  <a:rPr lang="en-US" noProof="0" dirty="0"/>
                </a:br>
                <a:r>
                  <a:rPr lang="en-US" noProof="0" dirty="0"/>
                  <a:t>a </a:t>
                </a:r>
                <a:r>
                  <a:rPr lang="en-US" b="1" noProof="0" dirty="0">
                    <a:solidFill>
                      <a:srgbClr val="008000"/>
                    </a:solidFill>
                  </a:rPr>
                  <a:t>non-negligible advantage</a:t>
                </a:r>
                <a:r>
                  <a:rPr lang="en-US" noProof="0" dirty="0"/>
                  <a:t>.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endParaRPr lang="en-US" noProof="0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noProof="0" dirty="0"/>
                  <a:t>That is:</a:t>
                </a:r>
              </a:p>
            </p:txBody>
          </p:sp>
        </mc:Choice>
        <mc:Fallback>
          <p:sp>
            <p:nvSpPr>
              <p:cNvPr id="389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753" y="1651462"/>
                <a:ext cx="8889075" cy="3668683"/>
              </a:xfrm>
              <a:blipFill>
                <a:blip r:embed="rId4"/>
                <a:stretch>
                  <a:fillRect l="-1427" t="-3793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52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81" y="183101"/>
            <a:ext cx="8903279" cy="900587"/>
          </a:xfrm>
        </p:spPr>
        <p:txBody>
          <a:bodyPr>
            <a:normAutofit/>
          </a:bodyPr>
          <a:lstStyle/>
          <a:p>
            <a:r>
              <a:rPr lang="en-US" sz="4000" b="1" noProof="0" dirty="0"/>
              <a:t>Strong</a:t>
            </a:r>
            <a:r>
              <a:rPr lang="en-US" sz="4000" noProof="0" dirty="0"/>
              <a:t> pseudorandom permutations</a:t>
            </a:r>
          </a:p>
        </p:txBody>
      </p:sp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2214554"/>
            <a:ext cx="3113243" cy="2857520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6000760" y="3429000"/>
                <a:ext cx="3071834" cy="707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42900" indent="-342900"/>
                <a:r>
                  <a:rPr lang="en-US" sz="2000" b="1" noProof="0" dirty="0"/>
                  <a:t>oracle </a:t>
                </a:r>
                <a:r>
                  <a:rPr lang="en-US" sz="2000" noProof="0" dirty="0"/>
                  <a:t>selects a random</a:t>
                </a:r>
              </a:p>
              <a:p>
                <a:pPr marL="342900" indent="-342900" algn="ctr"/>
                <a:r>
                  <a:rPr lang="en-US" sz="2000" noProof="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{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𝟎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}</m:t>
                    </m:r>
                    <m:r>
                      <a:rPr lang="en-US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b="1" noProof="0" dirty="0">
                    <a:solidFill>
                      <a:srgbClr val="993300"/>
                    </a:solidFill>
                    <a:cs typeface="Arial" charset="0"/>
                  </a:rPr>
                  <a:t>.</a:t>
                </a:r>
                <a:endParaRPr lang="en-US" b="1" baseline="30000" noProof="0" dirty="0">
                  <a:solidFill>
                    <a:srgbClr val="9933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00760" y="3429000"/>
                <a:ext cx="3071834" cy="707886"/>
              </a:xfrm>
              <a:prstGeom prst="rect">
                <a:avLst/>
              </a:prstGeom>
              <a:blipFill>
                <a:blip r:embed="rId4"/>
                <a:stretch>
                  <a:fillRect l="-1639" t="-3448" b="-862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962276" y="3469248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2962276" y="392644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8"/>
              <p:cNvSpPr txBox="1">
                <a:spLocks noChangeArrowheads="1"/>
              </p:cNvSpPr>
              <p:nvPr/>
            </p:nvSpPr>
            <p:spPr bwMode="auto">
              <a:xfrm>
                <a:off x="3515868" y="3212068"/>
                <a:ext cx="1340431" cy="3633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1" i="1" baseline="30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5868" y="3212068"/>
                <a:ext cx="1340431" cy="363305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3693106" y="3774048"/>
                <a:ext cx="982898" cy="3926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𝒄𝒊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3106" y="3774048"/>
                <a:ext cx="982898" cy="392672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22"/>
              <p:cNvSpPr txBox="1">
                <a:spLocks noChangeArrowheads="1"/>
              </p:cNvSpPr>
              <p:nvPr/>
            </p:nvSpPr>
            <p:spPr bwMode="auto">
              <a:xfrm>
                <a:off x="447676" y="2728914"/>
                <a:ext cx="1905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 algn="ctr"/>
                <a:r>
                  <a:rPr lang="en-US" b="1" noProof="0" dirty="0"/>
                  <a:t>distinguisher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sz="1600" b="1" baseline="30000" noProof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15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676" y="2728914"/>
                <a:ext cx="1905000" cy="369888"/>
              </a:xfrm>
              <a:prstGeom prst="rect">
                <a:avLst/>
              </a:prstGeom>
              <a:blipFill>
                <a:blip r:embed="rId7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4" descr="MCj043593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0034" y="3286124"/>
            <a:ext cx="1838325" cy="14541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11727" y="1385458"/>
                <a:ext cx="84775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noProof="0" dirty="0"/>
                  <a:t>Suppose we allow the distinguisher to </a:t>
                </a:r>
                <a:r>
                  <a:rPr lang="en-US" sz="2400" b="1" noProof="0" dirty="0"/>
                  <a:t>additionally</a:t>
                </a:r>
                <a:r>
                  <a:rPr lang="en-US" sz="2400" noProof="0" dirty="0"/>
                  <a:t> ask the oracle for inverting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noProof="0" dirty="0"/>
                  <a:t>: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1385458"/>
                <a:ext cx="8477597" cy="830997"/>
              </a:xfrm>
              <a:prstGeom prst="rect">
                <a:avLst/>
              </a:prstGeom>
              <a:blipFill>
                <a:blip r:embed="rId9"/>
                <a:stretch>
                  <a:fillRect l="-1196" t="-4478" b="-1492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28596" y="5500702"/>
            <a:ext cx="75470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Then we get a definition of a </a:t>
            </a:r>
            <a:r>
              <a:rPr lang="en-US" sz="2000" b="1" noProof="0" dirty="0">
                <a:solidFill>
                  <a:srgbClr val="FF0000"/>
                </a:solidFill>
              </a:rPr>
              <a:t>strong </a:t>
            </a:r>
            <a:r>
              <a:rPr lang="en-US" sz="2000" b="1" noProof="0" dirty="0"/>
              <a:t>pseudorandom permutation.</a:t>
            </a:r>
            <a:endParaRPr lang="en-US" sz="2000" noProof="0" dirty="0"/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103655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1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57628"/>
            <a:ext cx="9144000" cy="26432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457200" rtlCol="0" anchor="ctr"/>
          <a:lstStyle/>
          <a:p>
            <a:pPr>
              <a:buNone/>
            </a:pPr>
            <a:r>
              <a:rPr lang="en-US" sz="2800" noProof="0" dirty="0"/>
              <a:t>The security definition doesn’t change.</a:t>
            </a:r>
          </a:p>
          <a:p>
            <a:pPr>
              <a:buNone/>
            </a:pPr>
            <a:endParaRPr lang="en-US" sz="2800" noProof="0" dirty="0"/>
          </a:p>
          <a:p>
            <a:pPr>
              <a:buNone/>
            </a:pPr>
            <a:r>
              <a:rPr lang="en-US" sz="2800" noProof="0" dirty="0"/>
              <a:t>In fact those two objects are </a:t>
            </a:r>
            <a:r>
              <a:rPr lang="en-US" sz="2800" b="1" noProof="0" dirty="0">
                <a:solidFill>
                  <a:srgbClr val="0070C0"/>
                </a:solidFill>
              </a:rPr>
              <a:t>indistinguishable</a:t>
            </a:r>
            <a:r>
              <a:rPr lang="en-US" sz="2800" b="1" noProof="0" dirty="0"/>
              <a:t> </a:t>
            </a:r>
            <a:r>
              <a:rPr lang="en-US" sz="2800" noProof="0" dirty="0"/>
              <a:t>for a polynomial-time adversary.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/>
          <a:lstStyle/>
          <a:p>
            <a:r>
              <a:rPr lang="en-US" noProof="0" dirty="0"/>
              <a:t>PRFs vs PRP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417638"/>
                <a:ext cx="8433654" cy="209033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noProof="0" dirty="0"/>
                  <a:t>If we drop the assumption that 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noProof="0" dirty="0">
                    <a:solidFill>
                      <a:srgbClr val="0070C0"/>
                    </a:solidFill>
                  </a:rPr>
                  <a:t>has to be a permutation</a:t>
                </a:r>
              </a:p>
              <a:p>
                <a:pPr>
                  <a:buNone/>
                </a:pPr>
                <a:r>
                  <a:rPr lang="en-US" noProof="0" dirty="0"/>
                  <a:t>we obtain an object called</a:t>
                </a:r>
              </a:p>
              <a:p>
                <a:pPr algn="ctr">
                  <a:buNone/>
                </a:pPr>
                <a:r>
                  <a:rPr lang="en-US" noProof="0" dirty="0"/>
                  <a:t>a “pseudorandom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function (PRF)</a:t>
                </a:r>
                <a:r>
                  <a:rPr lang="en-US" noProof="0" dirty="0"/>
                  <a:t>”.</a:t>
                </a:r>
              </a:p>
              <a:p>
                <a:pPr algn="ctr">
                  <a:buNone/>
                </a:pPr>
                <a:endParaRPr lang="en-US" b="1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417638"/>
                <a:ext cx="8433654" cy="2090333"/>
              </a:xfrm>
              <a:blipFill>
                <a:blip r:embed="rId3"/>
                <a:stretch>
                  <a:fillRect l="-1504" t="-4848" b="-484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12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188" y="0"/>
            <a:ext cx="7886700" cy="877884"/>
          </a:xfrm>
        </p:spPr>
        <p:txBody>
          <a:bodyPr/>
          <a:lstStyle/>
          <a:p>
            <a:r>
              <a:rPr lang="en-US" noProof="0" dirty="0"/>
              <a:t>Terminology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679" y="1367636"/>
            <a:ext cx="8458200" cy="240030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noProof="0" dirty="0"/>
              <a:t>Before we had: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noProof="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b="1" noProof="0" dirty="0">
                <a:solidFill>
                  <a:srgbClr val="008000"/>
                </a:solidFill>
              </a:rPr>
              <a:t>stream ciphers</a:t>
            </a:r>
            <a:r>
              <a:rPr lang="en-US" b="1" noProof="0" dirty="0"/>
              <a:t> </a:t>
            </a:r>
            <a:r>
              <a:rPr lang="en-US" b="1" noProof="0" dirty="0">
                <a:cs typeface="Arial" charset="0"/>
              </a:rPr>
              <a:t>≈ </a:t>
            </a:r>
            <a:r>
              <a:rPr lang="en-US" b="1" noProof="0" dirty="0">
                <a:solidFill>
                  <a:srgbClr val="FF0000"/>
                </a:solidFill>
                <a:cs typeface="Arial" charset="0"/>
              </a:rPr>
              <a:t>pseudorandom generators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noProof="0" dirty="0">
              <a:cs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noProof="0" dirty="0">
                <a:cs typeface="Arial" charset="0"/>
              </a:rPr>
              <a:t>Similarly: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noProof="0" dirty="0">
              <a:cs typeface="Arial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b="1" noProof="0" dirty="0">
                <a:solidFill>
                  <a:srgbClr val="008000"/>
                </a:solidFill>
                <a:cs typeface="Arial" charset="0"/>
              </a:rPr>
              <a:t>block ciphers</a:t>
            </a:r>
            <a:r>
              <a:rPr lang="en-US" noProof="0" dirty="0">
                <a:cs typeface="Arial" charset="0"/>
              </a:rPr>
              <a:t> ≈ </a:t>
            </a:r>
            <a:r>
              <a:rPr lang="en-US" b="1" noProof="0" dirty="0">
                <a:solidFill>
                  <a:srgbClr val="FF0000"/>
                </a:solidFill>
                <a:cs typeface="Arial" charset="0"/>
              </a:rPr>
              <a:t>pseudorandom </a:t>
            </a:r>
            <a:r>
              <a:rPr lang="en-US" b="1" u="sng" noProof="0" dirty="0">
                <a:solidFill>
                  <a:srgbClr val="FF0000"/>
                </a:solidFill>
                <a:cs typeface="Arial" charset="0"/>
              </a:rPr>
              <a:t>permutations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b="1" noProof="0" dirty="0">
              <a:cs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867975" y="4625196"/>
                <a:ext cx="1214446" cy="114300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75" y="4625196"/>
                <a:ext cx="1214446" cy="1143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153595" y="4625196"/>
                <a:ext cx="357190" cy="11430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595" y="4625196"/>
                <a:ext cx="357190" cy="11430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867975" y="3982254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75" y="3982254"/>
                <a:ext cx="1214446" cy="357190"/>
              </a:xfrm>
              <a:prstGeom prst="rect">
                <a:avLst/>
              </a:prstGeom>
              <a:blipFill>
                <a:blip r:embed="rId5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867975" y="6053956"/>
                <a:ext cx="1214446" cy="35719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75" y="6053956"/>
                <a:ext cx="1214446" cy="357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rot="5400000" flipH="1" flipV="1">
            <a:off x="4154521" y="448152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5" idx="1"/>
          </p:cNvCxnSpPr>
          <p:nvPr/>
        </p:nvCxnSpPr>
        <p:spPr>
          <a:xfrm>
            <a:off x="3510785" y="5196700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4520441" y="447279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4154521" y="591028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4520441" y="5901556"/>
            <a:ext cx="276228" cy="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Arrow 13"/>
          <p:cNvSpPr/>
          <p:nvPr/>
        </p:nvSpPr>
        <p:spPr>
          <a:xfrm rot="20882374">
            <a:off x="5344041" y="5522447"/>
            <a:ext cx="3143272" cy="785818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“block”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0389" y="5911056"/>
            <a:ext cx="3143272" cy="71438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“plaintext”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1827" y="3839378"/>
            <a:ext cx="3143272" cy="71438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“ciphertext”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389" y="4696634"/>
            <a:ext cx="2143140" cy="11430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terminology is a bit confusing</a:t>
            </a:r>
          </a:p>
        </p:txBody>
      </p:sp>
      <p:cxnSp>
        <p:nvCxnSpPr>
          <p:cNvPr id="19" name="Straight Arrow Connector 18"/>
          <p:cNvCxnSpPr>
            <a:stCxn id="17" idx="0"/>
          </p:cNvCxnSpPr>
          <p:nvPr/>
        </p:nvCxnSpPr>
        <p:spPr>
          <a:xfrm rot="5400000" flipH="1" flipV="1">
            <a:off x="1617678" y="4375163"/>
            <a:ext cx="285752" cy="357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" idx="2"/>
          </p:cNvCxnSpPr>
          <p:nvPr/>
        </p:nvCxnSpPr>
        <p:spPr>
          <a:xfrm rot="16200000" flipH="1">
            <a:off x="1617678" y="5803923"/>
            <a:ext cx="285752" cy="357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29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Another way to look at the stream ciphers :</a:t>
            </a:r>
          </a:p>
        </p:txBody>
      </p:sp>
      <p:pic>
        <p:nvPicPr>
          <p:cNvPr id="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785926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ight Arrow 4"/>
              <p:cNvSpPr/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ight Arrow 5"/>
              <p:cNvSpPr/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  <a:blipFill>
                <a:blip r:embed="rId5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ight Arrow 6"/>
              <p:cNvSpPr/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rot="5400000">
            <a:off x="2091171" y="355237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143372" y="2571744"/>
                <a:ext cx="492443" cy="3629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72" y="2571744"/>
                <a:ext cx="492443" cy="3629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ight Arrow 9"/>
              <p:cNvSpPr/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)∈{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ight Arrow 10"/>
              <p:cNvSpPr/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)∈{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ight Arrow 11"/>
              <p:cNvSpPr/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)∈ {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ight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rot="5400000">
            <a:off x="6306013" y="348093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57158" y="5072074"/>
                <a:ext cx="835824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noProof="0" dirty="0" err="1"/>
                  <a:t>Requiremenent</a:t>
                </a:r>
                <a:r>
                  <a:rPr lang="en-US" sz="2400" noProof="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  <a:p>
                <a:r>
                  <a:rPr lang="en-US" sz="2400" noProof="0" dirty="0"/>
                  <a:t>has to “look random” if is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noProof="0" dirty="0"/>
                  <a:t>random and secret. </a:t>
                </a:r>
              </a:p>
              <a:p>
                <a:endParaRPr lang="en-US" sz="2400" noProof="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5072074"/>
                <a:ext cx="8358246" cy="1631216"/>
              </a:xfrm>
              <a:prstGeom prst="rect">
                <a:avLst/>
              </a:prstGeom>
              <a:blipFill>
                <a:blip r:embed="rId11"/>
                <a:stretch>
                  <a:fillRect l="-1214" t="-3101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</m:oMath>
                </a14:m>
                <a:r>
                  <a:rPr lang="en-US" sz="2000" b="1" noProof="0" dirty="0">
                    <a:solidFill>
                      <a:srgbClr val="C00000"/>
                    </a:solidFill>
                    <a:sym typeface="Symbol"/>
                  </a:rPr>
                  <a:t> </a:t>
                </a:r>
                <a:r>
                  <a:rPr lang="en-US" sz="2000" noProof="0" dirty="0">
                    <a:sym typeface="Symbol"/>
                  </a:rPr>
                  <a:t>is a parameter</a:t>
                </a:r>
                <a:endParaRPr lang="en-US" sz="2000" baseline="30000" noProof="0" dirty="0"/>
              </a:p>
              <a:p>
                <a:endParaRPr lang="en-US" sz="2000" b="1" baseline="30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blipFill>
                <a:blip r:embed="rId12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8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156" y="83334"/>
            <a:ext cx="788670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Block ciphers:</a:t>
            </a:r>
          </a:p>
        </p:txBody>
      </p:sp>
      <p:pic>
        <p:nvPicPr>
          <p:cNvPr id="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0" y="2143116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ight Arrow 4"/>
              <p:cNvSpPr/>
              <p:nvPr/>
            </p:nvSpPr>
            <p:spPr>
              <a:xfrm>
                <a:off x="1112520" y="2500306"/>
                <a:ext cx="2673662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 {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en-US" sz="16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  <m:r>
                      <a:rPr lang="en-US" sz="16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2500306"/>
                <a:ext cx="2673662" cy="428628"/>
              </a:xfrm>
              <a:prstGeom prst="rightArrow">
                <a:avLst/>
              </a:prstGeom>
              <a:blipFill>
                <a:blip r:embed="rId4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ight Arrow 5"/>
              <p:cNvSpPr/>
              <p:nvPr/>
            </p:nvSpPr>
            <p:spPr>
              <a:xfrm>
                <a:off x="1112520" y="2928934"/>
                <a:ext cx="2673662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 {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en-US" sz="16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  <m:r>
                      <a:rPr lang="en-US" sz="16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2928934"/>
                <a:ext cx="2673662" cy="428628"/>
              </a:xfrm>
              <a:prstGeom prst="rightArrow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ight Arrow 6"/>
              <p:cNvSpPr/>
              <p:nvPr/>
            </p:nvSpPr>
            <p:spPr>
              <a:xfrm>
                <a:off x="1112520" y="3357562"/>
                <a:ext cx="2673662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 {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en-US" sz="16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  <m:r>
                      <a:rPr lang="en-US" sz="16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3357562"/>
                <a:ext cx="2673662" cy="428628"/>
              </a:xfrm>
              <a:prstGeom prst="rightArrow">
                <a:avLst/>
              </a:prstGeom>
              <a:blipFill>
                <a:blip r:embed="rId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rot="5400000">
            <a:off x="2162609" y="390956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357686" y="2928934"/>
                <a:ext cx="50206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686" y="2928934"/>
                <a:ext cx="50206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ight Arrow 9"/>
              <p:cNvSpPr/>
              <p:nvPr/>
            </p:nvSpPr>
            <p:spPr>
              <a:xfrm>
                <a:off x="5357818" y="250030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 {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818" y="2500306"/>
                <a:ext cx="2571768" cy="428628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ight Arrow 10"/>
              <p:cNvSpPr/>
              <p:nvPr/>
            </p:nvSpPr>
            <p:spPr>
              <a:xfrm>
                <a:off x="5357818" y="292893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 {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818" y="2928934"/>
                <a:ext cx="2571768" cy="428628"/>
              </a:xfrm>
              <a:prstGeom prst="righ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ight Arrow 11"/>
              <p:cNvSpPr/>
              <p:nvPr/>
            </p:nvSpPr>
            <p:spPr>
              <a:xfrm>
                <a:off x="5357818" y="335756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 {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𝟎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}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𝒎</m:t>
                      </m:r>
                      <m:r>
                        <a:rPr lang="en-US" sz="16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ight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818" y="3357562"/>
                <a:ext cx="2571768" cy="428628"/>
              </a:xfrm>
              <a:prstGeom prst="rightArrow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rot="5400000">
            <a:off x="6377451" y="383812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57158" y="5072074"/>
                <a:ext cx="835824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noProof="0" dirty="0" err="1"/>
                  <a:t>Requiremenent</a:t>
                </a:r>
                <a:r>
                  <a:rPr lang="en-US" sz="2400" noProof="0" dirty="0"/>
                  <a:t>:</a:t>
                </a:r>
                <a:endParaRPr lang="en-US" sz="2400" noProof="0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US" sz="3200" b="1" noProof="0" dirty="0">
                  <a:solidFill>
                    <a:srgbClr val="FF0000"/>
                  </a:solidFill>
                </a:endParaRPr>
              </a:p>
              <a:p>
                <a:r>
                  <a:rPr lang="en-US" sz="2400" noProof="0" dirty="0"/>
                  <a:t>has to “look random” if is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noProof="0" dirty="0"/>
                  <a:t>random and secret. </a:t>
                </a:r>
              </a:p>
              <a:p>
                <a:endParaRPr lang="en-US" sz="2400" noProof="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5072074"/>
                <a:ext cx="8358246" cy="1569660"/>
              </a:xfrm>
              <a:prstGeom prst="rect">
                <a:avLst/>
              </a:prstGeom>
              <a:blipFill>
                <a:blip r:embed="rId11"/>
                <a:stretch>
                  <a:fillRect l="-1214" t="-32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𝒎</m:t>
                    </m:r>
                  </m:oMath>
                </a14:m>
                <a:r>
                  <a:rPr lang="en-US" sz="2000" b="1" noProof="0" dirty="0">
                    <a:solidFill>
                      <a:srgbClr val="C00000"/>
                    </a:solidFill>
                    <a:sym typeface="Symbol"/>
                  </a:rPr>
                  <a:t> </a:t>
                </a:r>
                <a:r>
                  <a:rPr lang="en-US" sz="2000" noProof="0" dirty="0">
                    <a:sym typeface="Symbol"/>
                  </a:rPr>
                  <a:t>is a parameter</a:t>
                </a:r>
                <a:endParaRPr lang="en-US" sz="2000" baseline="30000" noProof="0" dirty="0"/>
              </a:p>
              <a:p>
                <a:endParaRPr lang="en-US" sz="2000" b="1" baseline="30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8" y="1357298"/>
                <a:ext cx="2286016" cy="605294"/>
              </a:xfrm>
              <a:prstGeom prst="rect">
                <a:avLst/>
              </a:prstGeom>
              <a:blipFill>
                <a:blip r:embed="rId12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ular Callout 15"/>
              <p:cNvSpPr/>
              <p:nvPr/>
            </p:nvSpPr>
            <p:spPr>
              <a:xfrm>
                <a:off x="5143504" y="4857760"/>
                <a:ext cx="3786214" cy="357190"/>
              </a:xfrm>
              <a:prstGeom prst="wedgeRoundRectCallout">
                <a:avLst>
                  <a:gd name="adj1" fmla="val -63459"/>
                  <a:gd name="adj2" fmla="val 121817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chosen </a:t>
                </a:r>
                <a:r>
                  <a:rPr lang="en-US" noProof="0" dirty="0" err="1">
                    <a:solidFill>
                      <a:schemeClr val="tx1"/>
                    </a:solidFill>
                  </a:rPr>
                  <a:t>adversarily</a:t>
                </a:r>
                <a:endParaRPr lang="en-US" noProof="0" dirty="0"/>
              </a:p>
            </p:txBody>
          </p:sp>
        </mc:Choice>
        <mc:Fallback>
          <p:sp>
            <p:nvSpPr>
              <p:cNvPr id="16" name="Rounded 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4" y="4857760"/>
                <a:ext cx="3786214" cy="357190"/>
              </a:xfrm>
              <a:prstGeom prst="wedgeRoundRectCallout">
                <a:avLst>
                  <a:gd name="adj1" fmla="val -63459"/>
                  <a:gd name="adj2" fmla="val 121817"/>
                  <a:gd name="adj3" fmla="val 16667"/>
                </a:avLst>
              </a:prstGeom>
              <a:blipFill>
                <a:blip r:embed="rId13"/>
                <a:stretch>
                  <a:fillRect t="-4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38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65" y="131005"/>
            <a:ext cx="8285646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An additional property of the block ciphers </a:t>
            </a:r>
          </a:p>
        </p:txBody>
      </p:sp>
      <p:pic>
        <p:nvPicPr>
          <p:cNvPr id="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785926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ight Arrow 4"/>
              <p:cNvSpPr/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143116"/>
                <a:ext cx="2571768" cy="428628"/>
              </a:xfrm>
              <a:prstGeom prst="rightArrow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ight Arrow 5"/>
              <p:cNvSpPr/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2571744"/>
                <a:ext cx="2571768" cy="428628"/>
              </a:xfrm>
              <a:prstGeom prst="rightArrow">
                <a:avLst/>
              </a:prstGeom>
              <a:blipFill>
                <a:blip r:embed="rId5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ight Arrow 6"/>
              <p:cNvSpPr/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give me block</a:t>
                </a:r>
                <a:r>
                  <a:rPr lang="en-US" sz="16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3000372"/>
                <a:ext cx="2571768" cy="428628"/>
              </a:xfrm>
              <a:prstGeom prst="rightArrow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286248" y="2571744"/>
                <a:ext cx="50206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8" y="2571744"/>
                <a:ext cx="50206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ight Arrow 9"/>
              <p:cNvSpPr/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143116"/>
                <a:ext cx="2571768" cy="428628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ight Arrow 10"/>
              <p:cNvSpPr/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2571744"/>
                <a:ext cx="2571768" cy="428628"/>
              </a:xfrm>
              <a:prstGeom prst="righ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ight Arrow 11"/>
              <p:cNvSpPr/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ight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3000372"/>
                <a:ext cx="2571768" cy="428628"/>
              </a:xfrm>
              <a:prstGeom prst="rightArrow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3643314"/>
            <a:ext cx="1428760" cy="166452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ight Arrow 14"/>
              <p:cNvSpPr/>
              <p:nvPr/>
            </p:nvSpPr>
            <p:spPr>
              <a:xfrm>
                <a:off x="1142976" y="400050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invert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Right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4000504"/>
                <a:ext cx="2571768" cy="428628"/>
              </a:xfrm>
              <a:prstGeom prst="rightArrow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286248" y="4429132"/>
                <a:ext cx="50206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8" y="4429132"/>
                <a:ext cx="50206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ight Arrow 18"/>
              <p:cNvSpPr/>
              <p:nvPr/>
            </p:nvSpPr>
            <p:spPr>
              <a:xfrm>
                <a:off x="5286380" y="4000504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Right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4000504"/>
                <a:ext cx="2571768" cy="428628"/>
              </a:xfrm>
              <a:prstGeom prst="rightArrow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ight Arrow 21"/>
              <p:cNvSpPr/>
              <p:nvPr/>
            </p:nvSpPr>
            <p:spPr>
              <a:xfrm>
                <a:off x="1142976" y="442913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invert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Right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4429132"/>
                <a:ext cx="2571768" cy="428628"/>
              </a:xfrm>
              <a:prstGeom prst="rightArrow">
                <a:avLst/>
              </a:prstGeom>
              <a:blipFill>
                <a:blip r:embed="rId14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ight Arrow 22"/>
              <p:cNvSpPr/>
              <p:nvPr/>
            </p:nvSpPr>
            <p:spPr>
              <a:xfrm>
                <a:off x="5286380" y="4429132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Right Arrow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4429132"/>
                <a:ext cx="2571768" cy="428628"/>
              </a:xfrm>
              <a:prstGeom prst="rightArrow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ight Arrow 23"/>
              <p:cNvSpPr/>
              <p:nvPr/>
            </p:nvSpPr>
            <p:spPr>
              <a:xfrm>
                <a:off x="1142976" y="4857760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/>
                  <a:t>invert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Right Arrow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6" y="4857760"/>
                <a:ext cx="2571768" cy="428628"/>
              </a:xfrm>
              <a:prstGeom prst="rightArrow">
                <a:avLst/>
              </a:prstGeom>
              <a:blipFill>
                <a:blip r:embed="rId1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ight Arrow 24"/>
              <p:cNvSpPr/>
              <p:nvPr/>
            </p:nvSpPr>
            <p:spPr>
              <a:xfrm>
                <a:off x="5286380" y="4857760"/>
                <a:ext cx="2571768" cy="42862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Right Arrow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80" y="4857760"/>
                <a:ext cx="2571768" cy="428628"/>
              </a:xfrm>
              <a:prstGeom prst="rightArrow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01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noProof="0" dirty="0"/>
              <a:t>Popular block ciphers</a:t>
            </a:r>
          </a:p>
        </p:txBody>
      </p:sp>
      <p:graphicFrame>
        <p:nvGraphicFramePr>
          <p:cNvPr id="40097" name="Group 161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71209493"/>
              </p:ext>
            </p:extLst>
          </p:nvPr>
        </p:nvGraphicFramePr>
        <p:xfrm>
          <a:off x="500034" y="2966720"/>
          <a:ext cx="8001000" cy="2395728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key 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block 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DES</a:t>
                      </a: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(1976)</a:t>
                      </a:r>
                      <a:b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Encryption Standard</a:t>
                      </a: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IDEA</a:t>
                      </a: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(1991)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International Data Encryption Algorithm</a:t>
                      </a: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AES</a:t>
                      </a: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(1998)</a:t>
                      </a:r>
                      <a:b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Advanced Encryption Standard</a:t>
                      </a: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</a:t>
                      </a:r>
                      <a:r>
                        <a:rPr kumimoji="0" lang="en-US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192 </a:t>
                      </a:r>
                      <a:r>
                        <a:rPr kumimoji="0" lang="en-US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or </a:t>
                      </a: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F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058" name="Text Box 122"/>
          <p:cNvSpPr txBox="1">
            <a:spLocks noChangeArrowheads="1"/>
          </p:cNvSpPr>
          <p:nvPr/>
        </p:nvSpPr>
        <p:spPr bwMode="auto">
          <a:xfrm>
            <a:off x="500034" y="5886410"/>
            <a:ext cx="40362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noProof="0" dirty="0"/>
              <a:t>Other</a:t>
            </a:r>
            <a:r>
              <a:rPr lang="en-US" sz="2000" noProof="0" dirty="0"/>
              <a:t>: </a:t>
            </a:r>
            <a:r>
              <a:rPr lang="en-US" sz="2000" b="1" noProof="0" dirty="0">
                <a:solidFill>
                  <a:srgbClr val="0070C0"/>
                </a:solidFill>
              </a:rPr>
              <a:t>Blowfish, </a:t>
            </a:r>
            <a:r>
              <a:rPr lang="en-US" sz="2000" b="1" noProof="0" dirty="0" err="1">
                <a:solidFill>
                  <a:srgbClr val="0070C0"/>
                </a:solidFill>
              </a:rPr>
              <a:t>Twofish</a:t>
            </a:r>
            <a:r>
              <a:rPr lang="en-US" sz="2000" b="1" noProof="0" dirty="0">
                <a:solidFill>
                  <a:srgbClr val="0070C0"/>
                </a:solidFill>
              </a:rPr>
              <a:t>, Serpent,...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0298" y="1357298"/>
            <a:ext cx="5000660" cy="114300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A great design.</a:t>
            </a:r>
          </a:p>
          <a:p>
            <a:pPr algn="ctr"/>
            <a:r>
              <a:rPr lang="en-US" sz="2000" noProof="0" dirty="0"/>
              <a:t>The only practical weakness: </a:t>
            </a:r>
            <a:r>
              <a:rPr lang="en-US" sz="2000" b="1" noProof="0" dirty="0"/>
              <a:t>short key</a:t>
            </a:r>
            <a:r>
              <a:rPr lang="en-US" sz="2000" noProof="0" dirty="0"/>
              <a:t>.</a:t>
            </a:r>
          </a:p>
          <a:p>
            <a:pPr algn="ctr"/>
            <a:r>
              <a:rPr lang="en-US" sz="2000" noProof="0" dirty="0"/>
              <a:t>Can be broken by a </a:t>
            </a:r>
            <a:r>
              <a:rPr lang="en-US" sz="2000" b="1" noProof="0" dirty="0"/>
              <a:t>brute-force attack</a:t>
            </a:r>
            <a:r>
              <a:rPr lang="en-US" sz="2000" noProof="0" dirty="0"/>
              <a:t>.</a:t>
            </a:r>
          </a:p>
        </p:txBody>
      </p:sp>
      <p:sp>
        <p:nvSpPr>
          <p:cNvPr id="6" name="Left Arrow 5"/>
          <p:cNvSpPr/>
          <p:nvPr/>
        </p:nvSpPr>
        <p:spPr>
          <a:xfrm rot="19471257">
            <a:off x="1746682" y="2809954"/>
            <a:ext cx="1627612" cy="428628"/>
          </a:xfrm>
          <a:prstGeom prst="lef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880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58" grpId="0"/>
      <p:bldP spid="5" grpId="0" animBg="1"/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423" y="107145"/>
            <a:ext cx="8866908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How to encrypt using the block ciphers?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153400" cy="495288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sz="2400" b="1" u="sng" noProof="0" dirty="0"/>
              <a:t>A naive (wrong) idea</a:t>
            </a:r>
            <a:r>
              <a:rPr lang="en-US" sz="2400" noProof="0" dirty="0"/>
              <a:t>: Encrypt short blocks: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72" name="Text Box 4"/>
              <p:cNvSpPr txBox="1">
                <a:spLocks noChangeArrowheads="1"/>
              </p:cNvSpPr>
              <p:nvPr/>
            </p:nvSpPr>
            <p:spPr bwMode="auto">
              <a:xfrm>
                <a:off x="4621877" y="20081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>
                    <a:ea typeface="ＭＳ Ｐゴシック" pitchFamily="16" charset="-128"/>
                  </a:rPr>
                  <a:t>plaintext</a:t>
                </a:r>
                <a:r>
                  <a:rPr lang="en-US" b="1" noProof="0" dirty="0">
                    <a:solidFill>
                      <a:srgbClr val="993300"/>
                    </a:solidFill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𝒎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277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2008189"/>
                <a:ext cx="1828800" cy="369888"/>
              </a:xfrm>
              <a:prstGeom prst="rect">
                <a:avLst/>
              </a:prstGeom>
              <a:blipFill>
                <a:blip r:embed="rId3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773" name="Text Box 5"/>
              <p:cNvSpPr txBox="1">
                <a:spLocks noChangeArrowheads="1"/>
              </p:cNvSpPr>
              <p:nvPr/>
            </p:nvSpPr>
            <p:spPr bwMode="auto">
              <a:xfrm>
                <a:off x="4621877" y="27701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>
                    <a:ea typeface="ＭＳ Ｐゴシック" pitchFamily="16" charset="-128"/>
                  </a:rPr>
                  <a:t>encryption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𝑭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𝒌</m:t>
                    </m:r>
                  </m:oMath>
                </a14:m>
                <a:endParaRPr lang="en-US" b="1" baseline="-25000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277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2770189"/>
                <a:ext cx="1828800" cy="369888"/>
              </a:xfrm>
              <a:prstGeom prst="rect">
                <a:avLst/>
              </a:prstGeom>
              <a:blipFill>
                <a:blip r:embed="rId4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774" name="Text Box 6"/>
              <p:cNvSpPr txBox="1">
                <a:spLocks noChangeArrowheads="1"/>
              </p:cNvSpPr>
              <p:nvPr/>
            </p:nvSpPr>
            <p:spPr bwMode="auto">
              <a:xfrm>
                <a:off x="4621877" y="35321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>
                    <a:ea typeface="ＭＳ Ｐゴシック" pitchFamily="16" charset="-128"/>
                  </a:rPr>
                  <a:t>ciphertext</a:t>
                </a:r>
                <a:r>
                  <a:rPr lang="en-US" noProof="0" dirty="0"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𝒄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27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3532189"/>
                <a:ext cx="1828800" cy="369888"/>
              </a:xfrm>
              <a:prstGeom prst="rect">
                <a:avLst/>
              </a:prstGeom>
              <a:blipFill>
                <a:blip r:embed="rId5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75" name="AutoShape 7"/>
          <p:cNvCxnSpPr>
            <a:cxnSpLocks noChangeShapeType="1"/>
            <a:stCxn id="32772" idx="2"/>
            <a:endCxn id="32773" idx="0"/>
          </p:cNvCxnSpPr>
          <p:nvPr/>
        </p:nvCxnSpPr>
        <p:spPr bwMode="auto">
          <a:xfrm>
            <a:off x="5536277" y="2378077"/>
            <a:ext cx="0" cy="3921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32776" name="AutoShape 8"/>
          <p:cNvCxnSpPr>
            <a:cxnSpLocks noChangeShapeType="1"/>
            <a:stCxn id="32773" idx="2"/>
            <a:endCxn id="32774" idx="0"/>
          </p:cNvCxnSpPr>
          <p:nvPr/>
        </p:nvCxnSpPr>
        <p:spPr bwMode="auto">
          <a:xfrm>
            <a:off x="5536277" y="3140077"/>
            <a:ext cx="0" cy="3921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2183477" y="2770189"/>
                <a:ext cx="16764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>
                    <a:ea typeface="ＭＳ Ｐゴシック" pitchFamily="16" charset="-128"/>
                  </a:rPr>
                  <a:t>key</a:t>
                </a:r>
                <a:r>
                  <a:rPr lang="en-US" b="1" noProof="0" dirty="0">
                    <a:solidFill>
                      <a:srgbClr val="993300"/>
                    </a:solidFill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𝒌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27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3477" y="2770189"/>
                <a:ext cx="1676400" cy="369888"/>
              </a:xfrm>
              <a:prstGeom prst="rect">
                <a:avLst/>
              </a:prstGeom>
              <a:blipFill>
                <a:blip r:embed="rId6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78" name="AutoShape 10"/>
          <p:cNvCxnSpPr>
            <a:cxnSpLocks noChangeShapeType="1"/>
            <a:stCxn id="32773" idx="1"/>
            <a:endCxn id="32777" idx="3"/>
          </p:cNvCxnSpPr>
          <p:nvPr/>
        </p:nvCxnSpPr>
        <p:spPr bwMode="auto">
          <a:xfrm flipH="1">
            <a:off x="3859877" y="2955927"/>
            <a:ext cx="762000" cy="0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779" name="Text Box 11"/>
              <p:cNvSpPr txBox="1">
                <a:spLocks noChangeArrowheads="1"/>
              </p:cNvSpPr>
              <p:nvPr/>
            </p:nvSpPr>
            <p:spPr bwMode="auto">
              <a:xfrm>
                <a:off x="4621877" y="4294189"/>
                <a:ext cx="1828800" cy="3926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/>
                  <a:t>d</a:t>
                </a:r>
                <a:r>
                  <a:rPr lang="en-US" b="1" noProof="0" dirty="0">
                    <a:ea typeface="ＭＳ Ｐゴシック" pitchFamily="16" charset="-128"/>
                  </a:rPr>
                  <a:t>ecryption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</m:ctrlPr>
                      </m:sSub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𝑭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𝒌</m:t>
                        </m:r>
                      </m:sub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16" charset="-128"/>
                          </a:rPr>
                          <m:t>𝟏</m:t>
                        </m:r>
                      </m:sup>
                    </m:sSubSup>
                  </m:oMath>
                </a14:m>
                <a:endParaRPr lang="en-US" b="1" baseline="30000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277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4294189"/>
                <a:ext cx="1828800" cy="392672"/>
              </a:xfrm>
              <a:prstGeom prst="rect">
                <a:avLst/>
              </a:prstGeom>
              <a:blipFill>
                <a:blip r:embed="rId7"/>
                <a:stretch>
                  <a:fillRect l="-685" t="-3030" b="-1818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780" name="Text Box 12"/>
              <p:cNvSpPr txBox="1">
                <a:spLocks noChangeArrowheads="1"/>
              </p:cNvSpPr>
              <p:nvPr/>
            </p:nvSpPr>
            <p:spPr bwMode="auto">
              <a:xfrm>
                <a:off x="4621877" y="4979989"/>
                <a:ext cx="1828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/>
                  <a:t>plaintext</a:t>
                </a:r>
                <a:r>
                  <a:rPr lang="en-US" noProof="0" dirty="0"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7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877" y="4979989"/>
                <a:ext cx="1828800" cy="369888"/>
              </a:xfrm>
              <a:prstGeom prst="rect">
                <a:avLst/>
              </a:prstGeom>
              <a:blipFill>
                <a:blip r:embed="rId8"/>
                <a:stretch>
                  <a:fillRect t="-6452" b="-2580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81" name="AutoShape 13"/>
          <p:cNvCxnSpPr>
            <a:cxnSpLocks noChangeShapeType="1"/>
            <a:stCxn id="32774" idx="2"/>
            <a:endCxn id="32779" idx="0"/>
          </p:cNvCxnSpPr>
          <p:nvPr/>
        </p:nvCxnSpPr>
        <p:spPr bwMode="auto">
          <a:xfrm>
            <a:off x="5536277" y="3902077"/>
            <a:ext cx="0" cy="39211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32782" name="AutoShape 14"/>
          <p:cNvCxnSpPr>
            <a:cxnSpLocks noChangeShapeType="1"/>
            <a:stCxn id="32779" idx="2"/>
            <a:endCxn id="32780" idx="0"/>
          </p:cNvCxnSpPr>
          <p:nvPr/>
        </p:nvCxnSpPr>
        <p:spPr bwMode="auto">
          <a:xfrm>
            <a:off x="5536277" y="4686861"/>
            <a:ext cx="0" cy="293128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2183477" y="4294189"/>
                <a:ext cx="16764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0" hangingPunct="0"/>
                <a:r>
                  <a:rPr lang="en-US" b="1" noProof="0" dirty="0">
                    <a:ea typeface="ＭＳ Ｐゴシック" pitchFamily="16" charset="-128"/>
                  </a:rPr>
                  <a:t>key</a:t>
                </a:r>
                <a:r>
                  <a:rPr lang="en-US" b="1" noProof="0" dirty="0">
                    <a:solidFill>
                      <a:srgbClr val="993300"/>
                    </a:solidFill>
                    <a:ea typeface="ＭＳ Ｐゴシック" pitchFamily="16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𝒌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278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3477" y="4294189"/>
                <a:ext cx="1676400" cy="369888"/>
              </a:xfrm>
              <a:prstGeom prst="rect">
                <a:avLst/>
              </a:prstGeom>
              <a:blipFill>
                <a:blip r:embed="rId6"/>
                <a:stretch>
                  <a:fillRect t="-3226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84" name="AutoShape 16"/>
          <p:cNvCxnSpPr>
            <a:cxnSpLocks noChangeShapeType="1"/>
            <a:stCxn id="32779" idx="1"/>
            <a:endCxn id="32783" idx="3"/>
          </p:cNvCxnSpPr>
          <p:nvPr/>
        </p:nvCxnSpPr>
        <p:spPr bwMode="auto">
          <a:xfrm flipH="1" flipV="1">
            <a:off x="3859877" y="4479133"/>
            <a:ext cx="762000" cy="11392"/>
          </a:xfrm>
          <a:prstGeom prst="straightConnector1">
            <a:avLst/>
          </a:prstGeom>
          <a:ln>
            <a:headEnd type="triangle" w="med" len="med"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357158" y="5643578"/>
            <a:ext cx="8153400" cy="1000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Problems: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noProof="0" dirty="0"/>
              <a:t>the messages have to be short</a:t>
            </a: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deterministic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 no state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so it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cannot be CPA-secure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83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  <p:bldP spid="32773" grpId="0" animBg="1"/>
      <p:bldP spid="32774" grpId="0" animBg="1"/>
      <p:bldP spid="32777" grpId="0" animBg="1"/>
      <p:bldP spid="32779" grpId="0" animBg="1"/>
      <p:bldP spid="32780" grpId="0" animBg="1"/>
      <p:bldP spid="3278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noProof="0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Popular construction paradigms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1264542" y="4511842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86858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505092" cy="1143000"/>
          </a:xfrm>
        </p:spPr>
        <p:txBody>
          <a:bodyPr/>
          <a:lstStyle/>
          <a:p>
            <a:r>
              <a:rPr lang="en-US" noProof="0" dirty="0"/>
              <a:t>Block cipher modes of operation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noProof="0" dirty="0"/>
              <a:t>Block ciphers </a:t>
            </a:r>
            <a:r>
              <a:rPr lang="en-US" sz="2400" b="1" noProof="0" dirty="0">
                <a:solidFill>
                  <a:srgbClr val="FF0000"/>
                </a:solidFill>
              </a:rPr>
              <a:t>cannot be used directly for encryption</a:t>
            </a:r>
            <a:r>
              <a:rPr lang="en-US" sz="2400" noProof="0" dirty="0"/>
              <a:t>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noProof="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noProof="0" dirty="0"/>
              <a:t>They are always used in some “</a:t>
            </a:r>
            <a:r>
              <a:rPr lang="en-US" sz="2400" b="1" noProof="0" dirty="0">
                <a:solidFill>
                  <a:srgbClr val="008000"/>
                </a:solidFill>
              </a:rPr>
              <a:t>modes of operation</a:t>
            </a:r>
            <a:r>
              <a:rPr lang="en-US" sz="2400" noProof="0" dirty="0"/>
              <a:t>” </a:t>
            </a:r>
            <a:br>
              <a:rPr lang="en-US" sz="2400" noProof="0" dirty="0"/>
            </a:br>
            <a:endParaRPr lang="en-US" sz="2400" noProof="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noProof="0" dirty="0">
                <a:solidFill>
                  <a:srgbClr val="0070C0"/>
                </a:solidFill>
              </a:rPr>
              <a:t>Electronic Codebook (ECB)</a:t>
            </a:r>
            <a:r>
              <a:rPr lang="en-US" sz="2400" noProof="0" dirty="0">
                <a:solidFill>
                  <a:srgbClr val="0070C0"/>
                </a:solidFill>
              </a:rPr>
              <a:t> </a:t>
            </a:r>
            <a:r>
              <a:rPr lang="en-US" sz="2400" noProof="0" dirty="0"/>
              <a:t>mode </a:t>
            </a:r>
            <a:r>
              <a:rPr lang="en-US" sz="2400" noProof="0" dirty="0">
                <a:cs typeface="Arial" charset="0"/>
              </a:rPr>
              <a:t>← </a:t>
            </a:r>
            <a:r>
              <a:rPr lang="en-US" sz="2400" b="1" noProof="0" dirty="0">
                <a:solidFill>
                  <a:srgbClr val="FF0000"/>
                </a:solidFill>
                <a:cs typeface="Arial" charset="0"/>
              </a:rPr>
              <a:t>not secure</a:t>
            </a:r>
            <a:r>
              <a:rPr lang="en-US" sz="2400" b="1" noProof="0" dirty="0">
                <a:solidFill>
                  <a:srgbClr val="993300"/>
                </a:solidFill>
                <a:cs typeface="Arial" charset="0"/>
              </a:rPr>
              <a:t>, 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noProof="0" dirty="0">
                <a:solidFill>
                  <a:srgbClr val="0070C0"/>
                </a:solidFill>
                <a:cs typeface="Arial" charset="0"/>
              </a:rPr>
              <a:t>Cipher-Block Chaining (CBC)</a:t>
            </a:r>
            <a:r>
              <a:rPr lang="en-US" sz="2400" noProof="0" dirty="0">
                <a:solidFill>
                  <a:srgbClr val="0070C0"/>
                </a:solidFill>
                <a:cs typeface="Arial" charset="0"/>
              </a:rPr>
              <a:t> </a:t>
            </a:r>
            <a:r>
              <a:rPr lang="en-US" sz="2400" noProof="0" dirty="0">
                <a:cs typeface="Arial" charset="0"/>
              </a:rPr>
              <a:t>mode,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noProof="0" dirty="0">
                <a:solidFill>
                  <a:srgbClr val="0070C0"/>
                </a:solidFill>
                <a:cs typeface="Arial" charset="0"/>
              </a:rPr>
              <a:t>Output Feedback (OFB)</a:t>
            </a:r>
            <a:r>
              <a:rPr lang="en-US" sz="2400" noProof="0" dirty="0">
                <a:solidFill>
                  <a:srgbClr val="0070C0"/>
                </a:solidFill>
                <a:cs typeface="Arial" charset="0"/>
              </a:rPr>
              <a:t> </a:t>
            </a:r>
            <a:r>
              <a:rPr lang="en-US" sz="2400" noProof="0" dirty="0">
                <a:cs typeface="Arial" charset="0"/>
              </a:rPr>
              <a:t>mode,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400" b="1" noProof="0" dirty="0">
                <a:solidFill>
                  <a:srgbClr val="0070C0"/>
                </a:solidFill>
                <a:cs typeface="Arial" charset="0"/>
              </a:rPr>
              <a:t>Counter (CTR)</a:t>
            </a:r>
            <a:r>
              <a:rPr lang="en-US" sz="2400" noProof="0" dirty="0">
                <a:solidFill>
                  <a:srgbClr val="0070C0"/>
                </a:solidFill>
                <a:cs typeface="Arial" charset="0"/>
              </a:rPr>
              <a:t> </a:t>
            </a:r>
            <a:r>
              <a:rPr lang="en-US" sz="2400" noProof="0" dirty="0">
                <a:cs typeface="Arial" charset="0"/>
              </a:rPr>
              <a:t>mode,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b="1" noProof="0" dirty="0">
                <a:solidFill>
                  <a:schemeClr val="accent2"/>
                </a:solidFill>
                <a:cs typeface="Arial" charset="0"/>
              </a:rPr>
              <a:t>        </a:t>
            </a:r>
            <a:r>
              <a:rPr lang="en-US" sz="2400" b="1" noProof="0" dirty="0">
                <a:solidFill>
                  <a:srgbClr val="0070C0"/>
                </a:solidFill>
                <a:cs typeface="Arial" charset="0"/>
              </a:rPr>
              <a:t>. . .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b="1" noProof="0" dirty="0">
              <a:solidFill>
                <a:schemeClr val="accent2"/>
              </a:solidFill>
            </a:endParaRPr>
          </a:p>
          <a:p>
            <a:pPr marL="609600" indent="-609600">
              <a:lnSpc>
                <a:spcPct val="90000"/>
              </a:lnSpc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7876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7715304" cy="64294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Electronic Codebook mode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357158" y="3714752"/>
            <a:ext cx="1328734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noProof="0" dirty="0"/>
              <a:t>decryption: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428729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29" y="2143116"/>
                <a:ext cx="928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1428728" y="142873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Up Arrow 14"/>
              <p:cNvSpPr/>
              <p:nvPr/>
            </p:nvSpPr>
            <p:spPr>
              <a:xfrm>
                <a:off x="1406747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5" name="Up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7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/>
          <p:cNvSpPr/>
          <p:nvPr/>
        </p:nvSpPr>
        <p:spPr>
          <a:xfrm>
            <a:off x="2665155" y="142873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Up Arrow 18"/>
              <p:cNvSpPr/>
              <p:nvPr/>
            </p:nvSpPr>
            <p:spPr>
              <a:xfrm>
                <a:off x="2643174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9" name="Up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4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Down Arrow 21"/>
              <p:cNvSpPr/>
              <p:nvPr/>
            </p:nvSpPr>
            <p:spPr>
              <a:xfrm>
                <a:off x="6379931" y="142873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22" name="Down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31" y="142873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Up Arrow 22"/>
              <p:cNvSpPr/>
              <p:nvPr/>
            </p:nvSpPr>
            <p:spPr>
              <a:xfrm>
                <a:off x="6357950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23" name="Up Arrow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950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665156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156" y="2143116"/>
                <a:ext cx="9286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379931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31" y="2143116"/>
                <a:ext cx="9286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Down Arrow 25"/>
          <p:cNvSpPr/>
          <p:nvPr/>
        </p:nvSpPr>
        <p:spPr>
          <a:xfrm>
            <a:off x="3857619" y="142873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Up Arrow 26"/>
              <p:cNvSpPr/>
              <p:nvPr/>
            </p:nvSpPr>
            <p:spPr>
              <a:xfrm>
                <a:off x="3835638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27" name="Up Arrow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38" y="271462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857620" y="214311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20" y="2143116"/>
                <a:ext cx="9286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/>
          <p:cNvSpPr/>
          <p:nvPr/>
        </p:nvSpPr>
        <p:spPr>
          <a:xfrm rot="5400000">
            <a:off x="4165369" y="-1785990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3857620" y="78579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plaintext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4143388" y="285743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3786182" y="3500438"/>
            <a:ext cx="104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ciphertext</a:t>
            </a: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428596" y="928670"/>
            <a:ext cx="150019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noProof="0" dirty="0"/>
              <a:t>encryption: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428728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28" y="4929198"/>
                <a:ext cx="928694" cy="392672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Down Arrow 35"/>
              <p:cNvSpPr/>
              <p:nvPr/>
            </p:nvSpPr>
            <p:spPr>
              <a:xfrm>
                <a:off x="1406746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6" name="Down Arrow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6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Up Arrow 36"/>
              <p:cNvSpPr/>
              <p:nvPr/>
            </p:nvSpPr>
            <p:spPr>
              <a:xfrm>
                <a:off x="1406746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7" name="Up Arrow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6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4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Down Arrow 37"/>
              <p:cNvSpPr/>
              <p:nvPr/>
            </p:nvSpPr>
            <p:spPr>
              <a:xfrm>
                <a:off x="2643173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8" name="Down Arrow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Up Arrow 38"/>
              <p:cNvSpPr/>
              <p:nvPr/>
            </p:nvSpPr>
            <p:spPr>
              <a:xfrm>
                <a:off x="2643173" y="5500702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39" name="Up Arrow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5500702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6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Down Arrow 39"/>
              <p:cNvSpPr/>
              <p:nvPr/>
            </p:nvSpPr>
            <p:spPr>
              <a:xfrm>
                <a:off x="6429387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40" name="Down Arrow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7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Up Arrow 40"/>
              <p:cNvSpPr/>
              <p:nvPr/>
            </p:nvSpPr>
            <p:spPr>
              <a:xfrm>
                <a:off x="6429387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41" name="Up Arrow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7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8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Down Arrow 43"/>
              <p:cNvSpPr/>
              <p:nvPr/>
            </p:nvSpPr>
            <p:spPr>
              <a:xfrm>
                <a:off x="3835638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44" name="Down Arrow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38" y="421481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Up Arrow 44"/>
              <p:cNvSpPr/>
              <p:nvPr/>
            </p:nvSpPr>
            <p:spPr>
              <a:xfrm>
                <a:off x="3835638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45" name="Up Arrow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38" y="550070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20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5214941" y="4786322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  <p:sp>
        <p:nvSpPr>
          <p:cNvPr id="48" name="Left Brace 47"/>
          <p:cNvSpPr/>
          <p:nvPr/>
        </p:nvSpPr>
        <p:spPr>
          <a:xfrm rot="5400000">
            <a:off x="4143387" y="1000092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Left Brace 48"/>
          <p:cNvSpPr/>
          <p:nvPr/>
        </p:nvSpPr>
        <p:spPr>
          <a:xfrm rot="16200000">
            <a:off x="4143387" y="3143232"/>
            <a:ext cx="428596" cy="614366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3857619" y="6357958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plaintext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2643173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4929198"/>
                <a:ext cx="928694" cy="392672"/>
              </a:xfrm>
              <a:prstGeom prst="rect">
                <a:avLst/>
              </a:prstGeom>
              <a:blipFill>
                <a:blip r:embed="rId21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3857619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19" y="4929198"/>
                <a:ext cx="928694" cy="392672"/>
              </a:xfrm>
              <a:prstGeom prst="rect">
                <a:avLst/>
              </a:prstGeom>
              <a:blipFill>
                <a:blip r:embed="rId22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6429387" y="4929198"/>
                <a:ext cx="928694" cy="3926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7" y="4929198"/>
                <a:ext cx="928694" cy="392672"/>
              </a:xfrm>
              <a:prstGeom prst="rect">
                <a:avLst/>
              </a:prstGeom>
              <a:blipFill>
                <a:blip r:embed="rId23"/>
                <a:stretch>
                  <a:fillRect b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14" idx="2"/>
            <a:endCxn id="7" idx="0"/>
          </p:cNvCxnSpPr>
          <p:nvPr/>
        </p:nvCxnSpPr>
        <p:spPr>
          <a:xfrm rot="5400000">
            <a:off x="1791414" y="2030464"/>
            <a:ext cx="21431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2"/>
            <a:endCxn id="24" idx="0"/>
          </p:cNvCxnSpPr>
          <p:nvPr/>
        </p:nvCxnSpPr>
        <p:spPr>
          <a:xfrm rot="5400000">
            <a:off x="3027841" y="2030464"/>
            <a:ext cx="21431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6" idx="2"/>
            <a:endCxn id="28" idx="0"/>
          </p:cNvCxnSpPr>
          <p:nvPr/>
        </p:nvCxnSpPr>
        <p:spPr>
          <a:xfrm rot="5400000">
            <a:off x="4220305" y="2030464"/>
            <a:ext cx="21431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2" idx="2"/>
            <a:endCxn id="25" idx="0"/>
          </p:cNvCxnSpPr>
          <p:nvPr/>
        </p:nvCxnSpPr>
        <p:spPr>
          <a:xfrm rot="5400000">
            <a:off x="6742617" y="2030464"/>
            <a:ext cx="214314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7" idx="2"/>
            <a:endCxn id="15" idx="0"/>
          </p:cNvCxnSpPr>
          <p:nvPr/>
        </p:nvCxnSpPr>
        <p:spPr>
          <a:xfrm rot="5400000">
            <a:off x="1786495" y="2608039"/>
            <a:ext cx="202172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24" idx="2"/>
            <a:endCxn id="19" idx="0"/>
          </p:cNvCxnSpPr>
          <p:nvPr/>
        </p:nvCxnSpPr>
        <p:spPr>
          <a:xfrm rot="5400000">
            <a:off x="3022922" y="2608039"/>
            <a:ext cx="202172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28" idx="2"/>
            <a:endCxn id="27" idx="0"/>
          </p:cNvCxnSpPr>
          <p:nvPr/>
        </p:nvCxnSpPr>
        <p:spPr>
          <a:xfrm rot="5400000">
            <a:off x="4215386" y="2608039"/>
            <a:ext cx="202172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5" idx="2"/>
            <a:endCxn id="23" idx="0"/>
          </p:cNvCxnSpPr>
          <p:nvPr/>
        </p:nvCxnSpPr>
        <p:spPr>
          <a:xfrm rot="5400000">
            <a:off x="6737697" y="2608039"/>
            <a:ext cx="202172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36" idx="2"/>
            <a:endCxn id="35" idx="0"/>
          </p:cNvCxnSpPr>
          <p:nvPr/>
        </p:nvCxnSpPr>
        <p:spPr>
          <a:xfrm>
            <a:off x="1882084" y="4714884"/>
            <a:ext cx="10991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38" idx="2"/>
            <a:endCxn id="51" idx="0"/>
          </p:cNvCxnSpPr>
          <p:nvPr/>
        </p:nvCxnSpPr>
        <p:spPr>
          <a:xfrm flipH="1">
            <a:off x="3107520" y="4714884"/>
            <a:ext cx="10991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44" idx="2"/>
            <a:endCxn id="52" idx="0"/>
          </p:cNvCxnSpPr>
          <p:nvPr/>
        </p:nvCxnSpPr>
        <p:spPr>
          <a:xfrm>
            <a:off x="4310976" y="4714884"/>
            <a:ext cx="10990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40" idx="2"/>
            <a:endCxn id="53" idx="0"/>
          </p:cNvCxnSpPr>
          <p:nvPr/>
        </p:nvCxnSpPr>
        <p:spPr>
          <a:xfrm flipH="1">
            <a:off x="6893734" y="4714884"/>
            <a:ext cx="10991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35" idx="2"/>
            <a:endCxn id="37" idx="0"/>
          </p:cNvCxnSpPr>
          <p:nvPr/>
        </p:nvCxnSpPr>
        <p:spPr>
          <a:xfrm flipH="1">
            <a:off x="1882084" y="5321870"/>
            <a:ext cx="10991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51" idx="2"/>
            <a:endCxn id="39" idx="0"/>
          </p:cNvCxnSpPr>
          <p:nvPr/>
        </p:nvCxnSpPr>
        <p:spPr>
          <a:xfrm>
            <a:off x="3107520" y="5321870"/>
            <a:ext cx="0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52" idx="2"/>
            <a:endCxn id="45" idx="0"/>
          </p:cNvCxnSpPr>
          <p:nvPr/>
        </p:nvCxnSpPr>
        <p:spPr>
          <a:xfrm flipH="1">
            <a:off x="4310976" y="5321870"/>
            <a:ext cx="10990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53" idx="2"/>
            <a:endCxn id="41" idx="0"/>
          </p:cNvCxnSpPr>
          <p:nvPr/>
        </p:nvCxnSpPr>
        <p:spPr>
          <a:xfrm>
            <a:off x="6893734" y="5321870"/>
            <a:ext cx="10991" cy="1788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14942" y="1285860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7119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5" grpId="0" animBg="1"/>
      <p:bldP spid="7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/>
      <p:bldP spid="32" grpId="0" animBg="1"/>
      <p:bldP spid="33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7" grpId="0"/>
      <p:bldP spid="48" grpId="0" animBg="1"/>
      <p:bldP spid="49" grpId="0" animBg="1"/>
      <p:bldP spid="50" grpId="0"/>
      <p:bldP spid="51" grpId="0" animBg="1"/>
      <p:bldP spid="52" grpId="0" animBg="1"/>
      <p:bldP spid="53" grpId="0" animBg="1"/>
      <p:bldP spid="5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0" y="2590800"/>
            <a:ext cx="9144000" cy="609600"/>
          </a:xfrm>
          <a:prstGeom prst="rect">
            <a:avLst/>
          </a:prstGeom>
          <a:solidFill>
            <a:srgbClr val="F4DDD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Tx/>
              <a:buNone/>
            </a:pPr>
            <a:r>
              <a:rPr lang="en-US" sz="2800" b="1" noProof="0" dirty="0"/>
              <a:t>It is not secure, and should not be used</a:t>
            </a:r>
            <a:r>
              <a:rPr lang="en-US" sz="2800" noProof="0" dirty="0"/>
              <a:t>.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274638"/>
            <a:ext cx="8719406" cy="1143000"/>
          </a:xfrm>
        </p:spPr>
        <p:txBody>
          <a:bodyPr>
            <a:normAutofit/>
          </a:bodyPr>
          <a:lstStyle/>
          <a:p>
            <a:r>
              <a:rPr lang="en-US" sz="4000" noProof="0" dirty="0"/>
              <a:t>This mode was used in the past.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500438"/>
            <a:ext cx="8382000" cy="690562"/>
          </a:xfrm>
        </p:spPr>
        <p:txBody>
          <a:bodyPr/>
          <a:lstStyle/>
          <a:p>
            <a:pPr>
              <a:buFontTx/>
              <a:buNone/>
            </a:pPr>
            <a:r>
              <a:rPr lang="en-US" sz="2800" b="1" noProof="0" dirty="0"/>
              <a:t>Example</a:t>
            </a:r>
            <a:r>
              <a:rPr lang="en-US" sz="2800" noProof="0" dirty="0"/>
              <a:t>: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4419600"/>
            <a:ext cx="18669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4572000"/>
            <a:ext cx="18669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ight Arrow 8"/>
          <p:cNvSpPr/>
          <p:nvPr/>
        </p:nvSpPr>
        <p:spPr>
          <a:xfrm>
            <a:off x="3214678" y="4786322"/>
            <a:ext cx="2571768" cy="92869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ECB</a:t>
            </a:r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6407371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noProof="0" dirty="0">
                <a:latin typeface="Arial"/>
                <a:cs typeface="Arial"/>
              </a:rPr>
              <a:t>© </a:t>
            </a:r>
            <a:r>
              <a:rPr lang="en-US" sz="1400" i="1" noProof="0" dirty="0" err="1">
                <a:latin typeface="Arial"/>
                <a:cs typeface="Arial"/>
              </a:rPr>
              <a:t>wikipedia</a:t>
            </a:r>
            <a:endParaRPr lang="en-US" sz="1400" i="1" noProof="0" dirty="0"/>
          </a:p>
        </p:txBody>
      </p:sp>
    </p:spTree>
    <p:extLst>
      <p:ext uri="{BB962C8B-B14F-4D97-AF65-F5344CB8AC3E}">
        <p14:creationId xmlns:p14="http://schemas.microsoft.com/office/powerpoint/2010/main" val="231231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7643866" cy="500066"/>
          </a:xfrm>
        </p:spPr>
        <p:txBody>
          <a:bodyPr>
            <a:normAutofit fontScale="90000"/>
          </a:bodyPr>
          <a:lstStyle/>
          <a:p>
            <a:r>
              <a:rPr lang="en-US" noProof="0" dirty="0">
                <a:solidFill>
                  <a:schemeClr val="tx1"/>
                </a:solidFill>
              </a:rPr>
              <a:t>Cipher-Block Chaining (CBC)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071671" y="33937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1" y="3393704"/>
                <a:ext cx="928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Down Arrow 13"/>
              <p:cNvSpPr/>
              <p:nvPr/>
            </p:nvSpPr>
            <p:spPr>
              <a:xfrm>
                <a:off x="2049689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4" name="Down Arrow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89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Up Arrow 14"/>
              <p:cNvSpPr/>
              <p:nvPr/>
            </p:nvSpPr>
            <p:spPr>
              <a:xfrm>
                <a:off x="207167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5" name="Up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own Arrow 17"/>
              <p:cNvSpPr/>
              <p:nvPr/>
            </p:nvSpPr>
            <p:spPr>
              <a:xfrm>
                <a:off x="350043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8" name="Down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Up Arrow 18"/>
              <p:cNvSpPr/>
              <p:nvPr/>
            </p:nvSpPr>
            <p:spPr>
              <a:xfrm>
                <a:off x="350043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9" name="Up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500430" y="3429000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3429000"/>
                <a:ext cx="9286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/>
          <p:cNvSpPr/>
          <p:nvPr/>
        </p:nvSpPr>
        <p:spPr>
          <a:xfrm rot="5400000">
            <a:off x="5143520" y="-1726694"/>
            <a:ext cx="428596" cy="685804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4862099" y="113084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plaintext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4357702" y="857216"/>
            <a:ext cx="428596" cy="828680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4000496" y="5214950"/>
            <a:ext cx="1154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ciphertext</a:t>
            </a: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428596" y="1052498"/>
            <a:ext cx="150019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noProof="0" dirty="0"/>
              <a:t>encryption: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5288" y="2702478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cxnSp>
        <p:nvCxnSpPr>
          <p:cNvPr id="60" name="Shape 59"/>
          <p:cNvCxnSpPr>
            <a:stCxn id="15" idx="2"/>
            <a:endCxn id="51" idx="1"/>
          </p:cNvCxnSpPr>
          <p:nvPr/>
        </p:nvCxnSpPr>
        <p:spPr>
          <a:xfrm rot="5400000" flipH="1" flipV="1">
            <a:off x="2227997" y="320615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8" idx="2"/>
            <a:endCxn id="51" idx="0"/>
          </p:cNvCxnSpPr>
          <p:nvPr/>
        </p:nvCxnSpPr>
        <p:spPr>
          <a:xfrm rot="16200000" flipH="1">
            <a:off x="3798132" y="2522924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1" idx="2"/>
            <a:endCxn id="24" idx="0"/>
          </p:cNvCxnSpPr>
          <p:nvPr/>
        </p:nvCxnSpPr>
        <p:spPr>
          <a:xfrm rot="5400000">
            <a:off x="3792637" y="3243951"/>
            <a:ext cx="357190" cy="129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14546" y="2702478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cxnSp>
        <p:nvCxnSpPr>
          <p:cNvPr id="82" name="Straight Arrow Connector 81"/>
          <p:cNvCxnSpPr>
            <a:stCxn id="14" idx="2"/>
            <a:endCxn id="80" idx="0"/>
          </p:cNvCxnSpPr>
          <p:nvPr/>
        </p:nvCxnSpPr>
        <p:spPr>
          <a:xfrm rot="16200000" flipH="1">
            <a:off x="2347390" y="2522924"/>
            <a:ext cx="357190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80" idx="2"/>
            <a:endCxn id="7" idx="0"/>
          </p:cNvCxnSpPr>
          <p:nvPr/>
        </p:nvCxnSpPr>
        <p:spPr>
          <a:xfrm rot="16200000" flipH="1">
            <a:off x="2370534" y="3228220"/>
            <a:ext cx="321894" cy="907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8596" y="3786190"/>
            <a:ext cx="1470274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random</a:t>
            </a:r>
            <a:br>
              <a:rPr lang="en-US" noProof="0" dirty="0"/>
            </a:br>
            <a:r>
              <a:rPr lang="en-US" noProof="0" dirty="0"/>
              <a:t>initial</a:t>
            </a:r>
            <a:br>
              <a:rPr lang="en-US" noProof="0" dirty="0"/>
            </a:br>
            <a:r>
              <a:rPr lang="en-US" noProof="0" dirty="0"/>
              <a:t>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Down Arrow 91"/>
              <p:cNvSpPr/>
              <p:nvPr/>
            </p:nvSpPr>
            <p:spPr>
              <a:xfrm>
                <a:off x="492919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92" name="Down Arrow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1845222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Up Arrow 92"/>
              <p:cNvSpPr/>
              <p:nvPr/>
            </p:nvSpPr>
            <p:spPr>
              <a:xfrm>
                <a:off x="492919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93" name="Up Arrow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414338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4929190" y="3429000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429000"/>
                <a:ext cx="9286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/>
          <p:cNvSpPr txBox="1"/>
          <p:nvPr/>
        </p:nvSpPr>
        <p:spPr>
          <a:xfrm>
            <a:off x="5094048" y="2702478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cxnSp>
        <p:nvCxnSpPr>
          <p:cNvPr id="96" name="Shape 95"/>
          <p:cNvCxnSpPr>
            <a:stCxn id="19" idx="2"/>
            <a:endCxn id="95" idx="1"/>
          </p:cNvCxnSpPr>
          <p:nvPr/>
        </p:nvCxnSpPr>
        <p:spPr>
          <a:xfrm rot="5400000" flipH="1" flipV="1">
            <a:off x="3656757" y="320615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2" idx="2"/>
            <a:endCxn id="95" idx="0"/>
          </p:cNvCxnSpPr>
          <p:nvPr/>
        </p:nvCxnSpPr>
        <p:spPr>
          <a:xfrm rot="16200000" flipH="1">
            <a:off x="5226892" y="2522924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95" idx="2"/>
            <a:endCxn id="94" idx="0"/>
          </p:cNvCxnSpPr>
          <p:nvPr/>
        </p:nvCxnSpPr>
        <p:spPr>
          <a:xfrm rot="5400000">
            <a:off x="5221397" y="3243951"/>
            <a:ext cx="357190" cy="129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Down Arrow 106"/>
              <p:cNvSpPr/>
              <p:nvPr/>
            </p:nvSpPr>
            <p:spPr>
              <a:xfrm>
                <a:off x="7693290" y="191666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07" name="Down Arrow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191666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Up Arrow 107"/>
              <p:cNvSpPr/>
              <p:nvPr/>
            </p:nvSpPr>
            <p:spPr>
              <a:xfrm>
                <a:off x="7693290" y="421481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08" name="Up Arrow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421481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/>
              <p:cNvSpPr txBox="1"/>
              <p:nvPr/>
            </p:nvSpPr>
            <p:spPr>
              <a:xfrm>
                <a:off x="7693290" y="3500438"/>
                <a:ext cx="928694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3500438"/>
                <a:ext cx="92869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/>
          <p:cNvSpPr txBox="1"/>
          <p:nvPr/>
        </p:nvSpPr>
        <p:spPr>
          <a:xfrm>
            <a:off x="7858148" y="2773916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cxnSp>
        <p:nvCxnSpPr>
          <p:cNvPr id="111" name="Straight Arrow Connector 110"/>
          <p:cNvCxnSpPr>
            <a:stCxn id="107" idx="2"/>
            <a:endCxn id="110" idx="0"/>
          </p:cNvCxnSpPr>
          <p:nvPr/>
        </p:nvCxnSpPr>
        <p:spPr>
          <a:xfrm rot="16200000" flipH="1">
            <a:off x="7990992" y="2594362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10" idx="2"/>
            <a:endCxn id="109" idx="0"/>
          </p:cNvCxnSpPr>
          <p:nvPr/>
        </p:nvCxnSpPr>
        <p:spPr>
          <a:xfrm rot="5400000">
            <a:off x="7985497" y="3315389"/>
            <a:ext cx="357190" cy="129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hape 115"/>
          <p:cNvCxnSpPr>
            <a:stCxn id="86" idx="0"/>
            <a:endCxn id="80" idx="1"/>
          </p:cNvCxnSpPr>
          <p:nvPr/>
        </p:nvCxnSpPr>
        <p:spPr>
          <a:xfrm rot="5400000" flipH="1" flipV="1">
            <a:off x="1239616" y="2811261"/>
            <a:ext cx="899046" cy="1050813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hape 55"/>
          <p:cNvCxnSpPr/>
          <p:nvPr/>
        </p:nvCxnSpPr>
        <p:spPr>
          <a:xfrm rot="5400000" flipH="1" flipV="1">
            <a:off x="5110245" y="324794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hape 56"/>
          <p:cNvCxnSpPr/>
          <p:nvPr/>
        </p:nvCxnSpPr>
        <p:spPr>
          <a:xfrm rot="5400000" flipH="1" flipV="1">
            <a:off x="6467567" y="3247945"/>
            <a:ext cx="1756302" cy="1118280"/>
          </a:xfrm>
          <a:prstGeom prst="curvedConnector4">
            <a:avLst>
              <a:gd name="adj1" fmla="val -13016"/>
              <a:gd name="adj2" fmla="val 71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7" idx="2"/>
            <a:endCxn id="15" idx="0"/>
          </p:cNvCxnSpPr>
          <p:nvPr/>
        </p:nvCxnSpPr>
        <p:spPr>
          <a:xfrm rot="16200000" flipH="1">
            <a:off x="2351341" y="3947713"/>
            <a:ext cx="380344" cy="109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24" idx="2"/>
            <a:endCxn id="19" idx="0"/>
          </p:cNvCxnSpPr>
          <p:nvPr/>
        </p:nvCxnSpPr>
        <p:spPr>
          <a:xfrm rot="16200000" flipH="1">
            <a:off x="3797748" y="3965360"/>
            <a:ext cx="345048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94" idx="2"/>
            <a:endCxn id="93" idx="0"/>
          </p:cNvCxnSpPr>
          <p:nvPr/>
        </p:nvCxnSpPr>
        <p:spPr>
          <a:xfrm rot="16200000" flipH="1">
            <a:off x="5226508" y="3965360"/>
            <a:ext cx="345048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09" idx="2"/>
            <a:endCxn id="108" idx="0"/>
          </p:cNvCxnSpPr>
          <p:nvPr/>
        </p:nvCxnSpPr>
        <p:spPr>
          <a:xfrm rot="16200000" flipH="1">
            <a:off x="7990608" y="4036798"/>
            <a:ext cx="345048" cy="109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15140" y="1857364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426529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8" grpId="0" animBg="1"/>
      <p:bldP spid="19" grpId="0" animBg="1"/>
      <p:bldP spid="24" grpId="0" animBg="1"/>
      <p:bldP spid="30" grpId="0" animBg="1"/>
      <p:bldP spid="31" grpId="0"/>
      <p:bldP spid="32" grpId="0" animBg="1"/>
      <p:bldP spid="33" grpId="0"/>
      <p:bldP spid="51" grpId="0" animBg="1"/>
      <p:bldP spid="80" grpId="0" animBg="1"/>
      <p:bldP spid="86" grpId="0" animBg="1"/>
      <p:bldP spid="92" grpId="0" animBg="1"/>
      <p:bldP spid="93" grpId="0" animBg="1"/>
      <p:bldP spid="94" grpId="0" animBg="1"/>
      <p:bldP spid="95" grpId="0" animBg="1"/>
      <p:bldP spid="107" grpId="0" animBg="1"/>
      <p:bldP spid="108" grpId="0" animBg="1"/>
      <p:bldP spid="109" grpId="0" animBg="1"/>
      <p:bldP spid="110" grpId="0" animBg="1"/>
      <p:bldP spid="4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7643866" cy="500066"/>
          </a:xfrm>
        </p:spPr>
        <p:txBody>
          <a:bodyPr>
            <a:normAutofit fontScale="90000"/>
          </a:bodyPr>
          <a:lstStyle/>
          <a:p>
            <a:r>
              <a:rPr lang="en-US" noProof="0" dirty="0">
                <a:solidFill>
                  <a:schemeClr val="tx1"/>
                </a:solidFill>
              </a:rPr>
              <a:t>Cipher-Block Chaining (CBC)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071670" y="3238686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670" y="3238686"/>
                <a:ext cx="928694" cy="392672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Down Arrow 13"/>
              <p:cNvSpPr/>
              <p:nvPr/>
            </p:nvSpPr>
            <p:spPr>
              <a:xfrm>
                <a:off x="2049689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4" name="Down Arrow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89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Up Arrow 14"/>
              <p:cNvSpPr/>
              <p:nvPr/>
            </p:nvSpPr>
            <p:spPr>
              <a:xfrm>
                <a:off x="2049689" y="470274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5" name="Up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89" y="4702742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5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own Arrow 17"/>
              <p:cNvSpPr/>
              <p:nvPr/>
            </p:nvSpPr>
            <p:spPr>
              <a:xfrm>
                <a:off x="350043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8" name="Down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Up Arrow 18"/>
              <p:cNvSpPr/>
              <p:nvPr/>
            </p:nvSpPr>
            <p:spPr>
              <a:xfrm>
                <a:off x="350043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9" name="Up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7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522411" y="3261840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411" y="3261840"/>
                <a:ext cx="928694" cy="392672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715140" y="2071678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  <p:sp>
        <p:nvSpPr>
          <p:cNvPr id="30" name="Left Brace 29"/>
          <p:cNvSpPr/>
          <p:nvPr/>
        </p:nvSpPr>
        <p:spPr>
          <a:xfrm rot="5400000">
            <a:off x="4321983" y="-2262479"/>
            <a:ext cx="428596" cy="8501122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4786314" y="570287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plaintext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5072082" y="2059520"/>
            <a:ext cx="428596" cy="6858048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4000496" y="1357298"/>
            <a:ext cx="1154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ciphertext</a:t>
            </a: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428596" y="928670"/>
            <a:ext cx="150019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b="1" noProof="0" dirty="0"/>
              <a:t>decryption: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5288" y="3988362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2214546" y="3988362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sp>
        <p:nvSpPr>
          <p:cNvPr id="86" name="TextBox 85"/>
          <p:cNvSpPr txBox="1"/>
          <p:nvPr/>
        </p:nvSpPr>
        <p:spPr>
          <a:xfrm>
            <a:off x="357158" y="2143116"/>
            <a:ext cx="147027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initial</a:t>
            </a:r>
            <a:br>
              <a:rPr lang="en-US" noProof="0" dirty="0"/>
            </a:br>
            <a:r>
              <a:rPr lang="en-US" noProof="0" dirty="0"/>
              <a:t>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Down Arrow 91"/>
              <p:cNvSpPr/>
              <p:nvPr/>
            </p:nvSpPr>
            <p:spPr>
              <a:xfrm>
                <a:off x="492919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92" name="Down Arrow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2130974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Up Arrow 92"/>
              <p:cNvSpPr/>
              <p:nvPr/>
            </p:nvSpPr>
            <p:spPr>
              <a:xfrm>
                <a:off x="492919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93" name="Up Arrow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4690600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0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4951171" y="3261840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171" y="3261840"/>
                <a:ext cx="928694" cy="392672"/>
              </a:xfrm>
              <a:prstGeom prst="rect">
                <a:avLst/>
              </a:prstGeom>
              <a:blipFill>
                <a:blip r:embed="rId11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/>
          <p:cNvSpPr txBox="1"/>
          <p:nvPr/>
        </p:nvSpPr>
        <p:spPr>
          <a:xfrm>
            <a:off x="5094048" y="3988362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Down Arrow 106"/>
              <p:cNvSpPr/>
              <p:nvPr/>
            </p:nvSpPr>
            <p:spPr>
              <a:xfrm>
                <a:off x="7715271" y="216343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07" name="Down Arrow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71" y="2163430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Up Arrow 107"/>
              <p:cNvSpPr/>
              <p:nvPr/>
            </p:nvSpPr>
            <p:spPr>
              <a:xfrm>
                <a:off x="7693290" y="476203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𝒕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08" name="Up Arrow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90" y="4762038"/>
                <a:ext cx="950675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/>
              <p:cNvSpPr txBox="1"/>
              <p:nvPr/>
            </p:nvSpPr>
            <p:spPr>
              <a:xfrm>
                <a:off x="7715271" y="3333278"/>
                <a:ext cx="928694" cy="392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baseline="-25000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71" y="3333278"/>
                <a:ext cx="928694" cy="392672"/>
              </a:xfrm>
              <a:prstGeom prst="rect">
                <a:avLst/>
              </a:prstGeom>
              <a:blipFill>
                <a:blip r:embed="rId1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/>
          <p:cNvSpPr txBox="1"/>
          <p:nvPr/>
        </p:nvSpPr>
        <p:spPr>
          <a:xfrm>
            <a:off x="7858148" y="4059800"/>
            <a:ext cx="62479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xor</a:t>
            </a:r>
            <a:endParaRPr lang="en-US" b="1" noProof="0" dirty="0"/>
          </a:p>
        </p:txBody>
      </p:sp>
      <p:cxnSp>
        <p:nvCxnSpPr>
          <p:cNvPr id="116" name="Shape 115"/>
          <p:cNvCxnSpPr>
            <a:stCxn id="86" idx="2"/>
            <a:endCxn id="80" idx="1"/>
          </p:cNvCxnSpPr>
          <p:nvPr/>
        </p:nvCxnSpPr>
        <p:spPr>
          <a:xfrm rot="16200000" flipH="1">
            <a:off x="961630" y="2920111"/>
            <a:ext cx="1383581" cy="1122251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7" idx="2"/>
            <a:endCxn id="80" idx="0"/>
          </p:cNvCxnSpPr>
          <p:nvPr/>
        </p:nvCxnSpPr>
        <p:spPr>
          <a:xfrm flipH="1">
            <a:off x="2526944" y="3631358"/>
            <a:ext cx="9073" cy="3570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/>
          <p:cNvCxnSpPr>
            <a:stCxn id="14" idx="3"/>
            <a:endCxn id="51" idx="1"/>
          </p:cNvCxnSpPr>
          <p:nvPr/>
        </p:nvCxnSpPr>
        <p:spPr>
          <a:xfrm>
            <a:off x="3000364" y="2488531"/>
            <a:ext cx="664924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18" idx="3"/>
            <a:endCxn id="95" idx="1"/>
          </p:cNvCxnSpPr>
          <p:nvPr/>
        </p:nvCxnSpPr>
        <p:spPr>
          <a:xfrm>
            <a:off x="4451105" y="2488531"/>
            <a:ext cx="642943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80" idx="2"/>
            <a:endCxn id="15" idx="0"/>
          </p:cNvCxnSpPr>
          <p:nvPr/>
        </p:nvCxnSpPr>
        <p:spPr>
          <a:xfrm rot="5400000">
            <a:off x="2353462" y="4529260"/>
            <a:ext cx="345048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4" idx="2"/>
            <a:endCxn id="51" idx="0"/>
          </p:cNvCxnSpPr>
          <p:nvPr/>
        </p:nvCxnSpPr>
        <p:spPr>
          <a:xfrm flipH="1">
            <a:off x="3977686" y="3654512"/>
            <a:ext cx="9072" cy="33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51" idx="2"/>
            <a:endCxn id="19" idx="0"/>
          </p:cNvCxnSpPr>
          <p:nvPr/>
        </p:nvCxnSpPr>
        <p:spPr>
          <a:xfrm rot="5400000">
            <a:off x="3810274" y="4523188"/>
            <a:ext cx="332906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94" idx="2"/>
            <a:endCxn id="95" idx="0"/>
          </p:cNvCxnSpPr>
          <p:nvPr/>
        </p:nvCxnSpPr>
        <p:spPr>
          <a:xfrm flipH="1">
            <a:off x="5406446" y="3654512"/>
            <a:ext cx="9072" cy="33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95" idx="2"/>
            <a:endCxn id="93" idx="0"/>
          </p:cNvCxnSpPr>
          <p:nvPr/>
        </p:nvCxnSpPr>
        <p:spPr>
          <a:xfrm rot="5400000">
            <a:off x="5239034" y="4523188"/>
            <a:ext cx="332906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109" idx="2"/>
            <a:endCxn id="110" idx="0"/>
          </p:cNvCxnSpPr>
          <p:nvPr/>
        </p:nvCxnSpPr>
        <p:spPr>
          <a:xfrm flipH="1">
            <a:off x="8170546" y="3725950"/>
            <a:ext cx="9072" cy="33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110" idx="2"/>
            <a:endCxn id="108" idx="0"/>
          </p:cNvCxnSpPr>
          <p:nvPr/>
        </p:nvCxnSpPr>
        <p:spPr>
          <a:xfrm rot="5400000">
            <a:off x="8003134" y="4594626"/>
            <a:ext cx="332906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/>
          <p:nvPr/>
        </p:nvCxnSpPr>
        <p:spPr>
          <a:xfrm>
            <a:off x="7215206" y="2571744"/>
            <a:ext cx="642943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>
            <a:off x="5857884" y="2500306"/>
            <a:ext cx="642943" cy="168449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4" idx="2"/>
            <a:endCxn id="7" idx="0"/>
          </p:cNvCxnSpPr>
          <p:nvPr/>
        </p:nvCxnSpPr>
        <p:spPr>
          <a:xfrm>
            <a:off x="2525027" y="2631040"/>
            <a:ext cx="10990" cy="60764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8" idx="2"/>
            <a:endCxn id="24" idx="0"/>
          </p:cNvCxnSpPr>
          <p:nvPr/>
        </p:nvCxnSpPr>
        <p:spPr>
          <a:xfrm>
            <a:off x="3975768" y="2631040"/>
            <a:ext cx="10990" cy="6308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92" idx="2"/>
            <a:endCxn id="94" idx="0"/>
          </p:cNvCxnSpPr>
          <p:nvPr/>
        </p:nvCxnSpPr>
        <p:spPr>
          <a:xfrm>
            <a:off x="5404528" y="2631040"/>
            <a:ext cx="10990" cy="6308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07" idx="2"/>
            <a:endCxn id="109" idx="0"/>
          </p:cNvCxnSpPr>
          <p:nvPr/>
        </p:nvCxnSpPr>
        <p:spPr>
          <a:xfrm flipH="1">
            <a:off x="8179618" y="2663496"/>
            <a:ext cx="10991" cy="66978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84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8" grpId="0" animBg="1"/>
      <p:bldP spid="19" grpId="0" animBg="1"/>
      <p:bldP spid="24" grpId="0" animBg="1"/>
      <p:bldP spid="29" grpId="0"/>
      <p:bldP spid="51" grpId="0" animBg="1"/>
      <p:bldP spid="80" grpId="0" animBg="1"/>
      <p:bldP spid="86" grpId="0" animBg="1"/>
      <p:bldP spid="92" grpId="0" animBg="1"/>
      <p:bldP spid="93" grpId="0" animBg="1"/>
      <p:bldP spid="94" grpId="0" animBg="1"/>
      <p:bldP spid="95" grpId="0" animBg="1"/>
      <p:bldP spid="107" grpId="0" animBg="1"/>
      <p:bldP spid="108" grpId="0" animBg="1"/>
      <p:bldP spid="109" grpId="0" animBg="1"/>
      <p:bldP spid="110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noProof="0" dirty="0"/>
              <a:t>CBC mode – properties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143240" y="1368987"/>
                <a:ext cx="457203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400" b="1" noProof="0" dirty="0"/>
                  <a:t>Error in block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="1" noProof="0" dirty="0"/>
                  <a:t> affects</a:t>
                </a:r>
                <a:br>
                  <a:rPr lang="en-US" sz="2400" b="1" noProof="0" dirty="0"/>
                </a:br>
                <a:r>
                  <a:rPr lang="en-US" sz="2400" b="1" noProof="0" dirty="0"/>
                  <a:t> only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="1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noProof="0" dirty="0"/>
                  <a:t>.</a:t>
                </a:r>
                <a:br>
                  <a:rPr lang="en-US" sz="2400" noProof="0" dirty="0"/>
                </a:br>
                <a:r>
                  <a:rPr lang="en-US" sz="2400" noProof="0" dirty="0"/>
                  <a:t>So, errors don’t propagate (This mode is</a:t>
                </a:r>
                <a:r>
                  <a:rPr lang="en-US" sz="2400" b="1" noProof="0" dirty="0"/>
                  <a:t> self-synchronizing</a:t>
                </a:r>
                <a:r>
                  <a:rPr lang="en-US" sz="2400" noProof="0" dirty="0"/>
                  <a:t>)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0" y="1368987"/>
                <a:ext cx="4572032" cy="1569660"/>
              </a:xfrm>
              <a:prstGeom prst="rect">
                <a:avLst/>
              </a:prstGeom>
              <a:blipFill>
                <a:blip r:embed="rId3"/>
                <a:stretch>
                  <a:fillRect t="-4032" r="-3601" b="-725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66394" y="1511863"/>
            <a:ext cx="2591094" cy="395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Error propagation?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056" y="3154937"/>
            <a:ext cx="4183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0070C0"/>
                </a:solidFill>
              </a:rPr>
              <a:t>Can encryption be parallelized?</a:t>
            </a:r>
            <a:endParaRPr lang="en-US" sz="2400" noProof="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15140" y="3154937"/>
            <a:ext cx="857240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noProof="0" dirty="0"/>
              <a:t>No</a:t>
            </a:r>
            <a:endParaRPr lang="en-US" sz="2400" b="1" noProof="0" dirty="0">
              <a:solidFill>
                <a:srgbClr val="9933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4314" y="4083631"/>
            <a:ext cx="4572000" cy="395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Can decryption be parallelized?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5172" y="4083631"/>
            <a:ext cx="857224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noProof="0" dirty="0"/>
              <a:t>Yes</a:t>
            </a:r>
            <a:endParaRPr lang="en-US" sz="2400" b="1" noProof="0" dirty="0">
              <a:solidFill>
                <a:srgbClr val="008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282" y="5012325"/>
            <a:ext cx="45720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What if one bit of plaintext is changed?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8992" y="5012325"/>
            <a:ext cx="4286248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noProof="0" dirty="0"/>
              <a:t>Everything needs to be recomputed</a:t>
            </a:r>
            <a:r>
              <a:rPr lang="en-US" sz="2400" noProof="0" dirty="0"/>
              <a:t> </a:t>
            </a:r>
            <a:br>
              <a:rPr lang="en-US" sz="2400" noProof="0" dirty="0"/>
            </a:br>
            <a:r>
              <a:rPr lang="en-US" sz="2400" noProof="0" dirty="0"/>
              <a:t>(not so good e.g. for disc encryption)</a:t>
            </a:r>
            <a:endParaRPr lang="en-US" sz="2400" b="1" noProof="0" dirty="0">
              <a:solidFill>
                <a:srgbClr val="993300"/>
              </a:solidFill>
            </a:endParaRPr>
          </a:p>
        </p:txBody>
      </p:sp>
      <p:pic>
        <p:nvPicPr>
          <p:cNvPr id="2050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29586" y="1654739"/>
            <a:ext cx="1071570" cy="921688"/>
          </a:xfrm>
          <a:prstGeom prst="rect">
            <a:avLst/>
          </a:prstGeom>
          <a:noFill/>
        </p:spPr>
      </p:pic>
      <p:pic>
        <p:nvPicPr>
          <p:cNvPr id="2051" name="Picture 3" descr="C:\Users\Stefan\AppData\Local\Microsoft\Windows\Temporary Internet Files\Content.IE5\VFSGDNK1\MCj0424468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15272" y="2726309"/>
            <a:ext cx="1071570" cy="1008031"/>
          </a:xfrm>
          <a:prstGeom prst="rect">
            <a:avLst/>
          </a:prstGeom>
          <a:noFill/>
        </p:spPr>
      </p:pic>
      <p:pic>
        <p:nvPicPr>
          <p:cNvPr id="19" name="Picture 3" descr="C:\Users\Stefan\AppData\Local\Microsoft\Windows\Temporary Internet Files\Content.IE5\VFSGDNK1\MCj0424468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86710" y="4932988"/>
            <a:ext cx="1071570" cy="1008031"/>
          </a:xfrm>
          <a:prstGeom prst="rect">
            <a:avLst/>
          </a:prstGeom>
          <a:noFill/>
        </p:spPr>
      </p:pic>
      <p:pic>
        <p:nvPicPr>
          <p:cNvPr id="20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29586" y="3804885"/>
            <a:ext cx="1071570" cy="9216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949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357158" y="4631304"/>
            <a:ext cx="3786214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433654" cy="1143000"/>
          </a:xfrm>
        </p:spPr>
        <p:txBody>
          <a:bodyPr/>
          <a:lstStyle/>
          <a:p>
            <a:r>
              <a:rPr lang="en-US" noProof="0" dirty="0"/>
              <a:t>CBC mode is secure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1000108"/>
                <a:ext cx="7783832" cy="500066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noProof="0" dirty="0"/>
                  <a:t>Theorem</a:t>
                </a:r>
                <a:r>
                  <a:rPr lang="en-US" noProof="0" dirty="0"/>
                  <a:t>. If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noProof="0" dirty="0"/>
                  <a:t> is a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PRP</a:t>
                </a:r>
                <a:r>
                  <a:rPr lang="en-US" noProof="0" dirty="0"/>
                  <a:t> then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-CBC</a:t>
                </a:r>
                <a:r>
                  <a:rPr lang="en-US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secure.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1000108"/>
                <a:ext cx="7783832" cy="500066"/>
              </a:xfrm>
              <a:blipFill>
                <a:blip r:embed="rId3"/>
                <a:stretch>
                  <a:fillRect l="-1629" t="-19512" b="-2682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357158" y="1428736"/>
                <a:ext cx="814393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noProof="0" dirty="0">
                    <a:solidFill>
                      <a:srgbClr val="00B050"/>
                    </a:solidFill>
                  </a:rPr>
                  <a:t>[M. Bellare, A. Desai, E. Jokipii and P. </a:t>
                </a:r>
                <a:r>
                  <a:rPr lang="en-US" sz="2400" b="1" noProof="0" dirty="0" err="1">
                    <a:solidFill>
                      <a:srgbClr val="00B050"/>
                    </a:solidFill>
                  </a:rPr>
                  <a:t>Rogaway</a:t>
                </a:r>
                <a:r>
                  <a:rPr lang="en-US" sz="2400" b="1" noProof="0" dirty="0">
                    <a:solidFill>
                      <a:srgbClr val="00B050"/>
                    </a:solidFill>
                  </a:rPr>
                  <a:t> 1997]</a:t>
                </a:r>
              </a:p>
              <a:p>
                <a:endParaRPr lang="en-US" sz="2400" b="1" noProof="0" dirty="0">
                  <a:solidFill>
                    <a:srgbClr val="00B050"/>
                  </a:solidFill>
                </a:endParaRPr>
              </a:p>
              <a:p>
                <a:r>
                  <a:rPr lang="en-US" sz="2400" noProof="0" dirty="0"/>
                  <a:t>In the proof one can assume that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aseline="-25000" noProof="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noProof="0" dirty="0"/>
                  <a:t>is a completely random function.</a:t>
                </a:r>
              </a:p>
              <a:p>
                <a:r>
                  <a:rPr lang="en-US" sz="2400" noProof="0" dirty="0"/>
                  <a:t>(If 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CBC</a:t>
                </a:r>
                <a:r>
                  <a:rPr lang="en-US" sz="24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noProof="0" dirty="0"/>
                  <a:t>behaves differently on a pseudorandom function,  then one could construct a </a:t>
                </a:r>
                <a:r>
                  <a:rPr lang="en-US" sz="2400" noProof="0" dirty="0" err="1"/>
                  <a:t>distiguisher</a:t>
                </a:r>
                <a:r>
                  <a:rPr lang="en-US" sz="2400" noProof="0" dirty="0"/>
                  <a:t>.) </a:t>
                </a:r>
                <a:endParaRPr lang="en-US" sz="2400" b="1" baseline="-25000" noProof="0" dirty="0"/>
              </a:p>
              <a:p>
                <a:r>
                  <a:rPr lang="en-US" noProof="0" dirty="0"/>
                  <a:t> </a:t>
                </a: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428736"/>
                <a:ext cx="8143932" cy="2585323"/>
              </a:xfrm>
              <a:prstGeom prst="rect">
                <a:avLst/>
              </a:prstGeom>
              <a:blipFill>
                <a:blip r:embed="rId4"/>
                <a:stretch>
                  <a:fillRect l="-1246" t="-1961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2928926" y="5059932"/>
                <a:ext cx="928694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926" y="5059932"/>
                <a:ext cx="9286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/>
              <p:cNvSpPr txBox="1"/>
              <p:nvPr/>
            </p:nvSpPr>
            <p:spPr>
              <a:xfrm>
                <a:off x="642910" y="5059932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10" y="5059932"/>
                <a:ext cx="9286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/>
          <p:cNvSpPr txBox="1"/>
          <p:nvPr/>
        </p:nvSpPr>
        <p:spPr>
          <a:xfrm>
            <a:off x="1928794" y="4917056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7158" y="6201581"/>
            <a:ext cx="378621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ciphertext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7158" y="3844127"/>
            <a:ext cx="378621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plaintext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2071670" y="4274114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7" name="Down Arrow 86"/>
          <p:cNvSpPr/>
          <p:nvPr/>
        </p:nvSpPr>
        <p:spPr>
          <a:xfrm>
            <a:off x="2071670" y="5845750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8" name="Rectangle 87"/>
          <p:cNvSpPr/>
          <p:nvPr/>
        </p:nvSpPr>
        <p:spPr>
          <a:xfrm>
            <a:off x="5072066" y="4632663"/>
            <a:ext cx="3786214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TextBox 89"/>
          <p:cNvSpPr txBox="1"/>
          <p:nvPr/>
        </p:nvSpPr>
        <p:spPr>
          <a:xfrm>
            <a:off x="5357818" y="5061291"/>
            <a:ext cx="928694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solidFill>
                  <a:srgbClr val="FF0000"/>
                </a:solidFill>
              </a:rPr>
              <a:t>random</a:t>
            </a:r>
            <a:endParaRPr lang="en-US" sz="1600" baseline="-25000" noProof="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43702" y="4918415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72066" y="6202940"/>
            <a:ext cx="378621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ciphertext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72066" y="3845486"/>
            <a:ext cx="378621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plaintext</a:t>
            </a:r>
          </a:p>
        </p:txBody>
      </p:sp>
      <p:sp>
        <p:nvSpPr>
          <p:cNvPr id="94" name="Down Arrow 93"/>
          <p:cNvSpPr/>
          <p:nvPr/>
        </p:nvSpPr>
        <p:spPr>
          <a:xfrm>
            <a:off x="6786578" y="4275473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5" name="Down Arrow 94"/>
          <p:cNvSpPr/>
          <p:nvPr/>
        </p:nvSpPr>
        <p:spPr>
          <a:xfrm>
            <a:off x="6786578" y="5847109"/>
            <a:ext cx="334078" cy="35719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6" name="TextBox 95"/>
          <p:cNvSpPr txBox="1"/>
          <p:nvPr/>
        </p:nvSpPr>
        <p:spPr>
          <a:xfrm>
            <a:off x="7715272" y="5059932"/>
            <a:ext cx="928694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solidFill>
                  <a:srgbClr val="FF0000"/>
                </a:solidFill>
              </a:rPr>
              <a:t>random</a:t>
            </a:r>
            <a:endParaRPr lang="en-US" sz="1600" baseline="-25000" noProof="0" dirty="0">
              <a:solidFill>
                <a:srgbClr val="FF0000"/>
              </a:solidFill>
            </a:endParaRPr>
          </a:p>
        </p:txBody>
      </p:sp>
      <p:sp>
        <p:nvSpPr>
          <p:cNvPr id="97" name="Right Arrow 96"/>
          <p:cNvSpPr/>
          <p:nvPr/>
        </p:nvSpPr>
        <p:spPr>
          <a:xfrm>
            <a:off x="4357686" y="4488428"/>
            <a:ext cx="571504" cy="16430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8" name="TextBox 97"/>
          <p:cNvSpPr txBox="1"/>
          <p:nvPr/>
        </p:nvSpPr>
        <p:spPr>
          <a:xfrm>
            <a:off x="285720" y="4500570"/>
            <a:ext cx="70243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noProof="0" dirty="0"/>
              <a:t>CBC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00628" y="4500570"/>
            <a:ext cx="70243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noProof="0" dirty="0"/>
              <a:t>CBC</a:t>
            </a:r>
          </a:p>
        </p:txBody>
      </p:sp>
    </p:spTree>
    <p:extLst>
      <p:ext uri="{BB962C8B-B14F-4D97-AF65-F5344CB8AC3E}">
        <p14:creationId xmlns:p14="http://schemas.microsoft.com/office/powerpoint/2010/main" val="13739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71" grpId="0" animBg="1"/>
      <p:bldP spid="82" grpId="0" animBg="1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44" y="142852"/>
            <a:ext cx="8643998" cy="1500198"/>
          </a:xfrm>
        </p:spPr>
        <p:txBody>
          <a:bodyPr>
            <a:noAutofit/>
          </a:bodyPr>
          <a:lstStyle/>
          <a:p>
            <a:r>
              <a:rPr lang="en-US" sz="3200" noProof="0" dirty="0"/>
              <a:t>How to convert a pseudorandom </a:t>
            </a:r>
            <a:r>
              <a:rPr lang="en-US" sz="3200" b="1" noProof="0" dirty="0">
                <a:solidFill>
                  <a:srgbClr val="002060"/>
                </a:solidFill>
              </a:rPr>
              <a:t>permutation</a:t>
            </a:r>
            <a:r>
              <a:rPr lang="en-US" sz="3200" noProof="0" dirty="0"/>
              <a:t> into a pseudorandom </a:t>
            </a:r>
            <a:r>
              <a:rPr lang="en-US" sz="3200" b="1" noProof="0" dirty="0">
                <a:solidFill>
                  <a:srgbClr val="002060"/>
                </a:solidFill>
              </a:rPr>
              <a:t>generator</a:t>
            </a:r>
            <a:r>
              <a:rPr lang="en-US" sz="3200" noProof="0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571736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6" y="3078304"/>
                <a:ext cx="928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2549755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0000001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own Arrow 17"/>
              <p:cNvSpPr/>
              <p:nvPr/>
            </p:nvSpPr>
            <p:spPr>
              <a:xfrm>
                <a:off x="3764201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>
                      <m:r>
                        <a:rPr lang="en-US" sz="1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𝟎𝟎𝟎𝟎𝟎𝟎𝟐</m:t>
                      </m:r>
                    </m:oMath>
                  </m:oMathPara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18" name="Down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01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286644" y="2935428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  <p:sp>
        <p:nvSpPr>
          <p:cNvPr id="32" name="Left Brace 31"/>
          <p:cNvSpPr/>
          <p:nvPr/>
        </p:nvSpPr>
        <p:spPr>
          <a:xfrm rot="16200000">
            <a:off x="5357834" y="1363776"/>
            <a:ext cx="428596" cy="6286544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4500562" y="4733520"/>
            <a:ext cx="2206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a pseudorandom stream</a:t>
            </a:r>
          </a:p>
        </p:txBody>
      </p:sp>
      <p:cxnSp>
        <p:nvCxnSpPr>
          <p:cNvPr id="62" name="Straight Arrow Connector 61"/>
          <p:cNvCxnSpPr>
            <a:stCxn id="18" idx="2"/>
          </p:cNvCxnSpPr>
          <p:nvPr/>
        </p:nvCxnSpPr>
        <p:spPr>
          <a:xfrm rot="16200000" flipH="1">
            <a:off x="4061903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14" idx="2"/>
          </p:cNvCxnSpPr>
          <p:nvPr/>
        </p:nvCxnSpPr>
        <p:spPr>
          <a:xfrm rot="16200000" flipH="1">
            <a:off x="2847456" y="2886608"/>
            <a:ext cx="357190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Down Arrow 91"/>
              <p:cNvSpPr/>
              <p:nvPr/>
            </p:nvSpPr>
            <p:spPr>
              <a:xfrm>
                <a:off x="4929190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>
                      <m:r>
                        <a:rPr lang="en-US" sz="1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𝟎𝟎𝟎𝟎𝟎𝟎𝟑</m:t>
                      </m:r>
                    </m:oMath>
                  </m:oMathPara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92" name="Down Arrow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2208906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/>
          <p:cNvCxnSpPr>
            <a:stCxn id="92" idx="2"/>
          </p:cNvCxnSpPr>
          <p:nvPr/>
        </p:nvCxnSpPr>
        <p:spPr>
          <a:xfrm rot="16200000" flipH="1">
            <a:off x="5226892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Down Arrow 41"/>
              <p:cNvSpPr/>
              <p:nvPr/>
            </p:nvSpPr>
            <p:spPr>
              <a:xfrm>
                <a:off x="6072198" y="222104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>
                      <m:r>
                        <a:rPr lang="en-US" sz="1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𝟎𝟎𝟎𝟎𝟎𝟎𝟒</m:t>
                      </m:r>
                    </m:oMath>
                  </m:oMathPara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42" name="Down Arrow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2221048"/>
                <a:ext cx="950675" cy="500066"/>
              </a:xfrm>
              <a:prstGeom prst="downArrow">
                <a:avLst>
                  <a:gd name="adj1" fmla="val 100000"/>
                  <a:gd name="adj2" fmla="val 28498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/>
          <p:cNvCxnSpPr>
            <a:stCxn id="42" idx="2"/>
          </p:cNvCxnSpPr>
          <p:nvPr/>
        </p:nvCxnSpPr>
        <p:spPr>
          <a:xfrm rot="16200000" flipH="1">
            <a:off x="6369900" y="2898750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Up Arrow 44"/>
              <p:cNvSpPr/>
              <p:nvPr/>
            </p:nvSpPr>
            <p:spPr>
              <a:xfrm>
                <a:off x="2571737" y="3792684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𝟏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45" name="Up Arrow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7" y="3792684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>
            <a:stCxn id="7" idx="2"/>
            <a:endCxn id="45" idx="0"/>
          </p:cNvCxnSpPr>
          <p:nvPr/>
        </p:nvCxnSpPr>
        <p:spPr>
          <a:xfrm rot="16200000" flipH="1">
            <a:off x="2863559" y="3620159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Up Arrow 49"/>
              <p:cNvSpPr/>
              <p:nvPr/>
            </p:nvSpPr>
            <p:spPr>
              <a:xfrm>
                <a:off x="3786182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𝟐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50" name="Up Arrow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182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>
            <a:endCxn id="50" idx="0"/>
          </p:cNvCxnSpPr>
          <p:nvPr/>
        </p:nvCxnSpPr>
        <p:spPr>
          <a:xfrm rot="16200000" flipH="1">
            <a:off x="4078004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Up Arrow 52"/>
              <p:cNvSpPr/>
              <p:nvPr/>
            </p:nvSpPr>
            <p:spPr>
              <a:xfrm>
                <a:off x="4929190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𝟑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53" name="Up Arrow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endCxn id="53" idx="0"/>
          </p:cNvCxnSpPr>
          <p:nvPr/>
        </p:nvCxnSpPr>
        <p:spPr>
          <a:xfrm rot="16200000" flipH="1">
            <a:off x="5221012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Up Arrow 54"/>
              <p:cNvSpPr/>
              <p:nvPr/>
            </p:nvSpPr>
            <p:spPr>
              <a:xfrm>
                <a:off x="6072198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400" b="1" noProof="0" dirty="0">
                    <a:ea typeface="ＭＳ Ｐゴシック" pitchFamily="16" charset="-128"/>
                  </a:rPr>
                  <a:t>block </a:t>
                </a:r>
                <a14:m>
                  <m:oMath xmlns:m="http://schemas.openxmlformats.org/officeDocument/2006/math">
                    <m:r>
                      <a:rPr lang="en-US" sz="1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16" charset="-128"/>
                      </a:rPr>
                      <m:t>𝟒</m:t>
                    </m:r>
                  </m:oMath>
                </a14:m>
                <a:endParaRPr lang="en-US" sz="1400" b="1" noProof="0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>
          <p:sp>
            <p:nvSpPr>
              <p:cNvPr id="55" name="Up Arrow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780543"/>
                <a:ext cx="928694" cy="500066"/>
              </a:xfrm>
              <a:prstGeom prst="upArrow">
                <a:avLst>
                  <a:gd name="adj1" fmla="val 100000"/>
                  <a:gd name="adj2" fmla="val 50000"/>
                </a:avLst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endCxn id="55" idx="0"/>
          </p:cNvCxnSpPr>
          <p:nvPr/>
        </p:nvCxnSpPr>
        <p:spPr>
          <a:xfrm rot="16200000" flipH="1">
            <a:off x="6364020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ight Arrow 57"/>
              <p:cNvSpPr/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" name="Right Arrow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ular Callout 58"/>
          <p:cNvSpPr/>
          <p:nvPr/>
        </p:nvSpPr>
        <p:spPr>
          <a:xfrm>
            <a:off x="642910" y="2363924"/>
            <a:ext cx="1000132" cy="428628"/>
          </a:xfrm>
          <a:prstGeom prst="wedgeRectCallout">
            <a:avLst>
              <a:gd name="adj1" fmla="val 57627"/>
              <a:gd name="adj2" fmla="val 132385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a seed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472" y="6143644"/>
            <a:ext cx="7302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Essentially, this is called a “</a:t>
            </a:r>
            <a:r>
              <a:rPr lang="en-US" sz="2800" b="1" noProof="0" dirty="0"/>
              <a:t>counter mode</a:t>
            </a:r>
            <a:r>
              <a:rPr lang="en-US" sz="2800" noProof="0" dirty="0"/>
              <a:t>” (</a:t>
            </a:r>
            <a:r>
              <a:rPr lang="en-US" sz="2800" b="1" noProof="0" dirty="0"/>
              <a:t>CTR</a:t>
            </a:r>
            <a:r>
              <a:rPr lang="en-US" sz="2800" noProof="0" dirty="0"/>
              <a:t>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571472" y="5500702"/>
                <a:ext cx="4214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···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5500702"/>
                <a:ext cx="4214842" cy="400110"/>
              </a:xfrm>
              <a:prstGeom prst="rect">
                <a:avLst/>
              </a:prstGeom>
              <a:blipFill>
                <a:blip r:embed="rId1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6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8" grpId="0" animBg="1"/>
      <p:bldP spid="24" grpId="0" animBg="1"/>
      <p:bldP spid="29" grpId="0"/>
      <p:bldP spid="32" grpId="0" animBg="1"/>
      <p:bldP spid="33" grpId="0"/>
      <p:bldP spid="92" grpId="0" animBg="1"/>
      <p:bldP spid="94" grpId="0" animBg="1"/>
      <p:bldP spid="42" grpId="0" animBg="1"/>
      <p:bldP spid="43" grpId="0" animBg="1"/>
      <p:bldP spid="45" grpId="0" animBg="1"/>
      <p:bldP spid="50" grpId="0" animBg="1"/>
      <p:bldP spid="53" grpId="0" animBg="1"/>
      <p:bldP spid="55" grpId="0" animBg="1"/>
      <p:bldP spid="58" grpId="0" animBg="1"/>
      <p:bldP spid="59" grpId="0" animBg="1"/>
      <p:bldP spid="61" grpId="0"/>
      <p:bldP spid="3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177" y="317537"/>
            <a:ext cx="7886700" cy="718561"/>
          </a:xfrm>
        </p:spPr>
        <p:txBody>
          <a:bodyPr/>
          <a:lstStyle/>
          <a:p>
            <a:r>
              <a:rPr lang="en-US" noProof="0" dirty="0"/>
              <a:t>How to “randomize” this?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643173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3" y="3078304"/>
                <a:ext cx="928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/>
          <p:cNvSpPr/>
          <p:nvPr/>
        </p:nvSpPr>
        <p:spPr>
          <a:xfrm>
            <a:off x="2621192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IV+1 </a:t>
            </a:r>
          </a:p>
        </p:txBody>
      </p:sp>
      <p:sp>
        <p:nvSpPr>
          <p:cNvPr id="6" name="Down Arrow 5"/>
          <p:cNvSpPr/>
          <p:nvPr/>
        </p:nvSpPr>
        <p:spPr>
          <a:xfrm>
            <a:off x="3764201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IV+2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01" y="3066162"/>
                <a:ext cx="9286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286644" y="2935428"/>
            <a:ext cx="60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. . .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5357834" y="1363776"/>
            <a:ext cx="428596" cy="6286544"/>
          </a:xfrm>
          <a:prstGeom prst="leftBrace">
            <a:avLst>
              <a:gd name="adj1" fmla="val 4756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00562" y="4733520"/>
            <a:ext cx="2206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a pseudorandom stream</a:t>
            </a:r>
          </a:p>
        </p:txBody>
      </p:sp>
      <p:cxnSp>
        <p:nvCxnSpPr>
          <p:cNvPr id="11" name="Straight Arrow Connector 10"/>
          <p:cNvCxnSpPr>
            <a:stCxn id="6" idx="2"/>
          </p:cNvCxnSpPr>
          <p:nvPr/>
        </p:nvCxnSpPr>
        <p:spPr>
          <a:xfrm rot="16200000" flipH="1">
            <a:off x="4061903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2"/>
          </p:cNvCxnSpPr>
          <p:nvPr/>
        </p:nvCxnSpPr>
        <p:spPr>
          <a:xfrm rot="16200000" flipH="1">
            <a:off x="2918893" y="2886608"/>
            <a:ext cx="357190" cy="19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wn Arrow 12"/>
          <p:cNvSpPr/>
          <p:nvPr/>
        </p:nvSpPr>
        <p:spPr>
          <a:xfrm>
            <a:off x="4929190" y="2208906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IV+3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3078304"/>
                <a:ext cx="928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13" idx="2"/>
          </p:cNvCxnSpPr>
          <p:nvPr/>
        </p:nvCxnSpPr>
        <p:spPr>
          <a:xfrm rot="16200000" flipH="1">
            <a:off x="5226892" y="2886608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own Arrow 15"/>
          <p:cNvSpPr/>
          <p:nvPr/>
        </p:nvSpPr>
        <p:spPr>
          <a:xfrm>
            <a:off x="6072198" y="2221048"/>
            <a:ext cx="950675" cy="500066"/>
          </a:xfrm>
          <a:prstGeom prst="downArrow">
            <a:avLst>
              <a:gd name="adj1" fmla="val 100000"/>
              <a:gd name="adj2" fmla="val 284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IV+4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090446"/>
                <a:ext cx="9286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6" idx="2"/>
          </p:cNvCxnSpPr>
          <p:nvPr/>
        </p:nvCxnSpPr>
        <p:spPr>
          <a:xfrm rot="16200000" flipH="1">
            <a:off x="6369900" y="2898750"/>
            <a:ext cx="357190" cy="1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Up Arrow 18"/>
          <p:cNvSpPr/>
          <p:nvPr/>
        </p:nvSpPr>
        <p:spPr>
          <a:xfrm>
            <a:off x="2643174" y="3792684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1</a:t>
            </a:r>
          </a:p>
        </p:txBody>
      </p:sp>
      <p:cxnSp>
        <p:nvCxnSpPr>
          <p:cNvPr id="20" name="Straight Arrow Connector 19"/>
          <p:cNvCxnSpPr>
            <a:stCxn id="4" idx="2"/>
            <a:endCxn id="19" idx="0"/>
          </p:cNvCxnSpPr>
          <p:nvPr/>
        </p:nvCxnSpPr>
        <p:spPr>
          <a:xfrm rot="16200000" flipH="1">
            <a:off x="2934996" y="3620159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Up Arrow 20"/>
          <p:cNvSpPr/>
          <p:nvPr/>
        </p:nvSpPr>
        <p:spPr>
          <a:xfrm>
            <a:off x="3786182" y="3780543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2</a:t>
            </a:r>
          </a:p>
        </p:txBody>
      </p:sp>
      <p:cxnSp>
        <p:nvCxnSpPr>
          <p:cNvPr id="22" name="Straight Arrow Connector 21"/>
          <p:cNvCxnSpPr>
            <a:endCxn id="21" idx="0"/>
          </p:cNvCxnSpPr>
          <p:nvPr/>
        </p:nvCxnSpPr>
        <p:spPr>
          <a:xfrm rot="16200000" flipH="1">
            <a:off x="4078004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Up Arrow 22"/>
          <p:cNvSpPr/>
          <p:nvPr/>
        </p:nvSpPr>
        <p:spPr>
          <a:xfrm>
            <a:off x="4929190" y="3780543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3</a:t>
            </a:r>
          </a:p>
        </p:txBody>
      </p:sp>
      <p:cxnSp>
        <p:nvCxnSpPr>
          <p:cNvPr id="24" name="Straight Arrow Connector 23"/>
          <p:cNvCxnSpPr>
            <a:endCxn id="23" idx="0"/>
          </p:cNvCxnSpPr>
          <p:nvPr/>
        </p:nvCxnSpPr>
        <p:spPr>
          <a:xfrm rot="16200000" flipH="1">
            <a:off x="5221012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Up Arrow 24"/>
          <p:cNvSpPr/>
          <p:nvPr/>
        </p:nvSpPr>
        <p:spPr>
          <a:xfrm>
            <a:off x="6072198" y="3780543"/>
            <a:ext cx="928694" cy="500066"/>
          </a:xfrm>
          <a:prstGeom prst="upArrow">
            <a:avLst>
              <a:gd name="adj1" fmla="val 100000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hangingPunct="0"/>
            <a:r>
              <a:rPr lang="en-US" sz="1400" b="1" noProof="0" dirty="0">
                <a:ea typeface="ＭＳ Ｐゴシック" pitchFamily="16" charset="-128"/>
              </a:rPr>
              <a:t>block </a:t>
            </a:r>
            <a:r>
              <a:rPr lang="en-US" sz="1400" b="1" noProof="0" dirty="0">
                <a:solidFill>
                  <a:srgbClr val="FF0000"/>
                </a:solidFill>
                <a:ea typeface="ＭＳ Ｐゴシック" pitchFamily="16" charset="-128"/>
              </a:rPr>
              <a:t>4</a:t>
            </a:r>
          </a:p>
        </p:txBody>
      </p:sp>
      <p:cxnSp>
        <p:nvCxnSpPr>
          <p:cNvPr id="26" name="Straight Arrow Connector 25"/>
          <p:cNvCxnSpPr>
            <a:endCxn id="25" idx="0"/>
          </p:cNvCxnSpPr>
          <p:nvPr/>
        </p:nvCxnSpPr>
        <p:spPr>
          <a:xfrm rot="16200000" flipH="1">
            <a:off x="6364020" y="3608018"/>
            <a:ext cx="34504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ight Arrow 26"/>
              <p:cNvSpPr/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" name="Right Arrow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2935428"/>
                <a:ext cx="857256" cy="642942"/>
              </a:xfrm>
              <a:prstGeom prst="righ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ular Callout 27"/>
          <p:cNvSpPr/>
          <p:nvPr/>
        </p:nvSpPr>
        <p:spPr>
          <a:xfrm>
            <a:off x="642910" y="2363924"/>
            <a:ext cx="1000132" cy="428628"/>
          </a:xfrm>
          <a:prstGeom prst="wedgeRectCallout">
            <a:avLst>
              <a:gd name="adj1" fmla="val 57627"/>
              <a:gd name="adj2" fmla="val 132385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a seed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158" y="1428736"/>
            <a:ext cx="251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take some random </a:t>
            </a:r>
            <a:r>
              <a:rPr lang="en-US" sz="2000" b="1" noProof="0" dirty="0">
                <a:solidFill>
                  <a:srgbClr val="FF0000"/>
                </a:solidFill>
              </a:rPr>
              <a:t>IV</a:t>
            </a:r>
            <a:endParaRPr lang="en-US" sz="2000" noProof="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5643578"/>
            <a:ext cx="71179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noProof="0" dirty="0"/>
              <a:t>Note:</a:t>
            </a:r>
          </a:p>
          <a:p>
            <a:r>
              <a:rPr lang="en-US" sz="2000" noProof="0" dirty="0"/>
              <a:t>We have to be sure that </a:t>
            </a:r>
            <a:r>
              <a:rPr lang="en-US" sz="2000" b="1" noProof="0" dirty="0">
                <a:solidFill>
                  <a:srgbClr val="FF0000"/>
                </a:solidFill>
              </a:rPr>
              <a:t>IV + </a:t>
            </a:r>
            <a:r>
              <a:rPr lang="en-US" sz="2000" b="1" i="1" noProof="0" dirty="0" err="1">
                <a:solidFill>
                  <a:srgbClr val="FF0000"/>
                </a:solidFill>
              </a:rPr>
              <a:t>i</a:t>
            </a:r>
            <a:r>
              <a:rPr lang="en-US" sz="2000" b="1" i="1" noProof="0" dirty="0">
                <a:solidFill>
                  <a:srgbClr val="FF0000"/>
                </a:solidFill>
              </a:rPr>
              <a:t> </a:t>
            </a:r>
            <a:r>
              <a:rPr lang="en-US" sz="2000" noProof="0" dirty="0"/>
              <a:t>never repeats.</a:t>
            </a:r>
            <a:br>
              <a:rPr lang="en-US" sz="2000" noProof="0" dirty="0"/>
            </a:br>
            <a:r>
              <a:rPr lang="en-US" sz="2000" noProof="0" dirty="0"/>
              <a:t>This is why it is bad if the block length is too small (like in </a:t>
            </a:r>
            <a:r>
              <a:rPr lang="en-US" sz="2000" b="1" noProof="0" dirty="0">
                <a:solidFill>
                  <a:srgbClr val="0070C0"/>
                </a:solidFill>
              </a:rPr>
              <a:t>DES</a:t>
            </a:r>
            <a:r>
              <a:rPr lang="en-US" sz="2000" noProof="0" dirty="0"/>
              <a:t>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00034" y="5143512"/>
                <a:ext cx="67866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···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4" y="5143512"/>
                <a:ext cx="6786610" cy="400110"/>
              </a:xfrm>
              <a:prstGeom prst="rect">
                <a:avLst/>
              </a:prstGeom>
              <a:blipFill>
                <a:blip r:embed="rId7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26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/>
      <p:bldP spid="13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8" grpId="0" animBg="1"/>
      <p:bldP spid="3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noProof="0" dirty="0"/>
              <a:t>CTR mode – properties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2786050" y="1357298"/>
                <a:ext cx="521497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400" b="1" noProof="0" dirty="0"/>
                  <a:t>Error in block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b="1" noProof="0" dirty="0"/>
                  <a:t> affects only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noProof="0" dirty="0"/>
                  <a:t>.</a:t>
                </a:r>
                <a:br>
                  <a:rPr lang="en-US" sz="2400" noProof="0" dirty="0"/>
                </a:br>
                <a:br>
                  <a:rPr lang="en-US" sz="2400" noProof="0" dirty="0"/>
                </a:br>
                <a:r>
                  <a:rPr lang="en-US" sz="2400" noProof="0" dirty="0"/>
                  <a:t>(But this mode is </a:t>
                </a:r>
                <a:r>
                  <a:rPr lang="en-US" sz="2400" b="1" u="sng" noProof="0" dirty="0">
                    <a:solidFill>
                      <a:srgbClr val="FF0000"/>
                    </a:solidFill>
                  </a:rPr>
                  <a:t>not</a:t>
                </a:r>
                <a:r>
                  <a:rPr lang="en-US" sz="24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noProof="0" dirty="0"/>
                  <a:t>self-synchronizing</a:t>
                </a:r>
                <a:r>
                  <a:rPr lang="en-US" sz="2400" noProof="0" dirty="0"/>
                  <a:t>)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050" y="1357298"/>
                <a:ext cx="5214974" cy="1569660"/>
              </a:xfrm>
              <a:prstGeom prst="rect">
                <a:avLst/>
              </a:prstGeom>
              <a:blipFill>
                <a:blip r:embed="rId3"/>
                <a:stretch>
                  <a:fillRect t="-3226" r="-1699" b="-806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66394" y="1511863"/>
            <a:ext cx="2591094" cy="395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Error propagation?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056" y="3226375"/>
            <a:ext cx="4183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noProof="0" dirty="0">
                <a:solidFill>
                  <a:srgbClr val="0070C0"/>
                </a:solidFill>
              </a:rPr>
              <a:t>Can encryption be parallelized?</a:t>
            </a:r>
            <a:endParaRPr lang="en-US" sz="2400" noProof="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15140" y="3226375"/>
            <a:ext cx="857240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noProof="0" dirty="0"/>
              <a:t>Yes</a:t>
            </a:r>
            <a:endParaRPr lang="en-US" sz="2400" b="1" noProof="0" dirty="0">
              <a:solidFill>
                <a:srgbClr val="9933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4314" y="4155069"/>
            <a:ext cx="4572000" cy="395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Can decryption be parallelized?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5172" y="4155069"/>
            <a:ext cx="857224" cy="39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noProof="0" dirty="0"/>
              <a:t>Yes</a:t>
            </a:r>
            <a:endParaRPr lang="en-US" sz="2400" b="1" noProof="0" dirty="0">
              <a:solidFill>
                <a:srgbClr val="008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282" y="5083763"/>
            <a:ext cx="3615114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0" dirty="0">
                <a:solidFill>
                  <a:srgbClr val="0070C0"/>
                </a:solidFill>
              </a:rPr>
              <a:t>What if one bit of plaintext is changed?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71868" y="5095816"/>
            <a:ext cx="4286248" cy="690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buFontTx/>
              <a:buNone/>
            </a:pPr>
            <a:r>
              <a:rPr lang="en-US" sz="2400" b="1" noProof="0" dirty="0"/>
              <a:t>Only one block needs to be recomputed</a:t>
            </a:r>
            <a:endParaRPr lang="en-US" sz="2400" b="1" noProof="0" dirty="0">
              <a:solidFill>
                <a:srgbClr val="993300"/>
              </a:solidFill>
            </a:endParaRPr>
          </a:p>
        </p:txBody>
      </p:sp>
      <p:pic>
        <p:nvPicPr>
          <p:cNvPr id="20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24" y="3936072"/>
            <a:ext cx="1071570" cy="921688"/>
          </a:xfrm>
          <a:prstGeom prst="rect">
            <a:avLst/>
          </a:prstGeom>
          <a:noFill/>
        </p:spPr>
      </p:pic>
      <p:pic>
        <p:nvPicPr>
          <p:cNvPr id="17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24" y="3000372"/>
            <a:ext cx="1071570" cy="921688"/>
          </a:xfrm>
          <a:prstGeom prst="rect">
            <a:avLst/>
          </a:prstGeom>
          <a:noFill/>
        </p:spPr>
      </p:pic>
      <p:pic>
        <p:nvPicPr>
          <p:cNvPr id="18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24" y="5000636"/>
            <a:ext cx="1071570" cy="921688"/>
          </a:xfrm>
          <a:prstGeom prst="rect">
            <a:avLst/>
          </a:prstGeom>
          <a:noFill/>
        </p:spPr>
      </p:pic>
      <p:pic>
        <p:nvPicPr>
          <p:cNvPr id="21" name="Picture 2" descr="C:\Users\Stefan\AppData\Local\Microsoft\Windows\Temporary Internet Files\Content.IE5\QXSOLK21\MCj0424466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72430" y="1071546"/>
            <a:ext cx="1071570" cy="921688"/>
          </a:xfrm>
          <a:prstGeom prst="rect">
            <a:avLst/>
          </a:prstGeom>
          <a:noFill/>
        </p:spPr>
      </p:pic>
      <p:pic>
        <p:nvPicPr>
          <p:cNvPr id="22" name="Picture 3" descr="C:\Users\Stefan\AppData\Local\Microsoft\Windows\Temporary Internet Files\Content.IE5\VFSGDNK1\MCj0424468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8148" y="2000240"/>
            <a:ext cx="1071570" cy="10080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262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>
            <a:normAutofit/>
          </a:bodyPr>
          <a:lstStyle/>
          <a:p>
            <a:r>
              <a:rPr lang="en-US" noProof="0" dirty="0"/>
              <a:t>One more member of </a:t>
            </a:r>
            <a:r>
              <a:rPr lang="en-US" noProof="0" dirty="0" err="1"/>
              <a:t>minicrypt</a:t>
            </a:r>
            <a:r>
              <a:rPr lang="en-US" noProof="0" dirty="0"/>
              <a:t>!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142976" y="5357826"/>
            <a:ext cx="3429024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 rot="5400000">
            <a:off x="2489582" y="2939650"/>
            <a:ext cx="907259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214414" y="1714488"/>
            <a:ext cx="3429024" cy="92333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pseudorandom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functions/permutations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142976" y="3643314"/>
            <a:ext cx="3429024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noProof="0" dirty="0"/>
              <a:t>secure encryption </a:t>
            </a:r>
          </a:p>
          <a:p>
            <a:pPr marL="609600" indent="-609600" algn="ctr">
              <a:buFontTx/>
              <a:buNone/>
            </a:pPr>
            <a:r>
              <a:rPr lang="en-US" noProof="0" dirty="0"/>
              <a:t>exist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rot="5400000">
            <a:off x="2484821" y="4587485"/>
            <a:ext cx="916782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9" name="Circular Arrow 8"/>
          <p:cNvSpPr/>
          <p:nvPr/>
        </p:nvSpPr>
        <p:spPr>
          <a:xfrm rot="16200000" flipV="1">
            <a:off x="2464579" y="1964521"/>
            <a:ext cx="4429156" cy="3929089"/>
          </a:xfrm>
          <a:prstGeom prst="circularArrow">
            <a:avLst>
              <a:gd name="adj1" fmla="val 7824"/>
              <a:gd name="adj2" fmla="val 1142319"/>
              <a:gd name="adj3" fmla="val 20415788"/>
              <a:gd name="adj4" fmla="val 10800000"/>
              <a:gd name="adj5" fmla="val 10419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5720" y="2857496"/>
            <a:ext cx="2214578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using “modes of operation”</a:t>
            </a:r>
          </a:p>
        </p:txBody>
      </p:sp>
      <p:sp>
        <p:nvSpPr>
          <p:cNvPr id="11" name="Pentagon 10"/>
          <p:cNvSpPr/>
          <p:nvPr/>
        </p:nvSpPr>
        <p:spPr>
          <a:xfrm>
            <a:off x="285720" y="4500570"/>
            <a:ext cx="2214578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we already knew</a:t>
            </a:r>
          </a:p>
        </p:txBody>
      </p:sp>
      <p:sp>
        <p:nvSpPr>
          <p:cNvPr id="12" name="Pentagon 11"/>
          <p:cNvSpPr/>
          <p:nvPr/>
        </p:nvSpPr>
        <p:spPr>
          <a:xfrm flipH="1">
            <a:off x="6572264" y="3500438"/>
            <a:ext cx="2035951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can also be proven</a:t>
            </a:r>
          </a:p>
        </p:txBody>
      </p:sp>
    </p:spTree>
    <p:extLst>
      <p:ext uri="{BB962C8B-B14F-4D97-AF65-F5344CB8AC3E}">
        <p14:creationId xmlns:p14="http://schemas.microsoft.com/office/powerpoint/2010/main" val="3988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447800"/>
            <a:ext cx="2438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191221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sz="4000" noProof="0" dirty="0"/>
              <a:t>There are many constructions of block ciphers that are </a:t>
            </a:r>
            <a:r>
              <a:rPr lang="en-US" sz="4000" b="1" noProof="0" dirty="0"/>
              <a:t>believed</a:t>
            </a:r>
            <a:r>
              <a:rPr lang="en-US" sz="4000" noProof="0" dirty="0"/>
              <a:t> to be secure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25963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noProof="0" dirty="0"/>
              <a:t>Why do we believe it?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 marL="609600" indent="-609600">
              <a:lnSpc>
                <a:spcPct val="90000"/>
              </a:lnSpc>
            </a:pPr>
            <a:r>
              <a:rPr lang="en-US" noProof="0" dirty="0"/>
              <a:t>Someone important say “it is secure”.</a:t>
            </a:r>
          </a:p>
          <a:p>
            <a:pPr marL="609600" indent="-609600" algn="r">
              <a:lnSpc>
                <a:spcPct val="90000"/>
              </a:lnSpc>
              <a:buFontTx/>
              <a:buNone/>
            </a:pPr>
            <a:r>
              <a:rPr lang="en-US" noProof="0" dirty="0"/>
              <a:t>(But is he honest?)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noProof="0" dirty="0"/>
          </a:p>
          <a:p>
            <a:pPr marL="609600" indent="-609600">
              <a:lnSpc>
                <a:spcPct val="90000"/>
              </a:lnSpc>
            </a:pPr>
            <a:r>
              <a:rPr lang="en-US" noProof="0" dirty="0"/>
              <a:t>Many people tried to break it and they failed...</a:t>
            </a: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1752600"/>
            <a:ext cx="106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3295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71727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noProof="0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Popular construction paradigms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1196362" y="5229726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266116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Block ciphers – typical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5733256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rgbClr val="0070C0"/>
                </a:solidFill>
              </a:rPr>
              <a:t>security</a:t>
            </a:r>
            <a:r>
              <a:rPr lang="en-US" noProof="0" dirty="0"/>
              <a:t>: ideally the best attack should be the </a:t>
            </a:r>
            <a:r>
              <a:rPr lang="en-US" b="1" noProof="0" dirty="0">
                <a:solidFill>
                  <a:srgbClr val="00B050"/>
                </a:solidFill>
              </a:rPr>
              <a:t>brute force key search</a:t>
            </a:r>
            <a:r>
              <a:rPr lang="en-US" noProof="0" dirty="0"/>
              <a:t>.</a:t>
            </a:r>
          </a:p>
          <a:p>
            <a:r>
              <a:rPr lang="en-US" b="1" noProof="0" dirty="0">
                <a:solidFill>
                  <a:srgbClr val="0070C0"/>
                </a:solidFill>
              </a:rPr>
              <a:t>efficiency</a:t>
            </a:r>
            <a:r>
              <a:rPr lang="en-US" noProof="0" dirty="0">
                <a:solidFill>
                  <a:srgbClr val="0070C0"/>
                </a:solidFill>
              </a:rPr>
              <a:t> </a:t>
            </a:r>
            <a:r>
              <a:rPr lang="en-US" noProof="0" dirty="0"/>
              <a:t>when implemented on:</a:t>
            </a:r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8 bit microcontrollers </a:t>
            </a:r>
            <a:r>
              <a:rPr lang="en-US" noProof="0" dirty="0"/>
              <a:t>and </a:t>
            </a:r>
            <a:r>
              <a:rPr lang="en-US" b="1" noProof="0" dirty="0">
                <a:solidFill>
                  <a:srgbClr val="FF0000"/>
                </a:solidFill>
              </a:rPr>
              <a:t>smart cards </a:t>
            </a:r>
            <a:r>
              <a:rPr lang="en-US" noProof="0" dirty="0"/>
              <a:t>with limited memory</a:t>
            </a:r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tablets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FF0000"/>
                </a:solidFill>
              </a:rPr>
              <a:t>phones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FF0000"/>
                </a:solidFill>
              </a:rPr>
              <a:t>palmtops</a:t>
            </a:r>
            <a:r>
              <a:rPr lang="en-US" noProof="0" dirty="0"/>
              <a:t>,</a:t>
            </a:r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PCs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FF0000"/>
                </a:solidFill>
              </a:rPr>
              <a:t>workstations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FF0000"/>
                </a:solidFill>
              </a:rPr>
              <a:t>servers</a:t>
            </a:r>
            <a:r>
              <a:rPr lang="en-US" noProof="0" dirty="0"/>
              <a:t>,</a:t>
            </a:r>
          </a:p>
          <a:p>
            <a:pPr lvl="1"/>
            <a:r>
              <a:rPr lang="en-US" noProof="0" dirty="0"/>
              <a:t>dedicated hardware (</a:t>
            </a:r>
            <a:r>
              <a:rPr lang="en-US" b="1" noProof="0" dirty="0">
                <a:solidFill>
                  <a:srgbClr val="FF0000"/>
                </a:solidFill>
              </a:rPr>
              <a:t>ASICs</a:t>
            </a:r>
            <a:r>
              <a:rPr lang="en-US" noProof="0" dirty="0"/>
              <a:t>, </a:t>
            </a:r>
            <a:r>
              <a:rPr lang="en-US" b="1" noProof="0" dirty="0">
                <a:solidFill>
                  <a:srgbClr val="FF0000"/>
                </a:solidFill>
              </a:rPr>
              <a:t>FPGAs</a:t>
            </a:r>
            <a:r>
              <a:rPr lang="en-US" noProof="0" dirty="0"/>
              <a:t>) – here we might require speeds up to </a:t>
            </a:r>
            <a:r>
              <a:rPr lang="en-US" b="1" noProof="0" dirty="0">
                <a:solidFill>
                  <a:srgbClr val="00B050"/>
                </a:solidFill>
              </a:rPr>
              <a:t>gigabits/second</a:t>
            </a:r>
          </a:p>
          <a:p>
            <a:r>
              <a:rPr lang="en-US" b="1" noProof="0" dirty="0">
                <a:solidFill>
                  <a:srgbClr val="0070C0"/>
                </a:solidFill>
              </a:rPr>
              <a:t>key agility </a:t>
            </a:r>
            <a:r>
              <a:rPr lang="en-US" noProof="0" dirty="0"/>
              <a:t>– </a:t>
            </a:r>
            <a:r>
              <a:rPr lang="en-US" b="1" noProof="0" dirty="0">
                <a:solidFill>
                  <a:srgbClr val="00B050"/>
                </a:solidFill>
              </a:rPr>
              <a:t>changing the key </a:t>
            </a:r>
            <a:r>
              <a:rPr lang="en-US" noProof="0" dirty="0"/>
              <a:t>can be done very efficiently</a:t>
            </a:r>
          </a:p>
        </p:txBody>
      </p:sp>
    </p:spTree>
    <p:extLst>
      <p:ext uri="{BB962C8B-B14F-4D97-AF65-F5344CB8AC3E}">
        <p14:creationId xmlns:p14="http://schemas.microsoft.com/office/powerpoint/2010/main" val="76306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rmAutofit/>
          </a:bodyPr>
          <a:lstStyle/>
          <a:p>
            <a:r>
              <a:rPr lang="en-US" noProof="0" dirty="0"/>
              <a:t>Block ciphers – more “informal” requirements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8435280" cy="4725144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rgbClr val="0070C0"/>
                </a:solidFill>
              </a:rPr>
              <a:t>simplicity</a:t>
            </a:r>
            <a:r>
              <a:rPr lang="en-US" noProof="0" dirty="0">
                <a:solidFill>
                  <a:srgbClr val="0070C0"/>
                </a:solidFill>
              </a:rPr>
              <a:t> </a:t>
            </a:r>
            <a:r>
              <a:rPr lang="en-US" noProof="0" dirty="0"/>
              <a:t>– advantages: </a:t>
            </a:r>
          </a:p>
          <a:p>
            <a:pPr lvl="1"/>
            <a:r>
              <a:rPr lang="en-US" b="1" noProof="0" dirty="0">
                <a:solidFill>
                  <a:srgbClr val="00B050"/>
                </a:solidFill>
              </a:rPr>
              <a:t>easier to implement</a:t>
            </a:r>
          </a:p>
          <a:p>
            <a:pPr lvl="1"/>
            <a:r>
              <a:rPr lang="en-US" noProof="0" dirty="0"/>
              <a:t>more confidence that there is </a:t>
            </a:r>
            <a:r>
              <a:rPr lang="en-US" b="1" noProof="0" dirty="0">
                <a:solidFill>
                  <a:srgbClr val="00B050"/>
                </a:solidFill>
              </a:rPr>
              <a:t>no backdoor</a:t>
            </a:r>
          </a:p>
          <a:p>
            <a:r>
              <a:rPr lang="en-US" b="1" noProof="0" dirty="0">
                <a:solidFill>
                  <a:srgbClr val="0070C0"/>
                </a:solidFill>
              </a:rPr>
              <a:t>symmetry</a:t>
            </a:r>
            <a:r>
              <a:rPr lang="en-US" noProof="0" dirty="0">
                <a:solidFill>
                  <a:srgbClr val="0070C0"/>
                </a:solidFill>
              </a:rPr>
              <a:t> </a:t>
            </a:r>
            <a:r>
              <a:rPr lang="en-US" noProof="0" dirty="0"/>
              <a:t>(repeating patterns):</a:t>
            </a:r>
          </a:p>
          <a:p>
            <a:pPr lvl="1"/>
            <a:r>
              <a:rPr lang="en-US" b="1" noProof="0" dirty="0">
                <a:solidFill>
                  <a:srgbClr val="00B050"/>
                </a:solidFill>
              </a:rPr>
              <a:t>smaller circuits </a:t>
            </a:r>
            <a:r>
              <a:rPr lang="en-US" noProof="0" dirty="0"/>
              <a:t>(in hardware)</a:t>
            </a:r>
          </a:p>
          <a:p>
            <a:pPr lvl="1"/>
            <a:r>
              <a:rPr lang="en-US" b="1" noProof="0" dirty="0">
                <a:solidFill>
                  <a:srgbClr val="00B050"/>
                </a:solidFill>
              </a:rPr>
              <a:t>easier to program </a:t>
            </a:r>
            <a:r>
              <a:rPr lang="en-US" noProof="0" dirty="0"/>
              <a:t>(in software).</a:t>
            </a:r>
          </a:p>
        </p:txBody>
      </p:sp>
    </p:spTree>
    <p:extLst>
      <p:ext uri="{BB962C8B-B14F-4D97-AF65-F5344CB8AC3E}">
        <p14:creationId xmlns:p14="http://schemas.microsoft.com/office/powerpoint/2010/main" val="14648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20" y="490601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Block ciphers –advanced security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20" y="1988840"/>
            <a:ext cx="8435280" cy="54452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resistance to the </a:t>
            </a:r>
            <a:r>
              <a:rPr lang="en-US" b="1" noProof="0" dirty="0">
                <a:solidFill>
                  <a:srgbClr val="00B050"/>
                </a:solidFill>
              </a:rPr>
              <a:t>side-channel attacks</a:t>
            </a:r>
            <a:r>
              <a:rPr lang="en-US" noProof="0" dirty="0"/>
              <a:t>,</a:t>
            </a:r>
            <a:endParaRPr lang="en-US" b="1" noProof="0" dirty="0">
              <a:solidFill>
                <a:srgbClr val="00B050"/>
              </a:solidFill>
            </a:endParaRPr>
          </a:p>
          <a:p>
            <a:r>
              <a:rPr lang="en-US" noProof="0" dirty="0"/>
              <a:t>resistance to the </a:t>
            </a:r>
            <a:r>
              <a:rPr lang="en-US" b="1" noProof="0" dirty="0">
                <a:solidFill>
                  <a:srgbClr val="00B050"/>
                </a:solidFill>
              </a:rPr>
              <a:t>key-related attacks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1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857" y="74352"/>
            <a:ext cx="8790272" cy="743769"/>
          </a:xfrm>
        </p:spPr>
        <p:txBody>
          <a:bodyPr>
            <a:normAutofit/>
          </a:bodyPr>
          <a:lstStyle/>
          <a:p>
            <a:r>
              <a:rPr lang="en-US" sz="3600" noProof="0" dirty="0"/>
              <a:t>A very popular paradigm: iterated ciphers</a:t>
            </a:r>
          </a:p>
        </p:txBody>
      </p:sp>
      <p:sp>
        <p:nvSpPr>
          <p:cNvPr id="4" name="Text Box 49"/>
          <p:cNvSpPr txBox="1">
            <a:spLocks noChangeArrowheads="1"/>
          </p:cNvSpPr>
          <p:nvPr/>
        </p:nvSpPr>
        <p:spPr bwMode="auto">
          <a:xfrm>
            <a:off x="251520" y="4145331"/>
            <a:ext cx="10214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noProof="0" dirty="0"/>
              <a:t>key</a:t>
            </a:r>
            <a:br>
              <a:rPr lang="en-US" noProof="0" dirty="0"/>
            </a:br>
            <a:r>
              <a:rPr lang="en-US" noProof="0" dirty="0"/>
              <a:t>schedule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8"/>
              <p:cNvSpPr txBox="1">
                <a:spLocks noChangeArrowheads="1"/>
              </p:cNvSpPr>
              <p:nvPr/>
            </p:nvSpPr>
            <p:spPr bwMode="auto">
              <a:xfrm>
                <a:off x="347288" y="2948316"/>
                <a:ext cx="829896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noProof="0" dirty="0"/>
                  <a:t>key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288" y="2948316"/>
                <a:ext cx="829896" cy="400110"/>
              </a:xfrm>
              <a:prstGeom prst="rect">
                <a:avLst/>
              </a:prstGeom>
              <a:blipFill>
                <a:blip r:embed="rId2"/>
                <a:stretch>
                  <a:fillRect l="-4478" t="-9375" b="-2812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3"/>
              <p:cNvSpPr txBox="1">
                <a:spLocks noChangeArrowheads="1"/>
              </p:cNvSpPr>
              <p:nvPr/>
            </p:nvSpPr>
            <p:spPr bwMode="auto">
              <a:xfrm>
                <a:off x="2267744" y="4003024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4003024"/>
                <a:ext cx="611233" cy="369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55"/>
              <p:cNvSpPr txBox="1">
                <a:spLocks noChangeArrowheads="1"/>
              </p:cNvSpPr>
              <p:nvPr/>
            </p:nvSpPr>
            <p:spPr bwMode="auto">
              <a:xfrm>
                <a:off x="2267744" y="5461466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5461466"/>
                <a:ext cx="5964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2267744" y="3069824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3069824"/>
                <a:ext cx="611233" cy="369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11"/>
              <p:cNvSpPr txBox="1">
                <a:spLocks noChangeArrowheads="1"/>
              </p:cNvSpPr>
              <p:nvPr/>
            </p:nvSpPr>
            <p:spPr bwMode="auto">
              <a:xfrm>
                <a:off x="3660000" y="2221106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noProof="0" dirty="0"/>
                  <a:t> </a:t>
                </a:r>
              </a:p>
            </p:txBody>
          </p:sp>
        </mc:Choice>
        <mc:Fallback>
          <p:sp>
            <p:nvSpPr>
              <p:cNvPr id="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0000" y="2221106"/>
                <a:ext cx="2480697" cy="369888"/>
              </a:xfrm>
              <a:prstGeom prst="rect">
                <a:avLst/>
              </a:prstGeom>
              <a:blipFill>
                <a:blip r:embed="rId6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3690756" y="6278253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0756" y="6278253"/>
                <a:ext cx="2480697" cy="369888"/>
              </a:xfrm>
              <a:prstGeom prst="rect">
                <a:avLst/>
              </a:prstGeom>
              <a:blipFill>
                <a:blip r:embed="rId7"/>
                <a:stretch>
                  <a:fillRect t="-3125" b="-2187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3674737" y="3038138"/>
                <a:ext cx="2480697" cy="4015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737" y="3038138"/>
                <a:ext cx="2480697" cy="4015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4658032" y="2645972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3660000" y="3965450"/>
                <a:ext cx="2480697" cy="4015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000" y="3965450"/>
                <a:ext cx="2480697" cy="4015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4643295" y="3573284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2276" y="939146"/>
                <a:ext cx="734481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p>
                    </m:sSup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noProof="0" dirty="0"/>
                  <a:t>– a </a:t>
                </a:r>
                <a:r>
                  <a:rPr lang="en-US" sz="2000" b="1" noProof="0" dirty="0">
                    <a:solidFill>
                      <a:srgbClr val="0070C0"/>
                    </a:solidFill>
                  </a:rPr>
                  <a:t>round function</a:t>
                </a:r>
              </a:p>
              <a:p>
                <a:r>
                  <a:rPr lang="en-US" sz="2000" noProof="0" dirty="0"/>
                  <a:t>Typically we write the first argument in a subscript.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76" y="939146"/>
                <a:ext cx="7344815" cy="707886"/>
              </a:xfrm>
              <a:prstGeom prst="rect">
                <a:avLst/>
              </a:prstGeom>
              <a:blipFill>
                <a:blip r:embed="rId10"/>
                <a:stretch>
                  <a:fillRect l="-1038" t="-3509" b="-1403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utoShape 56"/>
          <p:cNvSpPr>
            <a:spLocks noChangeArrowheads="1"/>
          </p:cNvSpPr>
          <p:nvPr/>
        </p:nvSpPr>
        <p:spPr bwMode="auto">
          <a:xfrm rot="5400000">
            <a:off x="402873" y="3647156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2" name="AutoShape 56"/>
          <p:cNvSpPr>
            <a:spLocks noChangeArrowheads="1"/>
          </p:cNvSpPr>
          <p:nvPr/>
        </p:nvSpPr>
        <p:spPr bwMode="auto">
          <a:xfrm rot="18572955">
            <a:off x="1237713" y="3667933"/>
            <a:ext cx="1141648" cy="24832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3" name="AutoShape 56"/>
          <p:cNvSpPr>
            <a:spLocks noChangeArrowheads="1"/>
          </p:cNvSpPr>
          <p:nvPr/>
        </p:nvSpPr>
        <p:spPr bwMode="auto">
          <a:xfrm rot="20015282">
            <a:off x="1395846" y="4128422"/>
            <a:ext cx="836707" cy="25900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 rot="2717470">
            <a:off x="1260434" y="4925107"/>
            <a:ext cx="1141648" cy="24832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2957709" y="3123201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6" name="AutoShape 56"/>
          <p:cNvSpPr>
            <a:spLocks noChangeArrowheads="1"/>
          </p:cNvSpPr>
          <p:nvPr/>
        </p:nvSpPr>
        <p:spPr bwMode="auto">
          <a:xfrm>
            <a:off x="2957709" y="4082984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7" name="AutoShape 56"/>
          <p:cNvSpPr>
            <a:spLocks noChangeArrowheads="1"/>
          </p:cNvSpPr>
          <p:nvPr/>
        </p:nvSpPr>
        <p:spPr bwMode="auto">
          <a:xfrm>
            <a:off x="2957709" y="5514565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3686369" y="5429822"/>
                <a:ext cx="2480697" cy="4015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369" y="5429822"/>
                <a:ext cx="2480697" cy="4015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Down Arrow 28"/>
          <p:cNvSpPr/>
          <p:nvPr/>
        </p:nvSpPr>
        <p:spPr>
          <a:xfrm>
            <a:off x="4669664" y="5037656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Down Arrow 29"/>
          <p:cNvSpPr/>
          <p:nvPr/>
        </p:nvSpPr>
        <p:spPr>
          <a:xfrm>
            <a:off x="4669664" y="5904659"/>
            <a:ext cx="484632" cy="3189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 Box 54"/>
          <p:cNvSpPr txBox="1">
            <a:spLocks noChangeArrowheads="1"/>
          </p:cNvSpPr>
          <p:nvPr/>
        </p:nvSpPr>
        <p:spPr bwMode="auto">
          <a:xfrm rot="5400000">
            <a:off x="2374287" y="4521876"/>
            <a:ext cx="506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noProof="0" dirty="0">
                <a:solidFill>
                  <a:srgbClr val="800000"/>
                </a:solidFill>
              </a:rPr>
              <a:t>. . .</a:t>
            </a: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 rot="5400000">
            <a:off x="4711669" y="4485145"/>
            <a:ext cx="506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noProof="0" dirty="0">
                <a:solidFill>
                  <a:srgbClr val="800000"/>
                </a:solidFill>
              </a:rPr>
              <a:t>. . .</a:t>
            </a:r>
          </a:p>
        </p:txBody>
      </p:sp>
      <p:sp>
        <p:nvSpPr>
          <p:cNvPr id="33" name="Line 72"/>
          <p:cNvSpPr>
            <a:spLocks noChangeShapeType="1"/>
          </p:cNvSpPr>
          <p:nvPr/>
        </p:nvSpPr>
        <p:spPr bwMode="auto">
          <a:xfrm>
            <a:off x="5127927" y="1998793"/>
            <a:ext cx="102750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4" name="Line 73"/>
          <p:cNvSpPr>
            <a:spLocks noChangeShapeType="1"/>
          </p:cNvSpPr>
          <p:nvPr/>
        </p:nvSpPr>
        <p:spPr bwMode="auto">
          <a:xfrm flipH="1">
            <a:off x="3684535" y="1998793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5" name="Line 74"/>
          <p:cNvSpPr>
            <a:spLocks noChangeShapeType="1"/>
          </p:cNvSpPr>
          <p:nvPr/>
        </p:nvSpPr>
        <p:spPr bwMode="auto">
          <a:xfrm>
            <a:off x="3684535" y="192259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6" name="Line 75"/>
          <p:cNvSpPr>
            <a:spLocks noChangeShapeType="1"/>
          </p:cNvSpPr>
          <p:nvPr/>
        </p:nvSpPr>
        <p:spPr bwMode="auto">
          <a:xfrm>
            <a:off x="6140697" y="192259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675559" y="1762602"/>
                <a:ext cx="45236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559" y="1762602"/>
                <a:ext cx="45236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72"/>
          <p:cNvSpPr>
            <a:spLocks noChangeShapeType="1"/>
          </p:cNvSpPr>
          <p:nvPr/>
        </p:nvSpPr>
        <p:spPr bwMode="auto">
          <a:xfrm flipV="1">
            <a:off x="2675108" y="2769837"/>
            <a:ext cx="19888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9" name="Line 73"/>
          <p:cNvSpPr>
            <a:spLocks noChangeShapeType="1"/>
          </p:cNvSpPr>
          <p:nvPr/>
        </p:nvSpPr>
        <p:spPr bwMode="auto">
          <a:xfrm flipH="1">
            <a:off x="2246492" y="2769838"/>
            <a:ext cx="144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40" name="Line 74"/>
          <p:cNvSpPr>
            <a:spLocks noChangeShapeType="1"/>
          </p:cNvSpPr>
          <p:nvPr/>
        </p:nvSpPr>
        <p:spPr bwMode="auto">
          <a:xfrm>
            <a:off x="2246492" y="2693638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41" name="Line 75"/>
          <p:cNvSpPr>
            <a:spLocks noChangeShapeType="1"/>
          </p:cNvSpPr>
          <p:nvPr/>
        </p:nvSpPr>
        <p:spPr bwMode="auto">
          <a:xfrm>
            <a:off x="2888735" y="270571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2386301" y="2570211"/>
                <a:ext cx="38023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01" y="2570211"/>
                <a:ext cx="38023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064219" y="1951073"/>
            <a:ext cx="1003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subkeys: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4658" y="2885158"/>
            <a:ext cx="83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rounds</a:t>
            </a:r>
          </a:p>
        </p:txBody>
      </p:sp>
      <p:cxnSp>
        <p:nvCxnSpPr>
          <p:cNvPr id="49" name="Curved Connector 48"/>
          <p:cNvCxnSpPr>
            <a:stCxn id="45" idx="1"/>
            <a:endCxn id="11" idx="3"/>
          </p:cNvCxnSpPr>
          <p:nvPr/>
        </p:nvCxnSpPr>
        <p:spPr>
          <a:xfrm rot="10800000" flipV="1">
            <a:off x="6155434" y="3069823"/>
            <a:ext cx="499224" cy="16910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5" idx="1"/>
            <a:endCxn id="13" idx="3"/>
          </p:cNvCxnSpPr>
          <p:nvPr/>
        </p:nvCxnSpPr>
        <p:spPr>
          <a:xfrm rot="10800000" flipV="1">
            <a:off x="6140698" y="3069823"/>
            <a:ext cx="513961" cy="10964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5" idx="1"/>
            <a:endCxn id="28" idx="3"/>
          </p:cNvCxnSpPr>
          <p:nvPr/>
        </p:nvCxnSpPr>
        <p:spPr>
          <a:xfrm rot="10800000" flipV="1">
            <a:off x="6167066" y="3069823"/>
            <a:ext cx="487592" cy="256078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6681026" y="3868019"/>
                <a:ext cx="2226119" cy="230832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u="sng" noProof="0" dirty="0">
                    <a:solidFill>
                      <a:srgbClr val="0070C0"/>
                    </a:solidFill>
                  </a:rPr>
                  <a:t>Note</a:t>
                </a:r>
                <a:r>
                  <a:rPr lang="en-US" noProof="0" dirty="0">
                    <a:solidFill>
                      <a:schemeClr val="tx1"/>
                    </a:solidFill>
                  </a:rPr>
                  <a:t>: since we use the same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in each round, we get: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noProof="0" dirty="0">
                    <a:solidFill>
                      <a:srgbClr val="00B050"/>
                    </a:solidFill>
                  </a:rPr>
                  <a:t>symmetry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noProof="0" dirty="0">
                    <a:solidFill>
                      <a:srgbClr val="00B050"/>
                    </a:solidFill>
                  </a:rPr>
                  <a:t>flexibility</a:t>
                </a:r>
                <a:r>
                  <a:rPr lang="en-US" noProof="0" dirty="0">
                    <a:solidFill>
                      <a:srgbClr val="00B050"/>
                    </a:solidFill>
                  </a:rPr>
                  <a:t> </a:t>
                </a:r>
                <a:r>
                  <a:rPr lang="en-US" noProof="0" dirty="0">
                    <a:solidFill>
                      <a:schemeClr val="tx1"/>
                    </a:solidFill>
                  </a:rPr>
                  <a:t>in the number of rounds (useful for analysis)</a:t>
                </a:r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026" y="3868019"/>
                <a:ext cx="2226119" cy="2308324"/>
              </a:xfrm>
              <a:prstGeom prst="rect">
                <a:avLst/>
              </a:prstGeom>
              <a:blipFill>
                <a:blip r:embed="rId14"/>
                <a:stretch>
                  <a:fillRect l="-1695" t="-1093" b="-327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8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18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/>
      <p:bldP spid="45" grpId="0"/>
      <p:bldP spid="5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62" y="172137"/>
            <a:ext cx="8150712" cy="1325563"/>
          </a:xfrm>
        </p:spPr>
        <p:txBody>
          <a:bodyPr/>
          <a:lstStyle/>
          <a:p>
            <a:r>
              <a:rPr lang="en-US" noProof="0" dirty="0"/>
              <a:t>Popular types of iterated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810" y="2224452"/>
            <a:ext cx="8229600" cy="413732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b="1" noProof="0" dirty="0">
                <a:solidFill>
                  <a:srgbClr val="00B050"/>
                </a:solidFill>
              </a:rPr>
              <a:t>Feistel</a:t>
            </a:r>
            <a:r>
              <a:rPr lang="en-US" noProof="0" dirty="0">
                <a:solidFill>
                  <a:srgbClr val="00B050"/>
                </a:solidFill>
              </a:rPr>
              <a:t> </a:t>
            </a:r>
            <a:r>
              <a:rPr lang="en-US" noProof="0" dirty="0"/>
              <a:t>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b="1" noProof="0" dirty="0">
                <a:solidFill>
                  <a:srgbClr val="FF0000"/>
                </a:solidFill>
              </a:rPr>
              <a:t>Substitution-permutation networks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b="1" noProof="0" dirty="0">
                <a:solidFill>
                  <a:srgbClr val="00B0F0"/>
                </a:solidFill>
              </a:rPr>
              <a:t>Lai-Massey </a:t>
            </a:r>
            <a:r>
              <a:rPr lang="en-US" noProof="0" dirty="0"/>
              <a:t>ciphers</a:t>
            </a:r>
            <a:endParaRPr lang="en-US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7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noProof="0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Popular construction paradigms</a:t>
            </a:r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Feistel ciphers </a:t>
            </a:r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Substitution-permutation networks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1633509" y="4952999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783965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noProof="0" dirty="0"/>
              <a:t>Feistel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noProof="0" dirty="0"/>
              <a:t>Invented by </a:t>
            </a:r>
            <a:r>
              <a:rPr lang="en-US" sz="2200" b="1" noProof="0" dirty="0">
                <a:solidFill>
                  <a:srgbClr val="0070C0"/>
                </a:solidFill>
              </a:rPr>
              <a:t>Horst Feistel </a:t>
            </a:r>
            <a:r>
              <a:rPr lang="en-US" sz="2200" noProof="0" dirty="0"/>
              <a:t>(1915-1990) in </a:t>
            </a:r>
            <a:r>
              <a:rPr lang="en-US" sz="2200" b="1" noProof="0" dirty="0">
                <a:solidFill>
                  <a:srgbClr val="00B050"/>
                </a:solidFill>
              </a:rPr>
              <a:t>1970s</a:t>
            </a:r>
            <a:r>
              <a:rPr lang="en-US" sz="2200" noProof="0" dirty="0">
                <a:solidFill>
                  <a:srgbClr val="00B050"/>
                </a:solidFill>
              </a:rPr>
              <a:t> </a:t>
            </a:r>
            <a:r>
              <a:rPr lang="en-US" sz="2200" noProof="0" dirty="0"/>
              <a:t>while working at </a:t>
            </a:r>
            <a:r>
              <a:rPr lang="en-US" sz="2200" b="1" noProof="0" dirty="0">
                <a:solidFill>
                  <a:srgbClr val="00B050"/>
                </a:solidFill>
              </a:rPr>
              <a:t>IBM</a:t>
            </a:r>
            <a:r>
              <a:rPr lang="en-US" sz="2200" noProof="0" dirty="0"/>
              <a:t>. </a:t>
            </a:r>
          </a:p>
          <a:p>
            <a:pPr marL="0" indent="0">
              <a:buNone/>
            </a:pPr>
            <a:endParaRPr lang="en-US" sz="2200" noProof="0" dirty="0"/>
          </a:p>
          <a:p>
            <a:pPr marL="0" indent="0">
              <a:buNone/>
            </a:pPr>
            <a:endParaRPr lang="en-US" sz="2200" noProof="0" dirty="0"/>
          </a:p>
          <a:p>
            <a:pPr marL="0" indent="0">
              <a:buNone/>
            </a:pPr>
            <a:endParaRPr lang="en-US" sz="2200" noProof="0" dirty="0"/>
          </a:p>
          <a:p>
            <a:pPr marL="0" indent="0">
              <a:buNone/>
            </a:pPr>
            <a:endParaRPr lang="en-US" sz="2200" noProof="0" dirty="0"/>
          </a:p>
          <a:p>
            <a:pPr marL="0" indent="0">
              <a:buNone/>
            </a:pPr>
            <a:endParaRPr lang="en-US" sz="2200" noProof="0" dirty="0"/>
          </a:p>
          <a:p>
            <a:pPr marL="0" indent="0">
              <a:buNone/>
            </a:pPr>
            <a:r>
              <a:rPr lang="en-US" sz="2200" noProof="0" dirty="0"/>
              <a:t>First used in </a:t>
            </a:r>
            <a:r>
              <a:rPr lang="en-US" sz="2200" b="1" noProof="0" dirty="0">
                <a:solidFill>
                  <a:srgbClr val="FF0000"/>
                </a:solidFill>
              </a:rPr>
              <a:t>Lucifer</a:t>
            </a:r>
            <a:r>
              <a:rPr lang="en-US" sz="2200" b="1" noProof="0" dirty="0"/>
              <a:t>. </a:t>
            </a:r>
            <a:r>
              <a:rPr lang="en-US" sz="2200" noProof="0" dirty="0"/>
              <a:t>Most famous use: </a:t>
            </a:r>
            <a:r>
              <a:rPr lang="en-US" sz="2200" b="1" noProof="0" dirty="0">
                <a:solidFill>
                  <a:srgbClr val="FF0000"/>
                </a:solidFill>
              </a:rPr>
              <a:t>Data Encryption Standard (DES)</a:t>
            </a:r>
            <a:r>
              <a:rPr lang="en-US" sz="2200" noProof="0" dirty="0"/>
              <a:t>.</a:t>
            </a:r>
          </a:p>
          <a:p>
            <a:pPr marL="0" indent="0">
              <a:buNone/>
            </a:pPr>
            <a:r>
              <a:rPr lang="en-US" sz="2200" b="1" u="sng" noProof="0" dirty="0">
                <a:solidFill>
                  <a:srgbClr val="0070C0"/>
                </a:solidFill>
              </a:rPr>
              <a:t>Other ciphers that use it</a:t>
            </a:r>
            <a:r>
              <a:rPr lang="en-US" sz="2200" b="1" noProof="0" dirty="0"/>
              <a:t>:</a:t>
            </a:r>
          </a:p>
          <a:p>
            <a:pPr marL="0" indent="0">
              <a:buNone/>
            </a:pPr>
            <a:r>
              <a:rPr lang="en-US" sz="2200" noProof="0" dirty="0"/>
              <a:t>Blowfish, Camellia, CAST-128, FEAL, GOST 28147-89, ICE, KASUMI, LOKI97, MARS, MAGENTA, MISTY1, RC5, Simon, TEA, </a:t>
            </a:r>
            <a:r>
              <a:rPr lang="en-US" sz="2200" noProof="0" dirty="0" err="1"/>
              <a:t>Twofish</a:t>
            </a:r>
            <a:r>
              <a:rPr lang="en-US" sz="2200" noProof="0" dirty="0"/>
              <a:t>, XTEA,...</a:t>
            </a:r>
          </a:p>
          <a:p>
            <a:pPr marL="0" indent="0">
              <a:buNone/>
            </a:pPr>
            <a:endParaRPr lang="en-US" sz="2200" b="1" noProof="0" dirty="0"/>
          </a:p>
          <a:p>
            <a:pPr marL="0" indent="0">
              <a:buNone/>
            </a:pPr>
            <a:endParaRPr lang="en-US" sz="2200" b="1" noProof="0" dirty="0"/>
          </a:p>
          <a:p>
            <a:pPr marL="0" indent="0">
              <a:buNone/>
            </a:pPr>
            <a:endParaRPr lang="en-US" sz="2200" b="1" noProof="0" dirty="0"/>
          </a:p>
          <a:p>
            <a:pPr marL="0" indent="0">
              <a:buNone/>
            </a:pPr>
            <a:endParaRPr lang="en-US" sz="2200" b="1" noProof="0" dirty="0"/>
          </a:p>
          <a:p>
            <a:pPr marL="0" indent="0">
              <a:buNone/>
            </a:pPr>
            <a:endParaRPr lang="en-US" sz="2200" b="1" noProof="0" dirty="0"/>
          </a:p>
          <a:p>
            <a:pPr marL="0" indent="0">
              <a:buNone/>
            </a:pPr>
            <a:endParaRPr lang="en-US" sz="2200" b="1" noProof="0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http://upload.wikimedia.org/wikipedia/uk/b/b8/Feistel_Hor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947651"/>
            <a:ext cx="19050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45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noProof="0" dirty="0"/>
              <a:t>DES</a:t>
            </a:r>
            <a:r>
              <a:rPr lang="en-US" sz="4000" noProof="0" dirty="0"/>
              <a:t> (Digital Encryption Standard)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1"/>
            <a:ext cx="8229600" cy="2857512"/>
          </a:xfr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noProof="0" dirty="0">
                <a:solidFill>
                  <a:srgbClr val="0070C0"/>
                </a:solidFill>
              </a:rPr>
              <a:t>Key length</a:t>
            </a:r>
            <a:r>
              <a:rPr lang="en-US" noProof="0" dirty="0"/>
              <a:t>:</a:t>
            </a:r>
          </a:p>
          <a:p>
            <a:pPr lvl="1"/>
            <a:r>
              <a:rPr lang="en-US" noProof="0" dirty="0"/>
              <a:t>effective: </a:t>
            </a:r>
            <a:r>
              <a:rPr lang="en-US" b="1" noProof="0" dirty="0">
                <a:solidFill>
                  <a:srgbClr val="FF0000"/>
                </a:solidFill>
              </a:rPr>
              <a:t>56</a:t>
            </a:r>
            <a:r>
              <a:rPr lang="en-US" b="1" noProof="0" dirty="0">
                <a:solidFill>
                  <a:srgbClr val="993300"/>
                </a:solidFill>
              </a:rPr>
              <a:t> </a:t>
            </a:r>
            <a:r>
              <a:rPr lang="en-US" noProof="0" dirty="0"/>
              <a:t>bits</a:t>
            </a:r>
          </a:p>
          <a:p>
            <a:pPr lvl="1"/>
            <a:r>
              <a:rPr lang="en-US" noProof="0" dirty="0"/>
              <a:t>formally: </a:t>
            </a:r>
            <a:r>
              <a:rPr lang="en-US" b="1" noProof="0" dirty="0">
                <a:solidFill>
                  <a:srgbClr val="FF0000"/>
                </a:solidFill>
              </a:rPr>
              <a:t>64</a:t>
            </a:r>
            <a:r>
              <a:rPr lang="en-US" noProof="0" dirty="0"/>
              <a:t> bits (</a:t>
            </a:r>
            <a:r>
              <a:rPr lang="en-US" b="1" noProof="0" dirty="0">
                <a:solidFill>
                  <a:srgbClr val="FF0000"/>
                </a:solidFill>
              </a:rPr>
              <a:t>8</a:t>
            </a:r>
            <a:r>
              <a:rPr lang="en-US" noProof="0" dirty="0"/>
              <a:t> bits for checking parity).</a:t>
            </a:r>
            <a:br>
              <a:rPr lang="en-US" noProof="0" dirty="0"/>
            </a:br>
            <a:endParaRPr lang="en-US" noProof="0" dirty="0"/>
          </a:p>
          <a:p>
            <a:r>
              <a:rPr lang="en-US" b="1" noProof="0" dirty="0">
                <a:solidFill>
                  <a:srgbClr val="0070C0"/>
                </a:solidFill>
              </a:rPr>
              <a:t>Block length</a:t>
            </a:r>
            <a:r>
              <a:rPr lang="en-US" noProof="0" dirty="0"/>
              <a:t>: </a:t>
            </a:r>
            <a:r>
              <a:rPr lang="en-US" b="1" noProof="0" dirty="0">
                <a:solidFill>
                  <a:srgbClr val="FF0000"/>
                </a:solidFill>
              </a:rPr>
              <a:t>64</a:t>
            </a:r>
            <a:r>
              <a:rPr lang="en-US" noProof="0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31998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1556" y="365126"/>
            <a:ext cx="5853793" cy="1325563"/>
          </a:xfrm>
        </p:spPr>
        <p:txBody>
          <a:bodyPr/>
          <a:lstStyle/>
          <a:p>
            <a:r>
              <a:rPr lang="en-US" noProof="0" dirty="0"/>
              <a:t>History of DES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noProof="0" dirty="0"/>
              <a:t>First version designed by </a:t>
            </a:r>
            <a:r>
              <a:rPr lang="en-US" sz="2800" b="1" noProof="0" dirty="0">
                <a:solidFill>
                  <a:srgbClr val="0070C0"/>
                </a:solidFill>
              </a:rPr>
              <a:t>IBM</a:t>
            </a:r>
            <a:r>
              <a:rPr lang="en-US" sz="2800" noProof="0" dirty="0"/>
              <a:t> in </a:t>
            </a:r>
            <a:r>
              <a:rPr lang="en-US" sz="2800" b="1" noProof="0" dirty="0"/>
              <a:t>1973-74</a:t>
            </a:r>
            <a:r>
              <a:rPr lang="en-US" sz="2800" noProof="0" dirty="0"/>
              <a:t>, based on a </a:t>
            </a:r>
            <a:r>
              <a:rPr lang="en-US" sz="2800" b="1" noProof="0" dirty="0">
                <a:solidFill>
                  <a:srgbClr val="FF0000"/>
                </a:solidFill>
              </a:rPr>
              <a:t>Lucifer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cipher (by </a:t>
            </a:r>
            <a:r>
              <a:rPr lang="en-US" sz="2800" b="1" noProof="0" dirty="0"/>
              <a:t>Horst Feistel</a:t>
            </a:r>
            <a:r>
              <a:rPr lang="en-US" sz="2800" noProof="0" dirty="0"/>
              <a:t>).</a:t>
            </a:r>
            <a:br>
              <a:rPr lang="en-US" sz="2800" noProof="0" dirty="0"/>
            </a:br>
            <a:endParaRPr lang="en-US" sz="2800" noProof="0" dirty="0"/>
          </a:p>
          <a:p>
            <a:pPr>
              <a:lnSpc>
                <a:spcPct val="90000"/>
              </a:lnSpc>
            </a:pPr>
            <a:r>
              <a:rPr lang="en-US" sz="2800" b="1" noProof="0" dirty="0">
                <a:solidFill>
                  <a:srgbClr val="0070C0"/>
                </a:solidFill>
              </a:rPr>
              <a:t>National Security Agency (NSA)</a:t>
            </a:r>
            <a:r>
              <a:rPr lang="en-US" sz="2800" noProof="0" dirty="0">
                <a:solidFill>
                  <a:srgbClr val="0070C0"/>
                </a:solidFill>
              </a:rPr>
              <a:t> </a:t>
            </a:r>
            <a:r>
              <a:rPr lang="en-US" sz="2800" noProof="0" dirty="0"/>
              <a:t>played some role in the design of </a:t>
            </a:r>
            <a:r>
              <a:rPr lang="en-US" sz="2800" b="1" noProof="0" dirty="0">
                <a:solidFill>
                  <a:srgbClr val="FF0000"/>
                </a:solidFill>
              </a:rPr>
              <a:t>DES</a:t>
            </a:r>
            <a:r>
              <a:rPr lang="en-US" sz="2800" noProof="0" dirty="0"/>
              <a:t>.</a:t>
            </a:r>
          </a:p>
          <a:p>
            <a:pPr>
              <a:lnSpc>
                <a:spcPct val="90000"/>
              </a:lnSpc>
            </a:pPr>
            <a:endParaRPr lang="en-US" sz="2800" noProof="0" dirty="0"/>
          </a:p>
          <a:p>
            <a:pPr>
              <a:lnSpc>
                <a:spcPct val="90000"/>
              </a:lnSpc>
            </a:pPr>
            <a:r>
              <a:rPr lang="en-US" sz="2800" noProof="0" dirty="0"/>
              <a:t>Made public in </a:t>
            </a:r>
            <a:r>
              <a:rPr lang="en-US" sz="2800" b="1" noProof="0" dirty="0"/>
              <a:t>1975</a:t>
            </a:r>
            <a:r>
              <a:rPr lang="en-US" sz="2800" noProof="0" dirty="0"/>
              <a:t>.</a:t>
            </a:r>
          </a:p>
          <a:p>
            <a:pPr>
              <a:lnSpc>
                <a:spcPct val="90000"/>
              </a:lnSpc>
            </a:pPr>
            <a:endParaRPr lang="en-US" sz="2800" noProof="0" dirty="0"/>
          </a:p>
          <a:p>
            <a:pPr>
              <a:lnSpc>
                <a:spcPct val="90000"/>
              </a:lnSpc>
            </a:pPr>
            <a:r>
              <a:rPr lang="en-US" sz="2800" noProof="0" dirty="0"/>
              <a:t>Approved as a </a:t>
            </a:r>
            <a:r>
              <a:rPr lang="en-US" sz="2800" b="1" noProof="0" dirty="0">
                <a:solidFill>
                  <a:srgbClr val="0070C0"/>
                </a:solidFill>
              </a:rPr>
              <a:t>US federal standard</a:t>
            </a:r>
            <a:r>
              <a:rPr lang="en-US" sz="2800" noProof="0" dirty="0">
                <a:solidFill>
                  <a:srgbClr val="0070C0"/>
                </a:solidFill>
              </a:rPr>
              <a:t> </a:t>
            </a:r>
            <a:r>
              <a:rPr lang="en-US" sz="2800" noProof="0" dirty="0"/>
              <a:t>in November </a:t>
            </a:r>
            <a:r>
              <a:rPr lang="en-US" sz="2800" b="1" noProof="0" dirty="0"/>
              <a:t>1976</a:t>
            </a:r>
            <a:r>
              <a:rPr lang="en-US" sz="2800" noProof="0" dirty="0"/>
              <a:t>.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0"/>
            <a:ext cx="2438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1524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9976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noProof="0" dirty="0"/>
              <a:t>Criticism of 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85720" y="2000240"/>
                <a:ext cx="8610600" cy="3433778"/>
              </a:xfrm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80000"/>
                  </a:lnSpc>
                </a:pPr>
                <a:endParaRPr lang="en-US" noProof="0" dirty="0"/>
              </a:p>
              <a:p>
                <a:pPr>
                  <a:lnSpc>
                    <a:spcPct val="80000"/>
                  </a:lnSpc>
                </a:pPr>
                <a:r>
                  <a:rPr lang="en-US" noProof="0" dirty="0"/>
                  <a:t>The key is to short (only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56</a:t>
                </a:r>
                <a:r>
                  <a:rPr lang="en-US" noProof="0" dirty="0"/>
                  <a:t> bits).</a:t>
                </a:r>
              </a:p>
              <a:p>
                <a:pPr>
                  <a:lnSpc>
                    <a:spcPct val="80000"/>
                  </a:lnSpc>
                </a:pPr>
                <a:endParaRPr lang="en-US" noProof="0" dirty="0"/>
              </a:p>
              <a:p>
                <a:pPr>
                  <a:lnSpc>
                    <a:spcPct val="80000"/>
                  </a:lnSpc>
                </a:pPr>
                <a:r>
                  <a:rPr lang="en-US" noProof="0" dirty="0"/>
                  <a:t>Unclear role of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NSA</a:t>
                </a:r>
                <a:r>
                  <a:rPr lang="en-US" noProof="0" dirty="0"/>
                  <a:t> in the design </a:t>
                </a:r>
                <a:br>
                  <a:rPr lang="en-US" noProof="0" dirty="0"/>
                </a:br>
                <a:endParaRPr lang="en-US" noProof="0" dirty="0"/>
              </a:p>
              <a:p>
                <a:pPr lvl="1">
                  <a:lnSpc>
                    <a:spcPct val="80000"/>
                  </a:lnSpc>
                </a:pPr>
                <a:r>
                  <a:rPr lang="en-US" noProof="0" dirty="0"/>
                  <a:t> hidden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backdoor</a:t>
                </a:r>
                <a:r>
                  <a:rPr lang="en-US" noProof="0" dirty="0"/>
                  <a:t>?</a:t>
                </a:r>
                <a:br>
                  <a:rPr lang="en-US" noProof="0" dirty="0"/>
                </a:br>
                <a:endParaRPr lang="en-US" noProof="0" dirty="0"/>
              </a:p>
              <a:p>
                <a:pPr lvl="1">
                  <a:lnSpc>
                    <a:spcPct val="80000"/>
                  </a:lnSpc>
                </a:pP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en-US" baseline="30000" noProof="0" dirty="0"/>
                  <a:t> </a:t>
                </a:r>
                <a:r>
                  <a:rPr lang="en-US" noProof="0" dirty="0"/>
                  <a:t>: feasible for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NSA</a:t>
                </a:r>
                <a:r>
                  <a:rPr lang="en-US" noProof="0" dirty="0"/>
                  <a:t>, infeasible for the others</a:t>
                </a:r>
                <a:br>
                  <a:rPr lang="en-US" noProof="0" dirty="0"/>
                </a:br>
                <a:r>
                  <a:rPr lang="en-US" noProof="0" dirty="0"/>
                  <a:t>		(in the </a:t>
                </a:r>
                <a:r>
                  <a:rPr lang="en-US" b="1" noProof="0" dirty="0"/>
                  <a:t>1970s</a:t>
                </a:r>
                <a:r>
                  <a:rPr lang="en-US" noProof="0" dirty="0"/>
                  <a:t>)?</a:t>
                </a:r>
              </a:p>
            </p:txBody>
          </p:sp>
        </mc:Choice>
        <mc:Fallback>
          <p:sp>
            <p:nvSpPr>
              <p:cNvPr id="184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5720" y="2000240"/>
                <a:ext cx="8610600" cy="3433778"/>
              </a:xfrm>
              <a:blipFill>
                <a:blip r:embed="rId3"/>
                <a:stretch>
                  <a:fillRect/>
                </a:stretch>
              </a:blip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35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Security of DES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7161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 noProof="0" dirty="0"/>
              <a:t>The main weakness is the </a:t>
            </a:r>
            <a:r>
              <a:rPr lang="en-US" sz="2400" b="1" noProof="0" dirty="0">
                <a:solidFill>
                  <a:srgbClr val="FF0000"/>
                </a:solidFill>
              </a:rPr>
              <a:t>short key</a:t>
            </a:r>
            <a:r>
              <a:rPr lang="en-US" sz="2400" noProof="0" dirty="0">
                <a:solidFill>
                  <a:srgbClr val="FF0000"/>
                </a:solidFill>
              </a:rPr>
              <a:t> </a:t>
            </a:r>
            <a:r>
              <a:rPr lang="en-US" sz="2400" noProof="0" dirty="0"/>
              <a:t>(</a:t>
            </a:r>
            <a:r>
              <a:rPr lang="en-US" sz="2400" b="1" noProof="0" dirty="0">
                <a:solidFill>
                  <a:srgbClr val="0070C0"/>
                </a:solidFill>
              </a:rPr>
              <a:t>brute-force</a:t>
            </a:r>
            <a:r>
              <a:rPr lang="en-US" sz="2400" noProof="0" dirty="0"/>
              <a:t> attacks are possible).</a:t>
            </a:r>
          </a:p>
          <a:p>
            <a:pPr>
              <a:lnSpc>
                <a:spcPct val="80000"/>
              </a:lnSpc>
            </a:pPr>
            <a:endParaRPr lang="en-US" sz="2400" noProof="0" dirty="0"/>
          </a:p>
          <a:p>
            <a:pPr>
              <a:lnSpc>
                <a:spcPct val="80000"/>
              </a:lnSpc>
            </a:pPr>
            <a:r>
              <a:rPr lang="en-US" sz="2400" noProof="0" dirty="0"/>
              <a:t>Also the </a:t>
            </a:r>
            <a:r>
              <a:rPr lang="en-US" sz="2400" b="1" noProof="0" dirty="0">
                <a:solidFill>
                  <a:srgbClr val="FF0000"/>
                </a:solidFill>
              </a:rPr>
              <a:t>block length is too small</a:t>
            </a:r>
            <a:r>
              <a:rPr lang="en-US" sz="2400" noProof="0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sz="2000" noProof="0" dirty="0"/>
          </a:p>
        </p:txBody>
      </p:sp>
      <p:sp>
        <p:nvSpPr>
          <p:cNvPr id="4" name="Rectangle 3"/>
          <p:cNvSpPr/>
          <p:nvPr/>
        </p:nvSpPr>
        <p:spPr>
          <a:xfrm>
            <a:off x="1214414" y="3357562"/>
            <a:ext cx="7572428" cy="3046988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800" noProof="0" dirty="0"/>
              <a:t>Apart from this – </a:t>
            </a:r>
            <a:r>
              <a:rPr lang="en-US" sz="2800" b="1" noProof="0" dirty="0">
                <a:solidFill>
                  <a:srgbClr val="009900"/>
                </a:solidFill>
              </a:rPr>
              <a:t>a very secure design</a:t>
            </a:r>
            <a:r>
              <a:rPr lang="en-US" sz="2800" noProof="0" dirty="0"/>
              <a:t>:</a:t>
            </a:r>
            <a:br>
              <a:rPr lang="en-US" sz="2800" noProof="0" dirty="0"/>
            </a:br>
            <a:br>
              <a:rPr lang="en-US" sz="2800" noProof="0" dirty="0"/>
            </a:br>
            <a:r>
              <a:rPr lang="en-US" sz="2800" noProof="0" dirty="0"/>
              <a:t>after almost </a:t>
            </a:r>
            <a:r>
              <a:rPr lang="en-US" sz="2800" b="1" noProof="0" dirty="0">
                <a:solidFill>
                  <a:srgbClr val="FF0000"/>
                </a:solidFill>
              </a:rPr>
              <a:t>5 decades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still the most practical attack is </a:t>
            </a:r>
            <a:r>
              <a:rPr lang="en-US" sz="2800" b="1" noProof="0" dirty="0"/>
              <a:t>brute-force</a:t>
            </a:r>
            <a:r>
              <a:rPr lang="en-US" sz="2800" noProof="0" dirty="0"/>
              <a:t>!</a:t>
            </a:r>
          </a:p>
          <a:p>
            <a:pPr>
              <a:lnSpc>
                <a:spcPct val="80000"/>
              </a:lnSpc>
            </a:pPr>
            <a:endParaRPr lang="en-US" sz="2800" noProof="0" dirty="0"/>
          </a:p>
          <a:p>
            <a:pPr>
              <a:lnSpc>
                <a:spcPct val="80000"/>
              </a:lnSpc>
            </a:pPr>
            <a:r>
              <a:rPr lang="en-US" sz="2800" noProof="0" dirty="0"/>
              <a:t>The only attacks so far:</a:t>
            </a:r>
          </a:p>
          <a:p>
            <a:pPr marL="457200" indent="-457200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b="1" noProof="0" dirty="0">
                <a:solidFill>
                  <a:srgbClr val="FF0000"/>
                </a:solidFill>
              </a:rPr>
              <a:t>differential cryptanalysis</a:t>
            </a:r>
          </a:p>
          <a:p>
            <a:pPr marL="457200" indent="-457200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b="1" noProof="0" dirty="0">
                <a:solidFill>
                  <a:srgbClr val="FF0000"/>
                </a:solidFill>
              </a:rPr>
              <a:t>linear cryptanalysis</a:t>
            </a:r>
          </a:p>
          <a:p>
            <a:pPr>
              <a:lnSpc>
                <a:spcPct val="80000"/>
              </a:lnSpc>
            </a:pPr>
            <a:r>
              <a:rPr lang="en-US" sz="2400" noProof="0" dirty="0"/>
              <a:t>are rather theoretical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41001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28596" y="4322617"/>
            <a:ext cx="7715304" cy="229985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 anchor="ctr"/>
          <a:lstStyle/>
          <a:p>
            <a:r>
              <a:rPr lang="en-US" sz="2400" noProof="0" dirty="0"/>
              <a:t>"</a:t>
            </a:r>
            <a:r>
              <a:rPr lang="en-US" sz="2400" b="1" noProof="0" dirty="0">
                <a:solidFill>
                  <a:schemeClr val="accent2"/>
                </a:solidFill>
              </a:rPr>
              <a:t>NSA</a:t>
            </a:r>
            <a:r>
              <a:rPr lang="en-US" sz="2400" noProof="0" dirty="0"/>
              <a:t> did not tamper with the design of the algorithm in any way. </a:t>
            </a:r>
            <a:r>
              <a:rPr lang="en-US" sz="2400" b="1" noProof="0" dirty="0">
                <a:solidFill>
                  <a:schemeClr val="accent2"/>
                </a:solidFill>
              </a:rPr>
              <a:t>IBM</a:t>
            </a:r>
            <a:r>
              <a:rPr lang="en-US" sz="2400" noProof="0" dirty="0"/>
              <a:t> invented and designed the algorithm, made all pertinent decisions regarding it, and concurred that the agreed upon key size was </a:t>
            </a:r>
            <a:r>
              <a:rPr lang="en-US" sz="2400" b="1" u="sng" noProof="0" dirty="0">
                <a:solidFill>
                  <a:srgbClr val="0070C0"/>
                </a:solidFill>
              </a:rPr>
              <a:t>more than adequate</a:t>
            </a:r>
            <a:r>
              <a:rPr lang="en-US" sz="2400" noProof="0" dirty="0"/>
              <a:t> for all commercial applications for which the </a:t>
            </a:r>
            <a:r>
              <a:rPr lang="en-US" sz="2400" b="1" noProof="0" dirty="0">
                <a:solidFill>
                  <a:schemeClr val="accent2"/>
                </a:solidFill>
              </a:rPr>
              <a:t>DES</a:t>
            </a:r>
            <a:r>
              <a:rPr lang="en-US" sz="2400" noProof="0" dirty="0"/>
              <a:t> was intended."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269833" y="1812175"/>
            <a:ext cx="7572428" cy="22569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anchor="ctr"/>
          <a:lstStyle/>
          <a:p>
            <a:r>
              <a:rPr lang="en-US" sz="2400" noProof="0" dirty="0"/>
              <a:t>"In the development of </a:t>
            </a:r>
            <a:r>
              <a:rPr lang="en-US" sz="2400" b="1" noProof="0" dirty="0"/>
              <a:t>DES</a:t>
            </a:r>
            <a:r>
              <a:rPr lang="en-US" sz="2400" noProof="0" dirty="0"/>
              <a:t>, </a:t>
            </a:r>
            <a:r>
              <a:rPr lang="en-US" sz="2400" b="1" noProof="0" dirty="0">
                <a:solidFill>
                  <a:schemeClr val="accent2"/>
                </a:solidFill>
              </a:rPr>
              <a:t>NSA</a:t>
            </a:r>
            <a:r>
              <a:rPr lang="en-US" sz="2400" noProof="0" dirty="0"/>
              <a:t> convinced </a:t>
            </a:r>
            <a:r>
              <a:rPr lang="en-US" sz="2400" b="1" noProof="0" dirty="0">
                <a:solidFill>
                  <a:schemeClr val="accent2"/>
                </a:solidFill>
              </a:rPr>
              <a:t>IBM</a:t>
            </a:r>
            <a:r>
              <a:rPr lang="en-US" sz="2400" noProof="0" dirty="0"/>
              <a:t> that a reduced key size was sufficient; indirectly assisted in the development of the </a:t>
            </a:r>
            <a:r>
              <a:rPr lang="en-US" sz="2400" b="1" noProof="0" dirty="0">
                <a:solidFill>
                  <a:srgbClr val="FF0000"/>
                </a:solidFill>
              </a:rPr>
              <a:t>S-box</a:t>
            </a:r>
            <a:r>
              <a:rPr lang="en-US" sz="2400" noProof="0" dirty="0"/>
              <a:t> structures; and certified that the final </a:t>
            </a:r>
            <a:r>
              <a:rPr lang="en-US" sz="2400" b="1" noProof="0" dirty="0">
                <a:solidFill>
                  <a:schemeClr val="accent2"/>
                </a:solidFill>
              </a:rPr>
              <a:t>DES</a:t>
            </a:r>
            <a:r>
              <a:rPr lang="en-US" sz="2400" noProof="0" dirty="0"/>
              <a:t> algorithm was, to the best of their knowledge, free from any statistical or mathematical weakness.”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-133004"/>
            <a:ext cx="8229600" cy="1143000"/>
          </a:xfrm>
        </p:spPr>
        <p:txBody>
          <a:bodyPr/>
          <a:lstStyle/>
          <a:p>
            <a:r>
              <a:rPr lang="en-US" noProof="0" dirty="0"/>
              <a:t>The role of NSA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262" y="1009996"/>
            <a:ext cx="8229600" cy="114300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noProof="0" dirty="0"/>
              <a:t>The </a:t>
            </a:r>
            <a:r>
              <a:rPr lang="en-US" sz="2400" b="1" noProof="0" dirty="0">
                <a:solidFill>
                  <a:srgbClr val="FF0000"/>
                </a:solidFill>
              </a:rPr>
              <a:t>United States Senate Select Committee on Intelligence</a:t>
            </a:r>
            <a:r>
              <a:rPr lang="en-US" sz="2400" noProof="0" dirty="0">
                <a:solidFill>
                  <a:srgbClr val="FF0000"/>
                </a:solidFill>
              </a:rPr>
              <a:t> </a:t>
            </a:r>
            <a:r>
              <a:rPr lang="en-US" sz="2400" noProof="0" dirty="0"/>
              <a:t>(</a:t>
            </a:r>
            <a:r>
              <a:rPr lang="en-US" sz="2400" b="1" noProof="0" dirty="0"/>
              <a:t>1978</a:t>
            </a:r>
            <a:r>
              <a:rPr lang="en-US" sz="2400" noProof="0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42810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19460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noProof="0" dirty="0"/>
              <a:t>Brute-force attacks on DES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86766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noProof="0" dirty="0">
                <a:solidFill>
                  <a:srgbClr val="FF0000"/>
                </a:solidFill>
              </a:rPr>
              <a:t>1977</a:t>
            </a:r>
            <a:br>
              <a:rPr lang="en-US" sz="2000" noProof="0" dirty="0"/>
            </a:br>
            <a:r>
              <a:rPr lang="en-US" sz="2000" b="1" noProof="0" dirty="0">
                <a:solidFill>
                  <a:srgbClr val="0070C0"/>
                </a:solidFill>
              </a:rPr>
              <a:t>Diffie</a:t>
            </a:r>
            <a:r>
              <a:rPr lang="en-US" sz="2000" noProof="0" dirty="0"/>
              <a:t> and </a:t>
            </a:r>
            <a:r>
              <a:rPr lang="en-US" sz="2000" b="1" noProof="0" dirty="0">
                <a:solidFill>
                  <a:srgbClr val="0070C0"/>
                </a:solidFill>
              </a:rPr>
              <a:t>Hellman</a:t>
            </a:r>
            <a:r>
              <a:rPr lang="en-US" sz="2000" noProof="0" dirty="0"/>
              <a:t> proposed a machine costing </a:t>
            </a:r>
            <a:r>
              <a:rPr lang="en-US" sz="2000" b="1" noProof="0" dirty="0">
                <a:solidFill>
                  <a:srgbClr val="009900"/>
                </a:solidFill>
              </a:rPr>
              <a:t>20 million $</a:t>
            </a:r>
            <a:r>
              <a:rPr lang="en-US" sz="2000" noProof="0" dirty="0"/>
              <a:t> breaking DES in </a:t>
            </a:r>
            <a:r>
              <a:rPr lang="en-US" sz="2000" b="1" noProof="0" dirty="0">
                <a:solidFill>
                  <a:srgbClr val="009900"/>
                </a:solidFill>
              </a:rPr>
              <a:t>1 day</a:t>
            </a:r>
            <a:r>
              <a:rPr lang="en-US" sz="2000" noProof="0" dirty="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noProof="0" dirty="0"/>
          </a:p>
          <a:p>
            <a:pPr>
              <a:lnSpc>
                <a:spcPct val="80000"/>
              </a:lnSpc>
            </a:pPr>
            <a:r>
              <a:rPr lang="en-US" sz="2000" b="1" noProof="0" dirty="0">
                <a:solidFill>
                  <a:srgbClr val="FF0000"/>
                </a:solidFill>
              </a:rPr>
              <a:t>1993</a:t>
            </a:r>
            <a:br>
              <a:rPr lang="en-US" sz="2000" noProof="0" dirty="0"/>
            </a:br>
            <a:r>
              <a:rPr lang="en-US" sz="2000" b="1" noProof="0" dirty="0">
                <a:solidFill>
                  <a:srgbClr val="0070C0"/>
                </a:solidFill>
              </a:rPr>
              <a:t>Wiener</a:t>
            </a:r>
            <a:r>
              <a:rPr lang="en-US" sz="2000" noProof="0" dirty="0"/>
              <a:t> proposed a machine costing </a:t>
            </a:r>
            <a:r>
              <a:rPr lang="en-US" sz="2000" b="1" noProof="0" dirty="0">
                <a:solidFill>
                  <a:srgbClr val="009900"/>
                </a:solidFill>
              </a:rPr>
              <a:t>1 million $</a:t>
            </a:r>
            <a:r>
              <a:rPr lang="en-US" sz="2000" noProof="0" dirty="0"/>
              <a:t> breaking DES in </a:t>
            </a:r>
            <a:r>
              <a:rPr lang="en-US" sz="2000" b="1" noProof="0" dirty="0">
                <a:solidFill>
                  <a:srgbClr val="009900"/>
                </a:solidFill>
              </a:rPr>
              <a:t>7 hours</a:t>
            </a:r>
            <a:r>
              <a:rPr lang="en-US" sz="2000" noProof="0" dirty="0"/>
              <a:t>.</a:t>
            </a:r>
          </a:p>
          <a:p>
            <a:pPr>
              <a:lnSpc>
                <a:spcPct val="80000"/>
              </a:lnSpc>
            </a:pPr>
            <a:endParaRPr lang="en-US" sz="2000" noProof="0" dirty="0"/>
          </a:p>
          <a:p>
            <a:pPr>
              <a:lnSpc>
                <a:spcPct val="80000"/>
              </a:lnSpc>
            </a:pPr>
            <a:r>
              <a:rPr lang="en-US" sz="2000" b="1" noProof="0" dirty="0">
                <a:solidFill>
                  <a:srgbClr val="FF0000"/>
                </a:solidFill>
              </a:rPr>
              <a:t>1997</a:t>
            </a:r>
            <a:br>
              <a:rPr lang="en-US" sz="2000" noProof="0" dirty="0"/>
            </a:br>
            <a:r>
              <a:rPr lang="en-US" sz="2000" b="1" noProof="0" dirty="0">
                <a:solidFill>
                  <a:srgbClr val="0070C0"/>
                </a:solidFill>
              </a:rPr>
              <a:t>DESCHALL</a:t>
            </a:r>
            <a:r>
              <a:rPr lang="en-US" sz="2000" noProof="0" dirty="0"/>
              <a:t> Project broke a “</a:t>
            </a:r>
            <a:r>
              <a:rPr lang="en-US" sz="2000" b="1" noProof="0" dirty="0"/>
              <a:t>DES Challenge</a:t>
            </a:r>
            <a:r>
              <a:rPr lang="en-US" sz="2000" noProof="0" dirty="0"/>
              <a:t>” (published by </a:t>
            </a:r>
            <a:r>
              <a:rPr lang="en-US" sz="2000" b="1" noProof="0" dirty="0"/>
              <a:t>RSA</a:t>
            </a:r>
            <a:r>
              <a:rPr lang="en-US" sz="2000" noProof="0" dirty="0"/>
              <a:t>) in </a:t>
            </a:r>
            <a:r>
              <a:rPr lang="en-US" sz="2000" b="1" noProof="0" dirty="0">
                <a:solidFill>
                  <a:srgbClr val="009900"/>
                </a:solidFill>
              </a:rPr>
              <a:t>96 days</a:t>
            </a:r>
            <a:r>
              <a:rPr lang="en-US" sz="2000" noProof="0" dirty="0"/>
              <a:t> using idle cycles of thousands of computers across the Internet.</a:t>
            </a:r>
          </a:p>
          <a:p>
            <a:pPr>
              <a:lnSpc>
                <a:spcPct val="80000"/>
              </a:lnSpc>
            </a:pPr>
            <a:endParaRPr lang="en-US" sz="2000" noProof="0" dirty="0"/>
          </a:p>
          <a:p>
            <a:pPr>
              <a:lnSpc>
                <a:spcPct val="80000"/>
              </a:lnSpc>
            </a:pPr>
            <a:r>
              <a:rPr lang="en-US" sz="2000" b="1" noProof="0" dirty="0">
                <a:solidFill>
                  <a:srgbClr val="FF0000"/>
                </a:solidFill>
              </a:rPr>
              <a:t>1998</a:t>
            </a:r>
            <a:r>
              <a:rPr lang="en-US" sz="2000" noProof="0" dirty="0">
                <a:solidFill>
                  <a:srgbClr val="FF0000"/>
                </a:solidFill>
              </a:rPr>
              <a:t> </a:t>
            </a:r>
            <a:br>
              <a:rPr lang="en-US" sz="2000" noProof="0" dirty="0"/>
            </a:br>
            <a:r>
              <a:rPr lang="en-US" sz="2000" noProof="0" dirty="0"/>
              <a:t>a </a:t>
            </a:r>
            <a:r>
              <a:rPr lang="en-US" sz="2000" b="1" noProof="0" dirty="0">
                <a:solidFill>
                  <a:srgbClr val="0070C0"/>
                </a:solidFill>
              </a:rPr>
              <a:t>DES-cracker</a:t>
            </a:r>
            <a:r>
              <a:rPr lang="en-US" sz="2000" noProof="0" dirty="0"/>
              <a:t> was built by the </a:t>
            </a:r>
            <a:r>
              <a:rPr lang="en-US" sz="2000" b="1" noProof="0" dirty="0"/>
              <a:t>Electronic Frontier Foundation (EFF),</a:t>
            </a:r>
            <a:r>
              <a:rPr lang="en-US" sz="2000" noProof="0" dirty="0"/>
              <a:t> at the cost of approximately </a:t>
            </a:r>
            <a:r>
              <a:rPr lang="en-US" sz="2000" b="1" noProof="0" dirty="0">
                <a:solidFill>
                  <a:srgbClr val="009900"/>
                </a:solidFill>
              </a:rPr>
              <a:t>250,000$</a:t>
            </a:r>
            <a:br>
              <a:rPr lang="en-US" sz="2000" noProof="0" dirty="0"/>
            </a:br>
            <a:endParaRPr lang="en-US" sz="2000" noProof="0" dirty="0"/>
          </a:p>
          <a:p>
            <a:pPr>
              <a:lnSpc>
                <a:spcPct val="80000"/>
              </a:lnSpc>
            </a:pPr>
            <a:r>
              <a:rPr lang="en-US" sz="2000" b="1" noProof="0" dirty="0">
                <a:solidFill>
                  <a:srgbClr val="FF0000"/>
                </a:solidFill>
              </a:rPr>
              <a:t>2000s </a:t>
            </a:r>
            <a:br>
              <a:rPr lang="en-US" sz="2000" b="1" noProof="0" dirty="0">
                <a:solidFill>
                  <a:srgbClr val="FF0000"/>
                </a:solidFill>
              </a:rPr>
            </a:br>
            <a:r>
              <a:rPr lang="en-US" sz="2000" b="1" noProof="0" dirty="0">
                <a:solidFill>
                  <a:srgbClr val="0070C0"/>
                </a:solidFill>
              </a:rPr>
              <a:t>COPACOBANA</a:t>
            </a:r>
            <a:r>
              <a:rPr lang="en-US" sz="2000" noProof="0" dirty="0"/>
              <a:t>  (the Cost-Optimized Parallel </a:t>
            </a:r>
            <a:r>
              <a:rPr lang="en-US" sz="2000" noProof="0" dirty="0" err="1"/>
              <a:t>COde</a:t>
            </a:r>
            <a:r>
              <a:rPr lang="en-US" sz="2000" noProof="0" dirty="0"/>
              <a:t> Breaker) breaks </a:t>
            </a:r>
            <a:r>
              <a:rPr lang="en-US" sz="2000" b="1" noProof="0" dirty="0"/>
              <a:t>DES</a:t>
            </a:r>
            <a:r>
              <a:rPr lang="en-US" sz="2000" noProof="0" dirty="0"/>
              <a:t> in </a:t>
            </a:r>
            <a:r>
              <a:rPr lang="en-US" sz="2000" b="1" noProof="0" dirty="0">
                <a:solidFill>
                  <a:srgbClr val="00B050"/>
                </a:solidFill>
              </a:rPr>
              <a:t>1 week </a:t>
            </a:r>
            <a:r>
              <a:rPr lang="en-US" sz="2000" noProof="0" dirty="0"/>
              <a:t>and costs </a:t>
            </a:r>
            <a:r>
              <a:rPr lang="en-US" sz="2000" b="1" noProof="0" dirty="0">
                <a:solidFill>
                  <a:srgbClr val="009900"/>
                </a:solidFill>
              </a:rPr>
              <a:t>10,000$</a:t>
            </a:r>
          </a:p>
        </p:txBody>
      </p:sp>
    </p:spTree>
    <p:extLst>
      <p:ext uri="{BB962C8B-B14F-4D97-AF65-F5344CB8AC3E}">
        <p14:creationId xmlns:p14="http://schemas.microsoft.com/office/powerpoint/2010/main" val="381468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81000"/>
            <a:ext cx="2870200" cy="300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225800"/>
            <a:ext cx="4114800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6003925" y="3236913"/>
            <a:ext cx="1479550" cy="366712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noProof="0" dirty="0"/>
              <a:t>DES-cracker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1889125" y="5751513"/>
            <a:ext cx="1797050" cy="366712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noProof="0" dirty="0"/>
              <a:t>COPACOBANA</a:t>
            </a:r>
          </a:p>
        </p:txBody>
      </p:sp>
    </p:spTree>
    <p:extLst>
      <p:ext uri="{BB962C8B-B14F-4D97-AF65-F5344CB8AC3E}">
        <p14:creationId xmlns:p14="http://schemas.microsoft.com/office/powerpoint/2010/main" val="259251359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000" noProof="0" dirty="0"/>
              <a:t>Theoretical attacks on DES – differential cryptoanalysis  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133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noProof="0" dirty="0"/>
              <a:t>Biham and Shamir (late 1980s):</a:t>
            </a:r>
            <a:r>
              <a:rPr lang="en-US" sz="1800" noProof="0" dirty="0"/>
              <a:t> </a:t>
            </a:r>
            <a:br>
              <a:rPr lang="en-US" sz="1800" noProof="0" dirty="0"/>
            </a:br>
            <a:endParaRPr lang="en-US" sz="1800" noProof="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noProof="0" dirty="0">
                <a:solidFill>
                  <a:srgbClr val="FF0000"/>
                </a:solidFill>
              </a:rPr>
              <a:t>differential cryptoanalysis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b="1" noProof="0" dirty="0">
              <a:solidFill>
                <a:srgbClr val="80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noProof="0" dirty="0"/>
              <a:t>They show how to break </a:t>
            </a:r>
            <a:r>
              <a:rPr lang="en-US" sz="1800" b="1" noProof="0" dirty="0">
                <a:solidFill>
                  <a:srgbClr val="0070C0"/>
                </a:solidFill>
              </a:rPr>
              <a:t>DES</a:t>
            </a:r>
            <a:r>
              <a:rPr lang="en-US" sz="1800" noProof="0" dirty="0"/>
              <a:t> using a </a:t>
            </a:r>
            <a:r>
              <a:rPr lang="en-US" sz="1800" b="1" noProof="0" dirty="0">
                <a:solidFill>
                  <a:srgbClr val="0070C0"/>
                </a:solidFill>
              </a:rPr>
              <a:t>chosen-plaintext attack</a:t>
            </a:r>
            <a:r>
              <a:rPr lang="en-US" sz="1800" noProof="0" dirty="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noProof="0" dirty="0"/>
          </a:p>
          <a:p>
            <a:pPr>
              <a:lnSpc>
                <a:spcPct val="80000"/>
              </a:lnSpc>
              <a:buFontTx/>
              <a:buNone/>
            </a:pPr>
            <a:endParaRPr lang="en-US" sz="800" noProof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800" noProof="0" dirty="0"/>
              <a:t> </a:t>
            </a:r>
          </a:p>
        </p:txBody>
      </p:sp>
      <p:pic>
        <p:nvPicPr>
          <p:cNvPr id="35844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4267200"/>
            <a:ext cx="1841500" cy="1273175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5334000" y="441960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800" b="1" noProof="0" dirty="0" err="1"/>
              <a:t>DES</a:t>
            </a:r>
            <a:r>
              <a:rPr lang="en-US" sz="2800" b="1" baseline="-25000" noProof="0" dirty="0" err="1"/>
              <a:t>k</a:t>
            </a:r>
            <a:endParaRPr lang="en-US" sz="2800" b="1" baseline="-25000" noProof="0" dirty="0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3276600" y="45720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H="1">
            <a:off x="3276600" y="5029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3657600" y="4343400"/>
            <a:ext cx="10382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noProof="0" dirty="0"/>
              <a:t>plaintext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3581400" y="4800600"/>
            <a:ext cx="12192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/>
            <a:r>
              <a:rPr lang="en-US" noProof="0" dirty="0"/>
              <a:t>ciphertext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850" name="Text Box 10"/>
              <p:cNvSpPr txBox="1">
                <a:spLocks noChangeArrowheads="1"/>
              </p:cNvSpPr>
              <p:nvPr/>
            </p:nvSpPr>
            <p:spPr bwMode="auto">
              <a:xfrm>
                <a:off x="3505200" y="3429000"/>
                <a:ext cx="120097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𝟒𝟕</m:t>
                    </m:r>
                  </m:oMath>
                </a14:m>
                <a:r>
                  <a:rPr lang="en-US" sz="2000" noProof="0" dirty="0"/>
                  <a:t> times</a:t>
                </a:r>
              </a:p>
            </p:txBody>
          </p:sp>
        </mc:Choice>
        <mc:Fallback>
          <p:sp>
            <p:nvSpPr>
              <p:cNvPr id="3585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3429000"/>
                <a:ext cx="1200970" cy="400110"/>
              </a:xfrm>
              <a:prstGeom prst="rect">
                <a:avLst/>
              </a:prstGeom>
              <a:blipFill>
                <a:blip r:embed="rId4"/>
                <a:stretch>
                  <a:fillRect t="-9375" r="-4211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51" name="AutoShape 11"/>
          <p:cNvSpPr>
            <a:spLocks/>
          </p:cNvSpPr>
          <p:nvPr/>
        </p:nvSpPr>
        <p:spPr bwMode="auto">
          <a:xfrm rot="5400000">
            <a:off x="3924300" y="3162300"/>
            <a:ext cx="381000" cy="1828800"/>
          </a:xfrm>
          <a:prstGeom prst="leftBrace">
            <a:avLst>
              <a:gd name="adj1" fmla="val 4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6096000" y="5918200"/>
            <a:ext cx="2354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noProof="0" dirty="0"/>
              <a:t>Not very practical...</a:t>
            </a:r>
          </a:p>
        </p:txBody>
      </p:sp>
      <p:pic>
        <p:nvPicPr>
          <p:cNvPr id="35854" name="Picture 1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05600" y="1447800"/>
            <a:ext cx="10080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55" name="Picture 1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48600" y="1447800"/>
            <a:ext cx="9953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Down Arrow 14"/>
              <p:cNvSpPr/>
              <p:nvPr/>
            </p:nvSpPr>
            <p:spPr>
              <a:xfrm>
                <a:off x="1357290" y="5643578"/>
                <a:ext cx="1000132" cy="928694"/>
              </a:xfrm>
              <a:prstGeom prst="down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Down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90" y="5643578"/>
                <a:ext cx="1000132" cy="928694"/>
              </a:xfrm>
              <a:prstGeom prst="down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18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nimBg="1"/>
      <p:bldP spid="35846" grpId="0" animBg="1"/>
      <p:bldP spid="35847" grpId="0" animBg="1"/>
      <p:bldP spid="35848" grpId="0" animBg="1"/>
      <p:bldP spid="35849" grpId="0" animBg="1"/>
      <p:bldP spid="35850" grpId="0"/>
      <p:bldP spid="35851" grpId="0" animBg="1"/>
      <p:bldP spid="1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0" y="1828800"/>
            <a:ext cx="9144000" cy="182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65760" anchor="ctr"/>
          <a:lstStyle/>
          <a:p>
            <a:pPr>
              <a:buFontTx/>
              <a:buNone/>
            </a:pPr>
            <a:r>
              <a:rPr lang="en-US" sz="2800" noProof="0" dirty="0"/>
              <a:t>A </a:t>
            </a:r>
            <a:r>
              <a:rPr lang="en-US" sz="2800" b="1" noProof="0" dirty="0"/>
              <a:t>small change</a:t>
            </a:r>
            <a:r>
              <a:rPr lang="en-US" sz="2800" noProof="0" dirty="0"/>
              <a:t> in the design of </a:t>
            </a:r>
            <a:r>
              <a:rPr lang="en-US" sz="2800" b="1" noProof="0" dirty="0">
                <a:solidFill>
                  <a:srgbClr val="FF0000"/>
                </a:solidFill>
              </a:rPr>
              <a:t>DES</a:t>
            </a:r>
            <a:r>
              <a:rPr lang="en-US" sz="2800" noProof="0" dirty="0">
                <a:solidFill>
                  <a:srgbClr val="FF0000"/>
                </a:solidFill>
              </a:rPr>
              <a:t> </a:t>
            </a:r>
            <a:r>
              <a:rPr lang="en-US" sz="2800" noProof="0" dirty="0"/>
              <a:t>would make the </a:t>
            </a:r>
            <a:r>
              <a:rPr lang="en-US" sz="2800" b="1" noProof="0" dirty="0">
                <a:solidFill>
                  <a:srgbClr val="0070C0"/>
                </a:solidFill>
              </a:rPr>
              <a:t>differential cryptanalysis</a:t>
            </a:r>
            <a:r>
              <a:rPr lang="en-US" sz="2800" noProof="0" dirty="0">
                <a:solidFill>
                  <a:srgbClr val="0070C0"/>
                </a:solidFill>
              </a:rPr>
              <a:t> </a:t>
            </a:r>
            <a:r>
              <a:rPr lang="en-US" sz="2800" noProof="0" dirty="0"/>
              <a:t>much more </a:t>
            </a:r>
            <a:r>
              <a:rPr lang="en-US" sz="2800" noProof="0" dirty="0" err="1"/>
              <a:t>sucesfull</a:t>
            </a:r>
            <a:r>
              <a:rPr lang="en-US" sz="2800" noProof="0" dirty="0"/>
              <a:t>.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4953000"/>
            <a:ext cx="2438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Differential cryptoanalysis – an interesting observation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4039985"/>
            <a:ext cx="8229600" cy="2437014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3600" b="1" u="sng" noProof="0" dirty="0">
                <a:solidFill>
                  <a:srgbClr val="FF0000"/>
                </a:solidFill>
              </a:rPr>
              <a:t>Moral</a:t>
            </a:r>
          </a:p>
          <a:p>
            <a:pPr>
              <a:buFontTx/>
              <a:buNone/>
            </a:pPr>
            <a:r>
              <a:rPr lang="en-US" b="1" noProof="0" dirty="0">
                <a:solidFill>
                  <a:schemeClr val="accent2"/>
                </a:solidFill>
              </a:rPr>
              <a:t>NSA</a:t>
            </a:r>
            <a:r>
              <a:rPr lang="en-US" noProof="0" dirty="0"/>
              <a:t> and </a:t>
            </a:r>
            <a:r>
              <a:rPr lang="en-US" b="1" noProof="0" dirty="0">
                <a:solidFill>
                  <a:schemeClr val="accent2"/>
                </a:solidFill>
              </a:rPr>
              <a:t>IBM</a:t>
            </a:r>
            <a:r>
              <a:rPr lang="en-US" noProof="0" dirty="0"/>
              <a:t> knew it!</a:t>
            </a:r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0" y="50292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455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4282" y="5786454"/>
            <a:ext cx="84296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/>
              <a:t>see: Coppersmith, Don (May 1994). "</a:t>
            </a:r>
            <a:r>
              <a:rPr lang="en-US" noProof="0" dirty="0">
                <a:hlinkClick r:id="rId3" tooltip="http://www.research.ibm.com/journal/rd/383/coppersmith.pdf"/>
              </a:rPr>
              <a:t>The Data Encryption Standard (DES) and its strength against attacks</a:t>
            </a:r>
            <a:r>
              <a:rPr lang="en-US" noProof="0" dirty="0"/>
              <a:t>" (PDF). </a:t>
            </a:r>
            <a:r>
              <a:rPr lang="en-US" i="1" noProof="0" dirty="0"/>
              <a:t>IBM Journal of Research and Development</a:t>
            </a:r>
            <a:r>
              <a:rPr lang="en-US" noProof="0" dirty="0"/>
              <a:t> </a:t>
            </a:r>
            <a:r>
              <a:rPr lang="en-US" b="1" noProof="0" dirty="0"/>
              <a:t>38</a:t>
            </a:r>
            <a:r>
              <a:rPr lang="en-US" noProof="0" dirty="0"/>
              <a:t> (3): 243. </a:t>
            </a:r>
            <a:r>
              <a:rPr lang="en-US" noProof="0" dirty="0">
                <a:hlinkClick r:id="rId3" tooltip="http://www.research.ibm.com/journal/rd/383/coppersmith.pdf"/>
              </a:rPr>
              <a:t>http://www.research.ibm.com/journal/rd/383/coppersmith.pdf</a:t>
            </a:r>
            <a:r>
              <a:rPr lang="en-US" noProof="0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58" y="3500438"/>
            <a:ext cx="19050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42844" y="5143512"/>
            <a:ext cx="2373598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noProof="0" dirty="0"/>
              <a:t>Don  Coppersmith, IBM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2214546" y="642918"/>
            <a:ext cx="6572296" cy="4429156"/>
          </a:xfrm>
          <a:prstGeom prst="wedgeRoundRectCallout">
            <a:avLst>
              <a:gd name="adj1" fmla="val -57102"/>
              <a:gd name="adj2" fmla="val 36820"/>
              <a:gd name="adj3" fmla="val 16667"/>
            </a:avLst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noProof="0" dirty="0"/>
              <a:t>"After discussions with NSA, it was decided that </a:t>
            </a:r>
            <a:r>
              <a:rPr lang="en-US" sz="2800" b="1" noProof="0" dirty="0">
                <a:solidFill>
                  <a:srgbClr val="C00000"/>
                </a:solidFill>
              </a:rPr>
              <a:t>disclosure of the design considerations would reveal the technique of differential cryptanalysis</a:t>
            </a:r>
            <a:r>
              <a:rPr lang="en-US" sz="2800" noProof="0" dirty="0"/>
              <a:t>, a powerful technique that could be used against many ciphers. This in turn </a:t>
            </a:r>
            <a:r>
              <a:rPr lang="en-US" sz="2800" b="1" noProof="0" dirty="0">
                <a:solidFill>
                  <a:srgbClr val="C00000"/>
                </a:solidFill>
              </a:rPr>
              <a:t>would weaken the competitive advantage the United States enjoyed over other countries</a:t>
            </a:r>
            <a:r>
              <a:rPr lang="en-US" sz="2800" noProof="0" dirty="0">
                <a:solidFill>
                  <a:srgbClr val="002060"/>
                </a:solidFill>
              </a:rPr>
              <a:t> </a:t>
            </a:r>
            <a:r>
              <a:rPr lang="en-US" sz="2800" noProof="0" dirty="0"/>
              <a:t>in the field of cryptography.”</a:t>
            </a:r>
          </a:p>
        </p:txBody>
      </p:sp>
    </p:spTree>
    <p:extLst>
      <p:ext uri="{BB962C8B-B14F-4D97-AF65-F5344CB8AC3E}">
        <p14:creationId xmlns:p14="http://schemas.microsoft.com/office/powerpoint/2010/main" val="26971024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2141" y="135377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noProof="0" dirty="0"/>
              <a:t>Theoretical attacks on DES – linear cryptoanalysis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14489"/>
                <a:ext cx="5472122" cy="3601897"/>
              </a:xfrm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anchor="ctr" anchorCtr="0"/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800" b="1" noProof="0" dirty="0"/>
                  <a:t>Matsui</a:t>
                </a:r>
                <a:r>
                  <a:rPr lang="en-US" sz="2800" noProof="0" dirty="0"/>
                  <a:t> (early </a:t>
                </a:r>
                <a:r>
                  <a:rPr lang="en-US" sz="2800" b="1" noProof="0" dirty="0"/>
                  <a:t>1990s</a:t>
                </a:r>
                <a:r>
                  <a:rPr lang="en-US" sz="2800" noProof="0" dirty="0"/>
                  <a:t>): </a:t>
                </a:r>
                <a:br>
                  <a:rPr lang="en-US" sz="2800" noProof="0" dirty="0"/>
                </a:br>
                <a:endParaRPr lang="en-US" sz="2800" noProof="0" dirty="0"/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:r>
                  <a:rPr lang="en-US" sz="2800" b="1" noProof="0" dirty="0">
                    <a:solidFill>
                      <a:srgbClr val="FF0000"/>
                    </a:solidFill>
                  </a:rPr>
                  <a:t>linear cryptoanalysis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sz="2800" noProof="0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800" noProof="0" dirty="0"/>
                  <a:t>uses a </a:t>
                </a:r>
                <a:r>
                  <a:rPr lang="en-US" sz="2800" b="1" noProof="0" dirty="0">
                    <a:solidFill>
                      <a:srgbClr val="0070C0"/>
                    </a:solidFill>
                  </a:rPr>
                  <a:t>known-plaintext attack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sz="2800" noProof="0" dirty="0"/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𝟒𝟑</m:t>
                    </m:r>
                  </m:oMath>
                </a14:m>
                <a:r>
                  <a:rPr lang="en-US" sz="2800" noProof="0" dirty="0"/>
                  <a:t> </a:t>
                </a:r>
                <a:r>
                  <a:rPr lang="en-US" sz="2800" b="1" noProof="0" dirty="0">
                    <a:solidFill>
                      <a:schemeClr val="accent2"/>
                    </a:solidFill>
                  </a:rPr>
                  <a:t>(plaintext, ciphertext)</a:t>
                </a:r>
                <a:r>
                  <a:rPr lang="en-US" sz="2800" noProof="0" dirty="0"/>
                  <a:t> pairs </a:t>
                </a:r>
              </a:p>
            </p:txBody>
          </p:sp>
        </mc:Choice>
        <mc:Fallback>
          <p:sp>
            <p:nvSpPr>
              <p:cNvPr id="37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14489"/>
                <a:ext cx="5472122" cy="3601897"/>
              </a:xfrm>
              <a:blipFill>
                <a:blip r:embed="rId3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/>
          <p:cNvSpPr/>
          <p:nvPr/>
        </p:nvSpPr>
        <p:spPr>
          <a:xfrm>
            <a:off x="5419333" y="1809051"/>
            <a:ext cx="3371880" cy="2867341"/>
          </a:xfrm>
          <a:prstGeom prst="leftArrow">
            <a:avLst>
              <a:gd name="adj1" fmla="val 79388"/>
              <a:gd name="adj2" fmla="val 35299"/>
            </a:avLst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this means:</a:t>
            </a:r>
          </a:p>
          <a:p>
            <a:pPr algn="ctr"/>
            <a:r>
              <a:rPr lang="en-US" sz="2400" noProof="0" dirty="0"/>
              <a:t>the adversary doesn’t need to choose the plaintexts</a:t>
            </a:r>
          </a:p>
        </p:txBody>
      </p:sp>
      <p:sp>
        <p:nvSpPr>
          <p:cNvPr id="2" name="TextBox 1"/>
          <p:cNvSpPr txBox="1"/>
          <p:nvPr/>
        </p:nvSpPr>
        <p:spPr>
          <a:xfrm flipH="1">
            <a:off x="1547235" y="5886163"/>
            <a:ext cx="7243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noProof="0" dirty="0"/>
              <a:t>Let’s now discuss in detail how </a:t>
            </a:r>
            <a:r>
              <a:rPr lang="en-US" sz="2800" b="1" noProof="0" dirty="0">
                <a:solidFill>
                  <a:srgbClr val="FF0000"/>
                </a:solidFill>
              </a:rPr>
              <a:t>DES</a:t>
            </a:r>
            <a:r>
              <a:rPr lang="en-US" sz="2800" noProof="0" dirty="0"/>
              <a:t> is built.</a:t>
            </a:r>
          </a:p>
        </p:txBody>
      </p:sp>
    </p:spTree>
    <p:extLst>
      <p:ext uri="{BB962C8B-B14F-4D97-AF65-F5344CB8AC3E}">
        <p14:creationId xmlns:p14="http://schemas.microsoft.com/office/powerpoint/2010/main" val="252434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Rectangle 78"/>
          <p:cNvSpPr>
            <a:spLocks noChangeArrowheads="1"/>
          </p:cNvSpPr>
          <p:nvPr/>
        </p:nvSpPr>
        <p:spPr bwMode="auto">
          <a:xfrm>
            <a:off x="1752600" y="0"/>
            <a:ext cx="1143000" cy="6858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7" name="Rectangular Callout 56"/>
          <p:cNvSpPr/>
          <p:nvPr/>
        </p:nvSpPr>
        <p:spPr>
          <a:xfrm>
            <a:off x="1357290" y="142852"/>
            <a:ext cx="7572428" cy="6429420"/>
          </a:xfrm>
          <a:prstGeom prst="wedgeRectCallout">
            <a:avLst>
              <a:gd name="adj1" fmla="val -54438"/>
              <a:gd name="adj2" fmla="val -34286"/>
            </a:avLst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67" name="Rectangle 23"/>
              <p:cNvSpPr>
                <a:spLocks noChangeArrowheads="1"/>
              </p:cNvSpPr>
              <p:nvPr/>
            </p:nvSpPr>
            <p:spPr bwMode="auto">
              <a:xfrm>
                <a:off x="4953000" y="31242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67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31242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6172200" y="167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57" name="Rectangle 13"/>
              <p:cNvSpPr>
                <a:spLocks noChangeArrowheads="1"/>
              </p:cNvSpPr>
              <p:nvPr/>
            </p:nvSpPr>
            <p:spPr bwMode="auto">
              <a:xfrm>
                <a:off x="4953000" y="14478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57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14478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8" name="Line 14"/>
          <p:cNvSpPr>
            <a:spLocks noChangeShapeType="1"/>
          </p:cNvSpPr>
          <p:nvPr/>
        </p:nvSpPr>
        <p:spPr bwMode="auto">
          <a:xfrm flipH="1">
            <a:off x="4267200" y="167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6159" name="Picture 1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60" name="Line 16"/>
          <p:cNvSpPr>
            <a:spLocks noChangeShapeType="1"/>
          </p:cNvSpPr>
          <p:nvPr/>
        </p:nvSpPr>
        <p:spPr bwMode="auto">
          <a:xfrm>
            <a:off x="41148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162" name="Freeform 18"/>
          <p:cNvSpPr>
            <a:spLocks/>
          </p:cNvSpPr>
          <p:nvPr/>
        </p:nvSpPr>
        <p:spPr bwMode="auto">
          <a:xfrm>
            <a:off x="4114800" y="10668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9" name="Rectangle 5"/>
              <p:cNvSpPr>
                <a:spLocks noChangeArrowheads="1"/>
              </p:cNvSpPr>
              <p:nvPr/>
            </p:nvSpPr>
            <p:spPr bwMode="auto">
              <a:xfrm>
                <a:off x="5486400" y="8382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4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838200"/>
                <a:ext cx="2286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63" name="Freeform 19"/>
          <p:cNvSpPr>
            <a:spLocks/>
          </p:cNvSpPr>
          <p:nvPr/>
        </p:nvSpPr>
        <p:spPr bwMode="auto">
          <a:xfrm flipH="1">
            <a:off x="4114800" y="10668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50" name="Rectangle 6"/>
              <p:cNvSpPr>
                <a:spLocks noChangeArrowheads="1"/>
              </p:cNvSpPr>
              <p:nvPr/>
            </p:nvSpPr>
            <p:spPr bwMode="auto">
              <a:xfrm>
                <a:off x="3200400" y="8382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5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838200"/>
                <a:ext cx="2286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66" name="Line 22"/>
          <p:cNvSpPr>
            <a:spLocks noChangeShapeType="1"/>
          </p:cNvSpPr>
          <p:nvPr/>
        </p:nvSpPr>
        <p:spPr bwMode="auto">
          <a:xfrm flipH="1">
            <a:off x="61722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168" name="Line 24"/>
          <p:cNvSpPr>
            <a:spLocks noChangeShapeType="1"/>
          </p:cNvSpPr>
          <p:nvPr/>
        </p:nvSpPr>
        <p:spPr bwMode="auto">
          <a:xfrm flipH="1">
            <a:off x="42672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6169" name="Picture 2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3200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70" name="Line 26"/>
          <p:cNvSpPr>
            <a:spLocks noChangeShapeType="1"/>
          </p:cNvSpPr>
          <p:nvPr/>
        </p:nvSpPr>
        <p:spPr bwMode="auto">
          <a:xfrm>
            <a:off x="41148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171" name="Freeform 27"/>
          <p:cNvSpPr>
            <a:spLocks/>
          </p:cNvSpPr>
          <p:nvPr/>
        </p:nvSpPr>
        <p:spPr bwMode="auto">
          <a:xfrm>
            <a:off x="4114800" y="27432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72" name="Rectangle 28"/>
              <p:cNvSpPr>
                <a:spLocks noChangeArrowheads="1"/>
              </p:cNvSpPr>
              <p:nvPr/>
            </p:nvSpPr>
            <p:spPr bwMode="auto">
              <a:xfrm>
                <a:off x="5486400" y="251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7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2514600"/>
                <a:ext cx="2286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3" name="Freeform 29"/>
          <p:cNvSpPr>
            <a:spLocks/>
          </p:cNvSpPr>
          <p:nvPr/>
        </p:nvSpPr>
        <p:spPr bwMode="auto">
          <a:xfrm flipH="1">
            <a:off x="4114800" y="27432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74" name="Rectangle 30"/>
              <p:cNvSpPr>
                <a:spLocks noChangeArrowheads="1"/>
              </p:cNvSpPr>
              <p:nvPr/>
            </p:nvSpPr>
            <p:spPr bwMode="auto">
              <a:xfrm>
                <a:off x="3200400" y="251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74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2514600"/>
                <a:ext cx="2286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7" name="Line 33"/>
          <p:cNvSpPr>
            <a:spLocks noChangeShapeType="1"/>
          </p:cNvSpPr>
          <p:nvPr/>
        </p:nvSpPr>
        <p:spPr bwMode="auto">
          <a:xfrm flipH="1">
            <a:off x="6172200" y="525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78" name="Rectangle 34"/>
              <p:cNvSpPr>
                <a:spLocks noChangeArrowheads="1"/>
              </p:cNvSpPr>
              <p:nvPr/>
            </p:nvSpPr>
            <p:spPr bwMode="auto">
              <a:xfrm>
                <a:off x="4953000" y="50292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78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5029200"/>
                <a:ext cx="1219200" cy="381000"/>
              </a:xfrm>
              <a:prstGeom prst="rect">
                <a:avLst/>
              </a:prstGeom>
              <a:blipFill>
                <a:blip r:embed="rId12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9" name="Line 35"/>
          <p:cNvSpPr>
            <a:spLocks noChangeShapeType="1"/>
          </p:cNvSpPr>
          <p:nvPr/>
        </p:nvSpPr>
        <p:spPr bwMode="auto">
          <a:xfrm flipH="1">
            <a:off x="4267200" y="525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6180" name="Picture 3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5105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81" name="Line 37"/>
          <p:cNvSpPr>
            <a:spLocks noChangeShapeType="1"/>
          </p:cNvSpPr>
          <p:nvPr/>
        </p:nvSpPr>
        <p:spPr bwMode="auto">
          <a:xfrm>
            <a:off x="41148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86" name="Rectangle 42"/>
              <p:cNvSpPr>
                <a:spLocks noChangeArrowheads="1"/>
              </p:cNvSpPr>
              <p:nvPr/>
            </p:nvSpPr>
            <p:spPr bwMode="auto">
              <a:xfrm>
                <a:off x="5486400" y="60198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86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6019800"/>
                <a:ext cx="22860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87" name="Rectangle 43"/>
              <p:cNvSpPr>
                <a:spLocks noChangeArrowheads="1"/>
              </p:cNvSpPr>
              <p:nvPr/>
            </p:nvSpPr>
            <p:spPr bwMode="auto">
              <a:xfrm>
                <a:off x="3200400" y="60198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87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6019800"/>
                <a:ext cx="2286000" cy="381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88" name="Text Box 44"/>
          <p:cNvSpPr txBox="1">
            <a:spLocks noChangeArrowheads="1"/>
          </p:cNvSpPr>
          <p:nvPr/>
        </p:nvSpPr>
        <p:spPr bwMode="auto">
          <a:xfrm rot="5400000">
            <a:off x="5326832" y="4062983"/>
            <a:ext cx="647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3200" b="1" noProof="0" dirty="0">
                <a:solidFill>
                  <a:srgbClr val="FF0000"/>
                </a:solidFill>
              </a:rPr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89" name="Text Box 45"/>
              <p:cNvSpPr txBox="1">
                <a:spLocks noChangeArrowheads="1"/>
              </p:cNvSpPr>
              <p:nvPr/>
            </p:nvSpPr>
            <p:spPr bwMode="auto">
              <a:xfrm rot="5400000">
                <a:off x="7099838" y="3015739"/>
                <a:ext cx="274320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noProof="0" dirty="0"/>
                  <a:t>  “Feistel rounds”</a:t>
                </a:r>
              </a:p>
            </p:txBody>
          </p:sp>
        </mc:Choice>
        <mc:Fallback>
          <p:sp>
            <p:nvSpPr>
              <p:cNvPr id="6189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7099838" y="3015739"/>
                <a:ext cx="2743207" cy="369332"/>
              </a:xfrm>
              <a:prstGeom prst="rect">
                <a:avLst/>
              </a:prstGeom>
              <a:blipFill>
                <a:blip r:embed="rId15"/>
                <a:stretch>
                  <a:fillRect l="-26667" r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90" name="AutoShape 46"/>
          <p:cNvSpPr>
            <a:spLocks/>
          </p:cNvSpPr>
          <p:nvPr/>
        </p:nvSpPr>
        <p:spPr bwMode="auto">
          <a:xfrm flipH="1">
            <a:off x="7772400" y="1295400"/>
            <a:ext cx="457200" cy="4648200"/>
          </a:xfrm>
          <a:prstGeom prst="leftBrace">
            <a:avLst>
              <a:gd name="adj1" fmla="val 8472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97" name="Text Box 53"/>
              <p:cNvSpPr txBox="1">
                <a:spLocks noChangeArrowheads="1"/>
              </p:cNvSpPr>
              <p:nvPr/>
            </p:nvSpPr>
            <p:spPr bwMode="auto">
              <a:xfrm>
                <a:off x="2133600" y="3048000"/>
                <a:ext cx="4572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97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3048000"/>
                <a:ext cx="457200" cy="3698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98" name="Text Box 54"/>
          <p:cNvSpPr txBox="1">
            <a:spLocks noChangeArrowheads="1"/>
          </p:cNvSpPr>
          <p:nvPr/>
        </p:nvSpPr>
        <p:spPr bwMode="auto">
          <a:xfrm rot="5400000">
            <a:off x="2123663" y="4006067"/>
            <a:ext cx="647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3200" b="1" noProof="0" dirty="0">
                <a:solidFill>
                  <a:srgbClr val="FF0000"/>
                </a:solidFill>
              </a:rPr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99" name="Text Box 55"/>
              <p:cNvSpPr txBox="1">
                <a:spLocks noChangeArrowheads="1"/>
              </p:cNvSpPr>
              <p:nvPr/>
            </p:nvSpPr>
            <p:spPr bwMode="auto">
              <a:xfrm>
                <a:off x="2133600" y="5029200"/>
                <a:ext cx="533400" cy="37306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99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5029200"/>
                <a:ext cx="533400" cy="37306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01" name="AutoShape 57"/>
          <p:cNvSpPr>
            <a:spLocks noChangeArrowheads="1"/>
          </p:cNvSpPr>
          <p:nvPr/>
        </p:nvSpPr>
        <p:spPr bwMode="auto">
          <a:xfrm rot="-3944157">
            <a:off x="742950" y="2595563"/>
            <a:ext cx="2073275" cy="228600"/>
          </a:xfrm>
          <a:prstGeom prst="rightArrow">
            <a:avLst>
              <a:gd name="adj1" fmla="val 50000"/>
              <a:gd name="adj2" fmla="val 22673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202" name="AutoShape 58"/>
          <p:cNvSpPr>
            <a:spLocks noChangeArrowheads="1"/>
          </p:cNvSpPr>
          <p:nvPr/>
        </p:nvSpPr>
        <p:spPr bwMode="auto">
          <a:xfrm rot="-24414141">
            <a:off x="1104900" y="3390900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203" name="AutoShape 59"/>
          <p:cNvSpPr>
            <a:spLocks noChangeArrowheads="1"/>
          </p:cNvSpPr>
          <p:nvPr/>
        </p:nvSpPr>
        <p:spPr bwMode="auto">
          <a:xfrm rot="-19456842">
            <a:off x="838200" y="4572000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96" name="Text Box 52"/>
              <p:cNvSpPr txBox="1">
                <a:spLocks noChangeArrowheads="1"/>
              </p:cNvSpPr>
              <p:nvPr/>
            </p:nvSpPr>
            <p:spPr bwMode="auto">
              <a:xfrm>
                <a:off x="2133600" y="1371600"/>
                <a:ext cx="5334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96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1371600"/>
                <a:ext cx="533400" cy="3698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08" name="AutoShape 64"/>
          <p:cNvSpPr>
            <a:spLocks noChangeArrowheads="1"/>
          </p:cNvSpPr>
          <p:nvPr/>
        </p:nvSpPr>
        <p:spPr bwMode="auto">
          <a:xfrm>
            <a:off x="2571736" y="1357298"/>
            <a:ext cx="2457464" cy="242902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209" name="AutoShape 65"/>
          <p:cNvSpPr>
            <a:spLocks noChangeArrowheads="1"/>
          </p:cNvSpPr>
          <p:nvPr/>
        </p:nvSpPr>
        <p:spPr bwMode="auto">
          <a:xfrm>
            <a:off x="2514600" y="30480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210" name="AutoShape 66"/>
          <p:cNvSpPr>
            <a:spLocks noChangeArrowheads="1"/>
          </p:cNvSpPr>
          <p:nvPr/>
        </p:nvSpPr>
        <p:spPr bwMode="auto">
          <a:xfrm>
            <a:off x="2590800" y="49530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211" name="Line 67"/>
          <p:cNvSpPr>
            <a:spLocks noChangeShapeType="1"/>
          </p:cNvSpPr>
          <p:nvPr/>
        </p:nvSpPr>
        <p:spPr bwMode="auto">
          <a:xfrm>
            <a:off x="4648200" y="5334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212" name="Line 68"/>
          <p:cNvSpPr>
            <a:spLocks noChangeShapeType="1"/>
          </p:cNvSpPr>
          <p:nvPr/>
        </p:nvSpPr>
        <p:spPr bwMode="auto">
          <a:xfrm flipH="1">
            <a:off x="3200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213" name="Line 69"/>
          <p:cNvSpPr>
            <a:spLocks noChangeShapeType="1"/>
          </p:cNvSpPr>
          <p:nvPr/>
        </p:nvSpPr>
        <p:spPr bwMode="auto">
          <a:xfrm>
            <a:off x="3200400" y="457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15" name="Text Box 71"/>
              <p:cNvSpPr txBox="1">
                <a:spLocks noChangeArrowheads="1"/>
              </p:cNvSpPr>
              <p:nvPr/>
            </p:nvSpPr>
            <p:spPr bwMode="auto">
              <a:xfrm>
                <a:off x="4053618" y="320656"/>
                <a:ext cx="70243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215" name="Text 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3618" y="320656"/>
                <a:ext cx="702436" cy="369332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16" name="Line 72"/>
          <p:cNvSpPr>
            <a:spLocks noChangeShapeType="1"/>
          </p:cNvSpPr>
          <p:nvPr/>
        </p:nvSpPr>
        <p:spPr bwMode="auto">
          <a:xfrm>
            <a:off x="6934200" y="5334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217" name="Line 73"/>
          <p:cNvSpPr>
            <a:spLocks noChangeShapeType="1"/>
          </p:cNvSpPr>
          <p:nvPr/>
        </p:nvSpPr>
        <p:spPr bwMode="auto">
          <a:xfrm flipH="1">
            <a:off x="5486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218" name="Line 74"/>
          <p:cNvSpPr>
            <a:spLocks noChangeShapeType="1"/>
          </p:cNvSpPr>
          <p:nvPr/>
        </p:nvSpPr>
        <p:spPr bwMode="auto">
          <a:xfrm>
            <a:off x="5486400" y="457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219" name="Line 75"/>
          <p:cNvSpPr>
            <a:spLocks noChangeShapeType="1"/>
          </p:cNvSpPr>
          <p:nvPr/>
        </p:nvSpPr>
        <p:spPr bwMode="auto">
          <a:xfrm>
            <a:off x="7772400" y="457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20" name="Text Box 76"/>
              <p:cNvSpPr txBox="1">
                <a:spLocks noChangeArrowheads="1"/>
              </p:cNvSpPr>
              <p:nvPr/>
            </p:nvSpPr>
            <p:spPr bwMode="auto">
              <a:xfrm>
                <a:off x="6339617" y="304800"/>
                <a:ext cx="70243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220" name="Text 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9617" y="304800"/>
                <a:ext cx="702436" cy="369332"/>
              </a:xfrm>
              <a:prstGeom prst="rect">
                <a:avLst/>
              </a:prstGeom>
              <a:blipFill>
                <a:blip r:embed="rId20"/>
                <a:stretch>
                  <a:fillRect b="-16667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21" name="Text Box 77"/>
          <p:cNvSpPr txBox="1">
            <a:spLocks noChangeArrowheads="1"/>
          </p:cNvSpPr>
          <p:nvPr/>
        </p:nvSpPr>
        <p:spPr bwMode="auto">
          <a:xfrm>
            <a:off x="1772285" y="304800"/>
            <a:ext cx="10035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noProof="0" dirty="0"/>
              <a:t>subkeys:</a:t>
            </a:r>
          </a:p>
        </p:txBody>
      </p:sp>
      <p:sp>
        <p:nvSpPr>
          <p:cNvPr id="6223" name="Line 79"/>
          <p:cNvSpPr>
            <a:spLocks noChangeShapeType="1"/>
          </p:cNvSpPr>
          <p:nvPr/>
        </p:nvSpPr>
        <p:spPr bwMode="auto">
          <a:xfrm>
            <a:off x="41148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6224" name="Line 80"/>
          <p:cNvSpPr>
            <a:spLocks noChangeShapeType="1"/>
          </p:cNvSpPr>
          <p:nvPr/>
        </p:nvSpPr>
        <p:spPr bwMode="auto">
          <a:xfrm>
            <a:off x="6858000" y="4800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92" name="Text Box 48"/>
              <p:cNvSpPr txBox="1">
                <a:spLocks noChangeArrowheads="1"/>
              </p:cNvSpPr>
              <p:nvPr/>
            </p:nvSpPr>
            <p:spPr bwMode="auto">
              <a:xfrm>
                <a:off x="323668" y="2270729"/>
                <a:ext cx="1219200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92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668" y="2270729"/>
                <a:ext cx="1219200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00" name="AutoShape 56"/>
          <p:cNvSpPr>
            <a:spLocks noChangeArrowheads="1"/>
          </p:cNvSpPr>
          <p:nvPr/>
        </p:nvSpPr>
        <p:spPr bwMode="auto">
          <a:xfrm rot="5400000">
            <a:off x="609600" y="30480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6193" name="Text Box 49"/>
          <p:cNvSpPr txBox="1">
            <a:spLocks noChangeArrowheads="1"/>
          </p:cNvSpPr>
          <p:nvPr/>
        </p:nvSpPr>
        <p:spPr bwMode="auto">
          <a:xfrm>
            <a:off x="357158" y="3571876"/>
            <a:ext cx="10214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noProof="0" dirty="0"/>
              <a:t>key</a:t>
            </a:r>
            <a:br>
              <a:rPr lang="en-US" noProof="0" dirty="0"/>
            </a:br>
            <a:r>
              <a:rPr lang="en-US" noProof="0" dirty="0"/>
              <a:t>schedule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4282" y="500042"/>
            <a:ext cx="987451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Feistel </a:t>
            </a:r>
            <a:br>
              <a:rPr lang="en-US" b="1" noProof="0" dirty="0"/>
            </a:br>
            <a:r>
              <a:rPr lang="en-US" b="1" noProof="0" dirty="0"/>
              <a:t>network</a:t>
            </a:r>
          </a:p>
        </p:txBody>
      </p:sp>
      <p:sp>
        <p:nvSpPr>
          <p:cNvPr id="6225" name="AutoShape 81"/>
          <p:cNvSpPr>
            <a:spLocks noChangeArrowheads="1"/>
          </p:cNvSpPr>
          <p:nvPr/>
        </p:nvSpPr>
        <p:spPr bwMode="auto">
          <a:xfrm>
            <a:off x="6934200" y="5334000"/>
            <a:ext cx="1981200" cy="533400"/>
          </a:xfrm>
          <a:prstGeom prst="leftArrow">
            <a:avLst>
              <a:gd name="adj1" fmla="val 50000"/>
              <a:gd name="adj2" fmla="val 9285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600" noProof="0" dirty="0"/>
              <a:t>here no twist</a:t>
            </a:r>
          </a:p>
        </p:txBody>
      </p:sp>
    </p:spTree>
    <p:extLst>
      <p:ext uri="{BB962C8B-B14F-4D97-AF65-F5344CB8AC3E}">
        <p14:creationId xmlns:p14="http://schemas.microsoft.com/office/powerpoint/2010/main" val="37176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2" grpId="0" animBg="1"/>
      <p:bldP spid="6167" grpId="0" animBg="1"/>
      <p:bldP spid="6156" grpId="0" animBg="1"/>
      <p:bldP spid="6157" grpId="0" animBg="1"/>
      <p:bldP spid="6158" grpId="0" animBg="1"/>
      <p:bldP spid="6160" grpId="0" animBg="1"/>
      <p:bldP spid="6162" grpId="0" animBg="1"/>
      <p:bldP spid="6149" grpId="0" animBg="1"/>
      <p:bldP spid="6163" grpId="0" animBg="1"/>
      <p:bldP spid="6150" grpId="0" animBg="1"/>
      <p:bldP spid="6166" grpId="0" animBg="1"/>
      <p:bldP spid="6168" grpId="0" animBg="1"/>
      <p:bldP spid="6170" grpId="0" animBg="1"/>
      <p:bldP spid="6171" grpId="0" animBg="1"/>
      <p:bldP spid="6172" grpId="0" animBg="1"/>
      <p:bldP spid="6173" grpId="0" animBg="1"/>
      <p:bldP spid="6174" grpId="0" animBg="1"/>
      <p:bldP spid="6177" grpId="0" animBg="1"/>
      <p:bldP spid="6178" grpId="0" animBg="1"/>
      <p:bldP spid="6179" grpId="0" animBg="1"/>
      <p:bldP spid="6181" grpId="0" animBg="1"/>
      <p:bldP spid="6186" grpId="0" animBg="1"/>
      <p:bldP spid="6187" grpId="0" animBg="1"/>
      <p:bldP spid="6188" grpId="0"/>
      <p:bldP spid="6189" grpId="0"/>
      <p:bldP spid="6190" grpId="0" animBg="1"/>
      <p:bldP spid="6197" grpId="0" animBg="1"/>
      <p:bldP spid="6198" grpId="0"/>
      <p:bldP spid="6199" grpId="0" animBg="1"/>
      <p:bldP spid="6201" grpId="0" animBg="1"/>
      <p:bldP spid="6202" grpId="0" animBg="1"/>
      <p:bldP spid="6203" grpId="0" animBg="1"/>
      <p:bldP spid="6196" grpId="0" animBg="1"/>
      <p:bldP spid="6208" grpId="0" animBg="1"/>
      <p:bldP spid="6209" grpId="0" animBg="1"/>
      <p:bldP spid="6210" grpId="0" animBg="1"/>
      <p:bldP spid="6211" grpId="0" animBg="1"/>
      <p:bldP spid="6212" grpId="0" animBg="1"/>
      <p:bldP spid="6213" grpId="0" animBg="1"/>
      <p:bldP spid="6215" grpId="0" animBg="1"/>
      <p:bldP spid="6216" grpId="0" animBg="1"/>
      <p:bldP spid="6217" grpId="0" animBg="1"/>
      <p:bldP spid="6218" grpId="0" animBg="1"/>
      <p:bldP spid="6219" grpId="0" animBg="1"/>
      <p:bldP spid="6220" grpId="0" animBg="1"/>
      <p:bldP spid="6221" grpId="0"/>
      <p:bldP spid="6223" grpId="0" animBg="1"/>
      <p:bldP spid="6224" grpId="0" animBg="1"/>
      <p:bldP spid="6192" grpId="0" animBg="1"/>
      <p:bldP spid="6200" grpId="0" animBg="1"/>
      <p:bldP spid="6193" grpId="0" animBg="1"/>
      <p:bldP spid="622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7" name="Rectangle 29"/>
          <p:cNvSpPr>
            <a:spLocks noChangeArrowheads="1"/>
          </p:cNvSpPr>
          <p:nvPr/>
        </p:nvSpPr>
        <p:spPr bwMode="auto">
          <a:xfrm>
            <a:off x="0" y="4038600"/>
            <a:ext cx="9144000" cy="182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noProof="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noProof="0" dirty="0"/>
              <a:t>A nice </a:t>
            </a:r>
            <a:r>
              <a:rPr lang="en-US" noProof="0" dirty="0" err="1"/>
              <a:t>propery</a:t>
            </a:r>
            <a:r>
              <a:rPr lang="en-US" noProof="0" dirty="0"/>
              <a:t> of Feistel rounds</a:t>
            </a: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H="1">
            <a:off x="59436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3" name="Rectangle 5"/>
              <p:cNvSpPr>
                <a:spLocks noChangeArrowheads="1"/>
              </p:cNvSpPr>
              <p:nvPr/>
            </p:nvSpPr>
            <p:spPr bwMode="auto">
              <a:xfrm>
                <a:off x="4724400" y="27432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7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2743200"/>
                <a:ext cx="1219200" cy="381000"/>
              </a:xfrm>
              <a:prstGeom prst="rect">
                <a:avLst/>
              </a:prstGeom>
              <a:blipFill>
                <a:blip r:embed="rId5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Line 6"/>
          <p:cNvSpPr>
            <a:spLocks noChangeShapeType="1"/>
          </p:cNvSpPr>
          <p:nvPr/>
        </p:nvSpPr>
        <p:spPr bwMode="auto">
          <a:xfrm flipH="1">
            <a:off x="40386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7175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33800" y="2819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38862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7177" name="Freeform 9"/>
          <p:cNvSpPr>
            <a:spLocks/>
          </p:cNvSpPr>
          <p:nvPr/>
        </p:nvSpPr>
        <p:spPr bwMode="auto">
          <a:xfrm>
            <a:off x="3886200" y="23622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8" name="Rectangle 10"/>
              <p:cNvSpPr>
                <a:spLocks noChangeArrowheads="1"/>
              </p:cNvSpPr>
              <p:nvPr/>
            </p:nvSpPr>
            <p:spPr bwMode="auto">
              <a:xfrm>
                <a:off x="5257800" y="2133600"/>
                <a:ext cx="2743200" cy="381000"/>
              </a:xfrm>
              <a:prstGeom prst="rect">
                <a:avLst/>
              </a:prstGeom>
              <a:solidFill>
                <a:srgbClr val="FEE8F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7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2133600"/>
                <a:ext cx="27432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9" name="Freeform 11"/>
          <p:cNvSpPr>
            <a:spLocks/>
          </p:cNvSpPr>
          <p:nvPr/>
        </p:nvSpPr>
        <p:spPr bwMode="auto">
          <a:xfrm flipH="1">
            <a:off x="3886200" y="23622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80" name="Rectangle 12"/>
              <p:cNvSpPr>
                <a:spLocks noChangeArrowheads="1"/>
              </p:cNvSpPr>
              <p:nvPr/>
            </p:nvSpPr>
            <p:spPr bwMode="auto">
              <a:xfrm>
                <a:off x="2514600" y="2133600"/>
                <a:ext cx="2743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80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133600"/>
                <a:ext cx="27432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81" name="Rectangle 13"/>
              <p:cNvSpPr>
                <a:spLocks noChangeArrowheads="1"/>
              </p:cNvSpPr>
              <p:nvPr/>
            </p:nvSpPr>
            <p:spPr bwMode="auto">
              <a:xfrm>
                <a:off x="5257800" y="3810000"/>
                <a:ext cx="2743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𝑹𝒊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8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3810000"/>
                <a:ext cx="2743200" cy="381000"/>
              </a:xfrm>
              <a:prstGeom prst="rect">
                <a:avLst/>
              </a:prstGeom>
              <a:blipFill>
                <a:blip r:embed="rId9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82" name="Rectangle 14"/>
              <p:cNvSpPr>
                <a:spLocks noChangeArrowheads="1"/>
              </p:cNvSpPr>
              <p:nvPr/>
            </p:nvSpPr>
            <p:spPr bwMode="auto">
              <a:xfrm>
                <a:off x="2514600" y="3810000"/>
                <a:ext cx="2743200" cy="381000"/>
              </a:xfrm>
              <a:prstGeom prst="rect">
                <a:avLst/>
              </a:prstGeom>
              <a:solidFill>
                <a:srgbClr val="FEE8F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𝑹𝒊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82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3810000"/>
                <a:ext cx="2743200" cy="381000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83" name="Line 15"/>
          <p:cNvSpPr>
            <a:spLocks noChangeShapeType="1"/>
          </p:cNvSpPr>
          <p:nvPr/>
        </p:nvSpPr>
        <p:spPr bwMode="auto">
          <a:xfrm flipH="1">
            <a:off x="5943600" y="480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84" name="Rectangle 16"/>
              <p:cNvSpPr>
                <a:spLocks noChangeArrowheads="1"/>
              </p:cNvSpPr>
              <p:nvPr/>
            </p:nvSpPr>
            <p:spPr bwMode="auto">
              <a:xfrm>
                <a:off x="4724400" y="4572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84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4572000"/>
                <a:ext cx="1219200" cy="381000"/>
              </a:xfrm>
              <a:prstGeom prst="rect">
                <a:avLst/>
              </a:prstGeom>
              <a:blipFill>
                <a:blip r:embed="rId5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85" name="Line 17"/>
          <p:cNvSpPr>
            <a:spLocks noChangeShapeType="1"/>
          </p:cNvSpPr>
          <p:nvPr/>
        </p:nvSpPr>
        <p:spPr bwMode="auto">
          <a:xfrm flipH="1">
            <a:off x="3886200" y="4800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7186" name="Picture 1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77000" y="4648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87" name="Line 19"/>
          <p:cNvSpPr>
            <a:spLocks noChangeShapeType="1"/>
          </p:cNvSpPr>
          <p:nvPr/>
        </p:nvSpPr>
        <p:spPr bwMode="auto">
          <a:xfrm>
            <a:off x="38862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3886200" y="4191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 flipH="1">
            <a:off x="3886200" y="4191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92" name="Rectangle 24"/>
              <p:cNvSpPr>
                <a:spLocks noChangeArrowheads="1"/>
              </p:cNvSpPr>
              <p:nvPr/>
            </p:nvSpPr>
            <p:spPr bwMode="auto">
              <a:xfrm>
                <a:off x="5257800" y="5638800"/>
                <a:ext cx="2743200" cy="381000"/>
              </a:xfrm>
              <a:prstGeom prst="rect">
                <a:avLst/>
              </a:prstGeom>
              <a:solidFill>
                <a:srgbClr val="FEE8F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92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5638800"/>
                <a:ext cx="27432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93" name="Rectangle 25"/>
              <p:cNvSpPr>
                <a:spLocks noChangeArrowheads="1"/>
              </p:cNvSpPr>
              <p:nvPr/>
            </p:nvSpPr>
            <p:spPr bwMode="auto">
              <a:xfrm>
                <a:off x="2514600" y="5638800"/>
                <a:ext cx="2743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𝑹𝒊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𝐱𝐨𝐫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93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5638800"/>
                <a:ext cx="2743200" cy="381000"/>
              </a:xfrm>
              <a:prstGeom prst="rect">
                <a:avLst/>
              </a:prstGeom>
              <a:blipFill>
                <a:blip r:embed="rId12"/>
                <a:stretch>
                  <a:fillRect l="-2294" r="-917" b="-1875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94" name="Text Box 26"/>
              <p:cNvSpPr txBox="1">
                <a:spLocks noChangeArrowheads="1"/>
              </p:cNvSpPr>
              <p:nvPr/>
            </p:nvSpPr>
            <p:spPr bwMode="auto">
              <a:xfrm>
                <a:off x="357157" y="1214422"/>
                <a:ext cx="80158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2000" noProof="0" dirty="0"/>
                  <a:t>Even if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noProof="0" dirty="0"/>
                  <a:t>is </a:t>
                </a:r>
                <a:r>
                  <a:rPr lang="en-US" sz="2000" b="1" u="sng" noProof="0" dirty="0">
                    <a:solidFill>
                      <a:srgbClr val="0070C0"/>
                    </a:solidFill>
                  </a:rPr>
                  <a:t>not</a:t>
                </a:r>
                <a:r>
                  <a:rPr lang="en-US" sz="2000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noProof="0" dirty="0"/>
                  <a:t>easily invertible, each round </a:t>
                </a:r>
                <a:r>
                  <a:rPr lang="en-US" sz="2000" b="1" noProof="0" dirty="0">
                    <a:solidFill>
                      <a:srgbClr val="0070C0"/>
                    </a:solidFill>
                  </a:rPr>
                  <a:t>can be easily inverted</a:t>
                </a:r>
                <a:r>
                  <a:rPr lang="en-US" sz="2000" noProof="0" dirty="0"/>
                  <a:t>!</a:t>
                </a:r>
              </a:p>
            </p:txBody>
          </p:sp>
        </mc:Choice>
        <mc:Fallback>
          <p:sp>
            <p:nvSpPr>
              <p:cNvPr id="71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57" y="1214422"/>
                <a:ext cx="8015877" cy="400110"/>
              </a:xfrm>
              <a:prstGeom prst="rect">
                <a:avLst/>
              </a:prstGeom>
              <a:blipFill>
                <a:blip r:embed="rId13"/>
                <a:stretch>
                  <a:fillRect l="-791" t="-6061" b="-2424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5" name="Text Box 27"/>
          <p:cNvSpPr txBox="1">
            <a:spLocks noChangeArrowheads="1"/>
          </p:cNvSpPr>
          <p:nvPr/>
        </p:nvSpPr>
        <p:spPr bwMode="auto">
          <a:xfrm rot="5400000">
            <a:off x="3690916" y="6070084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noProof="0" dirty="0">
                <a:solidFill>
                  <a:srgbClr val="C00000"/>
                </a:solidFill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96" name="Text Box 28"/>
              <p:cNvSpPr txBox="1">
                <a:spLocks noChangeArrowheads="1"/>
              </p:cNvSpPr>
              <p:nvPr/>
            </p:nvSpPr>
            <p:spPr bwMode="auto">
              <a:xfrm>
                <a:off x="3657600" y="6324600"/>
                <a:ext cx="42351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9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6324600"/>
                <a:ext cx="42351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377825" y="4267200"/>
            <a:ext cx="1253751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noProof="0" dirty="0"/>
              <a:t>inversion:</a:t>
            </a:r>
          </a:p>
        </p:txBody>
      </p:sp>
    </p:spTree>
    <p:extLst>
      <p:ext uri="{BB962C8B-B14F-4D97-AF65-F5344CB8AC3E}">
        <p14:creationId xmlns:p14="http://schemas.microsoft.com/office/powerpoint/2010/main" val="131415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7" grpId="0" animBg="1"/>
      <p:bldP spid="7172" grpId="0" animBg="1"/>
      <p:bldP spid="7173" grpId="0" animBg="1"/>
      <p:bldP spid="7174" grpId="0" animBg="1"/>
      <p:bldP spid="7176" grpId="0" animBg="1"/>
      <p:bldP spid="7177" grpId="0" animBg="1"/>
      <p:bldP spid="7178" grpId="0" animBg="1"/>
      <p:bldP spid="7179" grpId="0" animBg="1"/>
      <p:bldP spid="7180" grpId="0" animBg="1"/>
      <p:bldP spid="7181" grpId="0" animBg="1"/>
      <p:bldP spid="7182" grpId="0" animBg="1"/>
      <p:bldP spid="7183" grpId="0" animBg="1"/>
      <p:bldP spid="7184" grpId="0" animBg="1"/>
      <p:bldP spid="7185" grpId="0" animBg="1"/>
      <p:bldP spid="7187" grpId="0" animBg="1"/>
      <p:bldP spid="7188" grpId="0" animBg="1"/>
      <p:bldP spid="7190" grpId="0" animBg="1"/>
      <p:bldP spid="7192" grpId="0" animBg="1"/>
      <p:bldP spid="7193" grpId="0" animBg="1"/>
      <p:bldP spid="7195" grpId="0"/>
      <p:bldP spid="7196" grpId="0"/>
      <p:bldP spid="719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22" name="Rectangle 2"/>
              <p:cNvSpPr>
                <a:spLocks noChangeArrowheads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2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3" name="Line 3"/>
          <p:cNvSpPr>
            <a:spLocks noChangeShapeType="1"/>
          </p:cNvSpPr>
          <p:nvPr/>
        </p:nvSpPr>
        <p:spPr bwMode="auto">
          <a:xfrm flipH="1">
            <a:off x="3200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24" name="Rectangle 4"/>
              <p:cNvSpPr>
                <a:spLocks noChangeArrowheads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2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5" name="Line 5"/>
          <p:cNvSpPr>
            <a:spLocks noChangeShapeType="1"/>
          </p:cNvSpPr>
          <p:nvPr/>
        </p:nvSpPr>
        <p:spPr bwMode="auto">
          <a:xfrm flipH="1">
            <a:off x="1295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072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906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11430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28" name="Freeform 8"/>
          <p:cNvSpPr>
            <a:spLocks/>
          </p:cNvSpPr>
          <p:nvPr/>
        </p:nvSpPr>
        <p:spPr bwMode="auto">
          <a:xfrm>
            <a:off x="11430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29" name="Rectangle 9"/>
              <p:cNvSpPr>
                <a:spLocks noChangeArrowheads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2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0" name="Freeform 10"/>
          <p:cNvSpPr>
            <a:spLocks/>
          </p:cNvSpPr>
          <p:nvPr/>
        </p:nvSpPr>
        <p:spPr bwMode="auto">
          <a:xfrm flipH="1">
            <a:off x="11430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31" name="Rectangle 11"/>
              <p:cNvSpPr>
                <a:spLocks noChangeArrowheads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3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2" name="Line 12"/>
          <p:cNvSpPr>
            <a:spLocks noChangeShapeType="1"/>
          </p:cNvSpPr>
          <p:nvPr/>
        </p:nvSpPr>
        <p:spPr bwMode="auto">
          <a:xfrm flipH="1">
            <a:off x="3200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 flipH="1">
            <a:off x="1295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0734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906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1143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36" name="Freeform 16"/>
          <p:cNvSpPr>
            <a:spLocks/>
          </p:cNvSpPr>
          <p:nvPr/>
        </p:nvSpPr>
        <p:spPr bwMode="auto">
          <a:xfrm>
            <a:off x="11430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37" name="Rectangle 17"/>
              <p:cNvSpPr>
                <a:spLocks noChangeArrowheads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37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8" name="Freeform 18"/>
          <p:cNvSpPr>
            <a:spLocks/>
          </p:cNvSpPr>
          <p:nvPr/>
        </p:nvSpPr>
        <p:spPr bwMode="auto">
          <a:xfrm flipH="1">
            <a:off x="11430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39" name="Rectangle 19"/>
              <p:cNvSpPr>
                <a:spLocks noChangeArrowheads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39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0" name="Line 20"/>
          <p:cNvSpPr>
            <a:spLocks noChangeShapeType="1"/>
          </p:cNvSpPr>
          <p:nvPr/>
        </p:nvSpPr>
        <p:spPr bwMode="auto">
          <a:xfrm flipH="1">
            <a:off x="3200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41" name="Rectangle 21"/>
              <p:cNvSpPr>
                <a:spLocks noChangeArrowheads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41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blipFill>
                <a:blip r:embed="rId16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2" name="Line 22"/>
          <p:cNvSpPr>
            <a:spLocks noChangeShapeType="1"/>
          </p:cNvSpPr>
          <p:nvPr/>
        </p:nvSpPr>
        <p:spPr bwMode="auto">
          <a:xfrm flipH="1">
            <a:off x="1295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0743" name="Picture 2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90600" y="5257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44" name="Line 24"/>
          <p:cNvSpPr>
            <a:spLocks noChangeShapeType="1"/>
          </p:cNvSpPr>
          <p:nvPr/>
        </p:nvSpPr>
        <p:spPr bwMode="auto">
          <a:xfrm>
            <a:off x="1143000" y="495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45" name="Freeform 25"/>
          <p:cNvSpPr>
            <a:spLocks/>
          </p:cNvSpPr>
          <p:nvPr/>
        </p:nvSpPr>
        <p:spPr bwMode="auto">
          <a:xfrm>
            <a:off x="1143000" y="4800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46" name="Freeform 26"/>
          <p:cNvSpPr>
            <a:spLocks/>
          </p:cNvSpPr>
          <p:nvPr/>
        </p:nvSpPr>
        <p:spPr bwMode="auto">
          <a:xfrm flipH="1">
            <a:off x="1143000" y="4800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47" name="Rectangle 27"/>
              <p:cNvSpPr>
                <a:spLocks noChangeArrowheads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47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48" name="Rectangle 28"/>
              <p:cNvSpPr>
                <a:spLocks noChangeArrowheads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4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49" name="Rectangle 29"/>
              <p:cNvSpPr>
                <a:spLocks noChangeArrowheads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49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50" name="Rectangle 30"/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50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1" name="Line 31"/>
          <p:cNvSpPr>
            <a:spLocks noChangeShapeType="1"/>
          </p:cNvSpPr>
          <p:nvPr/>
        </p:nvSpPr>
        <p:spPr bwMode="auto">
          <a:xfrm flipH="1">
            <a:off x="7543800" y="1981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2" name="Rectangle 32"/>
              <p:cNvSpPr>
                <a:spLocks noChangeArrowheads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52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blipFill>
                <a:blip r:embed="rId21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3" name="Line 33"/>
          <p:cNvSpPr>
            <a:spLocks noChangeShapeType="1"/>
          </p:cNvSpPr>
          <p:nvPr/>
        </p:nvSpPr>
        <p:spPr bwMode="auto">
          <a:xfrm flipH="1">
            <a:off x="5486400" y="1981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0754" name="Picture 34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772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55" name="Line 35"/>
          <p:cNvSpPr>
            <a:spLocks noChangeShapeType="1"/>
          </p:cNvSpPr>
          <p:nvPr/>
        </p:nvSpPr>
        <p:spPr bwMode="auto">
          <a:xfrm>
            <a:off x="54864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56" name="Freeform 36"/>
          <p:cNvSpPr>
            <a:spLocks/>
          </p:cNvSpPr>
          <p:nvPr/>
        </p:nvSpPr>
        <p:spPr bwMode="auto">
          <a:xfrm>
            <a:off x="54864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57" name="Freeform 37"/>
          <p:cNvSpPr>
            <a:spLocks/>
          </p:cNvSpPr>
          <p:nvPr/>
        </p:nvSpPr>
        <p:spPr bwMode="auto">
          <a:xfrm flipH="1">
            <a:off x="54864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8" name="Rectangle 38"/>
              <p:cNvSpPr>
                <a:spLocks noChangeArrowheads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58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59" name="Rectangle 39"/>
              <p:cNvSpPr>
                <a:spLocks noChangeArrowheads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59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0" name="Line 40"/>
          <p:cNvSpPr>
            <a:spLocks noChangeShapeType="1"/>
          </p:cNvSpPr>
          <p:nvPr/>
        </p:nvSpPr>
        <p:spPr bwMode="auto">
          <a:xfrm flipH="1">
            <a:off x="7543800" y="3657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61" name="Rectangle 41"/>
              <p:cNvSpPr>
                <a:spLocks noChangeArrowheads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61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blipFill>
                <a:blip r:embed="rId24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2" name="Line 42"/>
          <p:cNvSpPr>
            <a:spLocks noChangeShapeType="1"/>
          </p:cNvSpPr>
          <p:nvPr/>
        </p:nvSpPr>
        <p:spPr bwMode="auto">
          <a:xfrm flipH="1">
            <a:off x="5486400" y="3657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0763" name="Picture 43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772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64" name="Line 44"/>
          <p:cNvSpPr>
            <a:spLocks noChangeShapeType="1"/>
          </p:cNvSpPr>
          <p:nvPr/>
        </p:nvSpPr>
        <p:spPr bwMode="auto">
          <a:xfrm>
            <a:off x="54864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65" name="Freeform 45"/>
          <p:cNvSpPr>
            <a:spLocks/>
          </p:cNvSpPr>
          <p:nvPr/>
        </p:nvSpPr>
        <p:spPr bwMode="auto">
          <a:xfrm>
            <a:off x="54864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66" name="Freeform 46"/>
          <p:cNvSpPr>
            <a:spLocks/>
          </p:cNvSpPr>
          <p:nvPr/>
        </p:nvSpPr>
        <p:spPr bwMode="auto">
          <a:xfrm flipH="1">
            <a:off x="54864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67" name="Line 47"/>
          <p:cNvSpPr>
            <a:spLocks noChangeShapeType="1"/>
          </p:cNvSpPr>
          <p:nvPr/>
        </p:nvSpPr>
        <p:spPr bwMode="auto">
          <a:xfrm flipH="1">
            <a:off x="7543800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68" name="Rectangle 48"/>
              <p:cNvSpPr>
                <a:spLocks noChangeArrowheads="1"/>
              </p:cNvSpPr>
              <p:nvPr/>
            </p:nvSpPr>
            <p:spPr bwMode="auto">
              <a:xfrm>
                <a:off x="6324600" y="51054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68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105400"/>
                <a:ext cx="1219200" cy="381000"/>
              </a:xfrm>
              <a:prstGeom prst="rect">
                <a:avLst/>
              </a:prstGeom>
              <a:blipFill>
                <a:blip r:embed="rId25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9" name="Line 49"/>
          <p:cNvSpPr>
            <a:spLocks noChangeShapeType="1"/>
          </p:cNvSpPr>
          <p:nvPr/>
        </p:nvSpPr>
        <p:spPr bwMode="auto">
          <a:xfrm flipH="1">
            <a:off x="5486400" y="5334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0770" name="Picture 50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77200" y="5181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71" name="Line 51"/>
          <p:cNvSpPr>
            <a:spLocks noChangeShapeType="1"/>
          </p:cNvSpPr>
          <p:nvPr/>
        </p:nvSpPr>
        <p:spPr bwMode="auto">
          <a:xfrm>
            <a:off x="5486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72" name="Freeform 52"/>
          <p:cNvSpPr>
            <a:spLocks/>
          </p:cNvSpPr>
          <p:nvPr/>
        </p:nvSpPr>
        <p:spPr bwMode="auto">
          <a:xfrm>
            <a:off x="5486400" y="47244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0773" name="Freeform 53"/>
          <p:cNvSpPr>
            <a:spLocks/>
          </p:cNvSpPr>
          <p:nvPr/>
        </p:nvSpPr>
        <p:spPr bwMode="auto">
          <a:xfrm flipH="1">
            <a:off x="5486400" y="47244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74" name="Rectangle 54"/>
              <p:cNvSpPr>
                <a:spLocks noChangeArrowheads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74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5" name="Rectangle 55"/>
              <p:cNvSpPr>
                <a:spLocks noChangeArrowheads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75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7" name="Rectangle 57"/>
              <p:cNvSpPr>
                <a:spLocks noChangeArrowheads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77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8" name="Rectangle 58"/>
              <p:cNvSpPr>
                <a:spLocks noChangeArrowheads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78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9" name="Rectangle 59"/>
              <p:cNvSpPr>
                <a:spLocks noChangeArrowheads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79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80" name="Rectangle 60"/>
              <p:cNvSpPr>
                <a:spLocks noChangeArrowheads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780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81" name="Text Box 61"/>
          <p:cNvSpPr txBox="1">
            <a:spLocks noChangeArrowheads="1"/>
          </p:cNvSpPr>
          <p:nvPr/>
        </p:nvSpPr>
        <p:spPr bwMode="auto">
          <a:xfrm>
            <a:off x="304800" y="228600"/>
            <a:ext cx="4756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noProof="0" dirty="0"/>
              <a:t>Hence</a:t>
            </a:r>
            <a:r>
              <a:rPr lang="en-US" noProof="0" dirty="0"/>
              <a:t>: the Feistel network can be “inverted”!</a:t>
            </a:r>
          </a:p>
          <a:p>
            <a:pPr algn="l"/>
            <a:r>
              <a:rPr lang="en-US" b="1" noProof="0" dirty="0"/>
              <a:t>Example</a:t>
            </a:r>
            <a:r>
              <a:rPr lang="en-US" noProof="0" dirty="0"/>
              <a:t>: 3 round Feistel network</a:t>
            </a:r>
          </a:p>
        </p:txBody>
      </p:sp>
    </p:spTree>
    <p:extLst>
      <p:ext uri="{BB962C8B-B14F-4D97-AF65-F5344CB8AC3E}">
        <p14:creationId xmlns:p14="http://schemas.microsoft.com/office/powerpoint/2010/main" val="192453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1" grpId="0" animBg="1"/>
      <p:bldP spid="30752" grpId="0" animBg="1"/>
      <p:bldP spid="30753" grpId="0" animBg="1"/>
      <p:bldP spid="30755" grpId="0" animBg="1"/>
      <p:bldP spid="30756" grpId="0" animBg="1"/>
      <p:bldP spid="30757" grpId="0" animBg="1"/>
      <p:bldP spid="30758" grpId="0" animBg="1"/>
      <p:bldP spid="30759" grpId="0" animBg="1"/>
      <p:bldP spid="30760" grpId="0" animBg="1"/>
      <p:bldP spid="30761" grpId="0" animBg="1"/>
      <p:bldP spid="30762" grpId="0" animBg="1"/>
      <p:bldP spid="30764" grpId="0" animBg="1"/>
      <p:bldP spid="30765" grpId="0" animBg="1"/>
      <p:bldP spid="30766" grpId="0" animBg="1"/>
      <p:bldP spid="30767" grpId="0" animBg="1"/>
      <p:bldP spid="30768" grpId="0" animBg="1"/>
      <p:bldP spid="30769" grpId="0" animBg="1"/>
      <p:bldP spid="30771" grpId="0" animBg="1"/>
      <p:bldP spid="30772" grpId="0" animBg="1"/>
      <p:bldP spid="30773" grpId="0" animBg="1"/>
      <p:bldP spid="30774" grpId="0" animBg="1"/>
      <p:bldP spid="30775" grpId="0" animBg="1"/>
      <p:bldP spid="30777" grpId="0" animBg="1"/>
      <p:bldP spid="30778" grpId="0" animBg="1"/>
      <p:bldP spid="30779" grpId="0" animBg="1"/>
      <p:bldP spid="30780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9" name="Line 67"/>
          <p:cNvSpPr>
            <a:spLocks noChangeShapeType="1"/>
          </p:cNvSpPr>
          <p:nvPr/>
        </p:nvSpPr>
        <p:spPr bwMode="auto">
          <a:xfrm flipH="1">
            <a:off x="75438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60" name="Rectangle 68"/>
              <p:cNvSpPr>
                <a:spLocks noChangeArrowheads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60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1752600"/>
                <a:ext cx="1219200" cy="38100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61" name="Line 69"/>
          <p:cNvSpPr>
            <a:spLocks noChangeShapeType="1"/>
          </p:cNvSpPr>
          <p:nvPr/>
        </p:nvSpPr>
        <p:spPr bwMode="auto">
          <a:xfrm flipH="1">
            <a:off x="56388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8262" name="Picture 7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340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63" name="Line 71"/>
          <p:cNvSpPr>
            <a:spLocks noChangeShapeType="1"/>
          </p:cNvSpPr>
          <p:nvPr/>
        </p:nvSpPr>
        <p:spPr bwMode="auto">
          <a:xfrm>
            <a:off x="54864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64" name="Freeform 72"/>
          <p:cNvSpPr>
            <a:spLocks/>
          </p:cNvSpPr>
          <p:nvPr/>
        </p:nvSpPr>
        <p:spPr bwMode="auto">
          <a:xfrm>
            <a:off x="54864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65" name="Freeform 73"/>
          <p:cNvSpPr>
            <a:spLocks/>
          </p:cNvSpPr>
          <p:nvPr/>
        </p:nvSpPr>
        <p:spPr bwMode="auto">
          <a:xfrm flipH="1">
            <a:off x="54864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19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429000"/>
                <a:ext cx="1219200" cy="381000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7" name="Line 5"/>
          <p:cNvSpPr>
            <a:spLocks noChangeShapeType="1"/>
          </p:cNvSpPr>
          <p:nvPr/>
        </p:nvSpPr>
        <p:spPr bwMode="auto">
          <a:xfrm flipH="1">
            <a:off x="3200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8" name="Rectangle 6"/>
              <p:cNvSpPr>
                <a:spLocks noChangeArrowheads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19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752600"/>
                <a:ext cx="1219200" cy="381000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9" name="Line 7"/>
          <p:cNvSpPr>
            <a:spLocks noChangeShapeType="1"/>
          </p:cNvSpPr>
          <p:nvPr/>
        </p:nvSpPr>
        <p:spPr bwMode="auto">
          <a:xfrm flipH="1">
            <a:off x="1295400" y="1981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8200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06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11430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02" name="Freeform 10"/>
          <p:cNvSpPr>
            <a:spLocks/>
          </p:cNvSpPr>
          <p:nvPr/>
        </p:nvSpPr>
        <p:spPr bwMode="auto">
          <a:xfrm>
            <a:off x="11430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03" name="Rectangle 11"/>
              <p:cNvSpPr>
                <a:spLocks noChangeArrowheads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0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1143000"/>
                <a:ext cx="16002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4" name="Freeform 12"/>
          <p:cNvSpPr>
            <a:spLocks/>
          </p:cNvSpPr>
          <p:nvPr/>
        </p:nvSpPr>
        <p:spPr bwMode="auto">
          <a:xfrm flipH="1">
            <a:off x="11430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05" name="Rectangle 13"/>
              <p:cNvSpPr>
                <a:spLocks noChangeArrowheads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05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143000"/>
                <a:ext cx="1600200" cy="381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6" name="Line 14"/>
          <p:cNvSpPr>
            <a:spLocks noChangeShapeType="1"/>
          </p:cNvSpPr>
          <p:nvPr/>
        </p:nvSpPr>
        <p:spPr bwMode="auto">
          <a:xfrm flipH="1">
            <a:off x="3200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12954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8208" name="Picture 1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06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09" name="Line 17"/>
          <p:cNvSpPr>
            <a:spLocks noChangeShapeType="1"/>
          </p:cNvSpPr>
          <p:nvPr/>
        </p:nvSpPr>
        <p:spPr bwMode="auto">
          <a:xfrm>
            <a:off x="1143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10" name="Freeform 18"/>
          <p:cNvSpPr>
            <a:spLocks/>
          </p:cNvSpPr>
          <p:nvPr/>
        </p:nvSpPr>
        <p:spPr bwMode="auto">
          <a:xfrm>
            <a:off x="11430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11" name="Rectangle 19"/>
              <p:cNvSpPr>
                <a:spLocks noChangeArrowheads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1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819400"/>
                <a:ext cx="1600200" cy="381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2" name="Freeform 20"/>
          <p:cNvSpPr>
            <a:spLocks/>
          </p:cNvSpPr>
          <p:nvPr/>
        </p:nvSpPr>
        <p:spPr bwMode="auto">
          <a:xfrm flipH="1">
            <a:off x="11430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13" name="Rectangle 21"/>
              <p:cNvSpPr>
                <a:spLocks noChangeArrowheads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13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819400"/>
                <a:ext cx="1600200" cy="381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4" name="Line 22"/>
          <p:cNvSpPr>
            <a:spLocks noChangeShapeType="1"/>
          </p:cNvSpPr>
          <p:nvPr/>
        </p:nvSpPr>
        <p:spPr bwMode="auto">
          <a:xfrm flipH="1">
            <a:off x="3200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15" name="Rectangle 23"/>
              <p:cNvSpPr>
                <a:spLocks noChangeArrowheads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15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5181600"/>
                <a:ext cx="1219200" cy="381000"/>
              </a:xfrm>
              <a:prstGeom prst="rect">
                <a:avLst/>
              </a:prstGeom>
              <a:blipFill>
                <a:blip r:embed="rId17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6" name="Line 24"/>
          <p:cNvSpPr>
            <a:spLocks noChangeShapeType="1"/>
          </p:cNvSpPr>
          <p:nvPr/>
        </p:nvSpPr>
        <p:spPr bwMode="auto">
          <a:xfrm flipH="1">
            <a:off x="12954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8217" name="Picture 2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0600" y="5257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18" name="Line 26"/>
          <p:cNvSpPr>
            <a:spLocks noChangeShapeType="1"/>
          </p:cNvSpPr>
          <p:nvPr/>
        </p:nvSpPr>
        <p:spPr bwMode="auto">
          <a:xfrm>
            <a:off x="11430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21" name="Rectangle 29"/>
              <p:cNvSpPr>
                <a:spLocks noChangeArrowheads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21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6172200"/>
                <a:ext cx="1600200" cy="381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22" name="Rectangle 30"/>
              <p:cNvSpPr>
                <a:spLocks noChangeArrowheads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22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6172200"/>
                <a:ext cx="1600200" cy="381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24" name="Rectangle 32"/>
              <p:cNvSpPr>
                <a:spLocks noChangeArrowheads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24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4495800"/>
                <a:ext cx="1600200" cy="381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25" name="Rectangle 33"/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25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4495800"/>
                <a:ext cx="1600200" cy="381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26" name="Rectangle 34"/>
              <p:cNvSpPr>
                <a:spLocks noChangeArrowheads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26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1143000"/>
                <a:ext cx="1676400" cy="381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27" name="Rectangle 35"/>
              <p:cNvSpPr>
                <a:spLocks noChangeArrowheads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solidFill>
                <a:srgbClr val="A2B8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27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1143000"/>
                <a:ext cx="1600200" cy="381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53" name="Rectangle 61"/>
              <p:cNvSpPr>
                <a:spLocks noChangeArrowheads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53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6172200"/>
                <a:ext cx="1752600" cy="381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54" name="Rectangle 62"/>
              <p:cNvSpPr>
                <a:spLocks noChangeArrowheads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54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6172200"/>
                <a:ext cx="1676400" cy="381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55" name="Text Box 63"/>
          <p:cNvSpPr txBox="1">
            <a:spLocks noChangeArrowheads="1"/>
          </p:cNvSpPr>
          <p:nvPr/>
        </p:nvSpPr>
        <p:spPr bwMode="auto">
          <a:xfrm>
            <a:off x="304800" y="304800"/>
            <a:ext cx="357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noProof="0" dirty="0"/>
              <a:t>Without a “twist” in the last round: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44" name="Rectangle 52"/>
              <p:cNvSpPr>
                <a:spLocks noChangeArrowheads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44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4495800"/>
                <a:ext cx="1752600" cy="381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45" name="Rectangle 53"/>
              <p:cNvSpPr>
                <a:spLocks noChangeArrowheads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solidFill>
                <a:srgbClr val="F6FFB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45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4495800"/>
                <a:ext cx="1676400" cy="381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57" name="Line 65"/>
          <p:cNvSpPr>
            <a:spLocks noChangeShapeType="1"/>
          </p:cNvSpPr>
          <p:nvPr/>
        </p:nvSpPr>
        <p:spPr bwMode="auto">
          <a:xfrm>
            <a:off x="1143000" y="556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58" name="Line 66"/>
          <p:cNvSpPr>
            <a:spLocks noChangeShapeType="1"/>
          </p:cNvSpPr>
          <p:nvPr/>
        </p:nvSpPr>
        <p:spPr bwMode="auto">
          <a:xfrm>
            <a:off x="3886200" y="4876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67" name="Rectangle 75"/>
              <p:cNvSpPr>
                <a:spLocks noChangeArrowheads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67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3429000"/>
                <a:ext cx="1219200" cy="381000"/>
              </a:xfrm>
              <a:prstGeom prst="rect">
                <a:avLst/>
              </a:prstGeom>
              <a:blipFill>
                <a:blip r:embed="rId28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68" name="Line 76"/>
          <p:cNvSpPr>
            <a:spLocks noChangeShapeType="1"/>
          </p:cNvSpPr>
          <p:nvPr/>
        </p:nvSpPr>
        <p:spPr bwMode="auto">
          <a:xfrm flipH="1">
            <a:off x="75438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69" name="Line 77"/>
          <p:cNvSpPr>
            <a:spLocks noChangeShapeType="1"/>
          </p:cNvSpPr>
          <p:nvPr/>
        </p:nvSpPr>
        <p:spPr bwMode="auto">
          <a:xfrm flipH="1">
            <a:off x="5638800" y="36576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8270" name="Picture 78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340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71" name="Line 79"/>
          <p:cNvSpPr>
            <a:spLocks noChangeShapeType="1"/>
          </p:cNvSpPr>
          <p:nvPr/>
        </p:nvSpPr>
        <p:spPr bwMode="auto">
          <a:xfrm>
            <a:off x="54864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72" name="Freeform 80"/>
          <p:cNvSpPr>
            <a:spLocks/>
          </p:cNvSpPr>
          <p:nvPr/>
        </p:nvSpPr>
        <p:spPr bwMode="auto">
          <a:xfrm>
            <a:off x="54864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73" name="Freeform 81"/>
          <p:cNvSpPr>
            <a:spLocks/>
          </p:cNvSpPr>
          <p:nvPr/>
        </p:nvSpPr>
        <p:spPr bwMode="auto">
          <a:xfrm flipH="1">
            <a:off x="54864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74" name="Line 82"/>
          <p:cNvSpPr>
            <a:spLocks noChangeShapeType="1"/>
          </p:cNvSpPr>
          <p:nvPr/>
        </p:nvSpPr>
        <p:spPr bwMode="auto">
          <a:xfrm flipH="1">
            <a:off x="75438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75" name="Rectangle 83"/>
              <p:cNvSpPr>
                <a:spLocks noChangeArrowheads="1"/>
              </p:cNvSpPr>
              <p:nvPr/>
            </p:nvSpPr>
            <p:spPr bwMode="auto">
              <a:xfrm>
                <a:off x="6324600" y="5181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75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181600"/>
                <a:ext cx="1219200" cy="381000"/>
              </a:xfrm>
              <a:prstGeom prst="rect">
                <a:avLst/>
              </a:prstGeom>
              <a:blipFill>
                <a:blip r:embed="rId29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76" name="Line 84"/>
          <p:cNvSpPr>
            <a:spLocks noChangeShapeType="1"/>
          </p:cNvSpPr>
          <p:nvPr/>
        </p:nvSpPr>
        <p:spPr bwMode="auto">
          <a:xfrm flipH="1">
            <a:off x="5638800" y="5410200"/>
            <a:ext cx="685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8277" name="Picture 85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34000" y="5257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78" name="Line 86"/>
          <p:cNvSpPr>
            <a:spLocks noChangeShapeType="1"/>
          </p:cNvSpPr>
          <p:nvPr/>
        </p:nvSpPr>
        <p:spPr bwMode="auto">
          <a:xfrm>
            <a:off x="54864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79" name="Line 87"/>
          <p:cNvSpPr>
            <a:spLocks noChangeShapeType="1"/>
          </p:cNvSpPr>
          <p:nvPr/>
        </p:nvSpPr>
        <p:spPr bwMode="auto">
          <a:xfrm>
            <a:off x="5486400" y="556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8280" name="Line 88"/>
          <p:cNvSpPr>
            <a:spLocks noChangeShapeType="1"/>
          </p:cNvSpPr>
          <p:nvPr/>
        </p:nvSpPr>
        <p:spPr bwMode="auto">
          <a:xfrm>
            <a:off x="8229600" y="4876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35" name="Rectangle 43"/>
              <p:cNvSpPr>
                <a:spLocks noChangeArrowheads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35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2819400"/>
                <a:ext cx="1752600" cy="3810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36" name="Rectangle 44"/>
              <p:cNvSpPr>
                <a:spLocks noChangeArrowheads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solidFill>
                <a:srgbClr val="EBFF5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36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2819400"/>
                <a:ext cx="1676400" cy="3810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43518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728811" y="1058004"/>
            <a:ext cx="1143000" cy="563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49" name="Rectangle 5"/>
              <p:cNvSpPr>
                <a:spLocks noChangeArrowheads="1"/>
              </p:cNvSpPr>
              <p:nvPr/>
            </p:nvSpPr>
            <p:spPr bwMode="auto">
              <a:xfrm>
                <a:off x="5105400" y="3429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4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34290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6324600" y="1981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51" name="Rectangle 7"/>
              <p:cNvSpPr>
                <a:spLocks noChangeArrowheads="1"/>
              </p:cNvSpPr>
              <p:nvPr/>
            </p:nvSpPr>
            <p:spPr bwMode="auto">
              <a:xfrm>
                <a:off x="5105400" y="17526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5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17526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4419600" y="1981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17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1828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42672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755" name="Freeform 11"/>
          <p:cNvSpPr>
            <a:spLocks/>
          </p:cNvSpPr>
          <p:nvPr/>
        </p:nvSpPr>
        <p:spPr bwMode="auto">
          <a:xfrm>
            <a:off x="4267200" y="13716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56" name="Rectangle 12"/>
              <p:cNvSpPr>
                <a:spLocks noChangeArrowheads="1"/>
              </p:cNvSpPr>
              <p:nvPr/>
            </p:nvSpPr>
            <p:spPr bwMode="auto">
              <a:xfrm>
                <a:off x="5638800" y="11430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5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1143000"/>
                <a:ext cx="2286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7" name="Freeform 13"/>
          <p:cNvSpPr>
            <a:spLocks/>
          </p:cNvSpPr>
          <p:nvPr/>
        </p:nvSpPr>
        <p:spPr bwMode="auto">
          <a:xfrm flipH="1">
            <a:off x="4267200" y="13716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58" name="Rectangle 14"/>
              <p:cNvSpPr>
                <a:spLocks noChangeArrowheads="1"/>
              </p:cNvSpPr>
              <p:nvPr/>
            </p:nvSpPr>
            <p:spPr bwMode="auto">
              <a:xfrm>
                <a:off x="3352800" y="11430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58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1143000"/>
                <a:ext cx="2286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9" name="Line 15"/>
          <p:cNvSpPr>
            <a:spLocks noChangeShapeType="1"/>
          </p:cNvSpPr>
          <p:nvPr/>
        </p:nvSpPr>
        <p:spPr bwMode="auto">
          <a:xfrm flipH="1">
            <a:off x="6324600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4419600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1761" name="Picture 1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3505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42672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763" name="Freeform 19"/>
          <p:cNvSpPr>
            <a:spLocks/>
          </p:cNvSpPr>
          <p:nvPr/>
        </p:nvSpPr>
        <p:spPr bwMode="auto">
          <a:xfrm>
            <a:off x="4267200" y="3048000"/>
            <a:ext cx="2743200" cy="1457325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64" name="Rectangle 20"/>
              <p:cNvSpPr>
                <a:spLocks noChangeArrowheads="1"/>
              </p:cNvSpPr>
              <p:nvPr/>
            </p:nvSpPr>
            <p:spPr bwMode="auto">
              <a:xfrm>
                <a:off x="5638800" y="28194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64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2819400"/>
                <a:ext cx="2286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5" name="Freeform 21"/>
          <p:cNvSpPr>
            <a:spLocks/>
          </p:cNvSpPr>
          <p:nvPr/>
        </p:nvSpPr>
        <p:spPr bwMode="auto">
          <a:xfrm flipH="1">
            <a:off x="4267200" y="3048000"/>
            <a:ext cx="2743200" cy="1447800"/>
          </a:xfrm>
          <a:custGeom>
            <a:avLst/>
            <a:gdLst/>
            <a:ahLst/>
            <a:cxnLst>
              <a:cxn ang="0">
                <a:pos x="1872" y="0"/>
              </a:cxn>
              <a:cxn ang="0">
                <a:pos x="1872" y="595"/>
              </a:cxn>
              <a:cxn ang="0">
                <a:pos x="0" y="678"/>
              </a:cxn>
              <a:cxn ang="0">
                <a:pos x="0" y="918"/>
              </a:cxn>
            </a:cxnLst>
            <a:rect l="0" t="0" r="r" b="b"/>
            <a:pathLst>
              <a:path w="1872" h="918">
                <a:moveTo>
                  <a:pt x="1872" y="0"/>
                </a:moveTo>
                <a:cubicBezTo>
                  <a:pt x="1872" y="198"/>
                  <a:pt x="1872" y="397"/>
                  <a:pt x="1872" y="595"/>
                </a:cubicBezTo>
                <a:lnTo>
                  <a:pt x="0" y="678"/>
                </a:lnTo>
                <a:lnTo>
                  <a:pt x="0" y="9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66" name="Rectangle 22"/>
              <p:cNvSpPr>
                <a:spLocks noChangeArrowheads="1"/>
              </p:cNvSpPr>
              <p:nvPr/>
            </p:nvSpPr>
            <p:spPr bwMode="auto">
              <a:xfrm>
                <a:off x="3352800" y="28194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66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2819400"/>
                <a:ext cx="2286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7" name="Line 23"/>
          <p:cNvSpPr>
            <a:spLocks noChangeShapeType="1"/>
          </p:cNvSpPr>
          <p:nvPr/>
        </p:nvSpPr>
        <p:spPr bwMode="auto">
          <a:xfrm flipH="1">
            <a:off x="63246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68" name="Rectangle 24"/>
              <p:cNvSpPr>
                <a:spLocks noChangeArrowheads="1"/>
              </p:cNvSpPr>
              <p:nvPr/>
            </p:nvSpPr>
            <p:spPr bwMode="auto">
              <a:xfrm>
                <a:off x="5105400" y="5334000"/>
                <a:ext cx="1219200" cy="381000"/>
              </a:xfrm>
              <a:prstGeom prst="rect">
                <a:avLst/>
              </a:prstGeom>
              <a:solidFill>
                <a:srgbClr val="FFF7F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68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5334000"/>
                <a:ext cx="1219200" cy="381000"/>
              </a:xfrm>
              <a:prstGeom prst="rect">
                <a:avLst/>
              </a:prstGeom>
              <a:blipFill>
                <a:blip r:embed="rId12"/>
                <a:stretch>
                  <a:fillRect b="-1562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9" name="Line 25"/>
          <p:cNvSpPr>
            <a:spLocks noChangeShapeType="1"/>
          </p:cNvSpPr>
          <p:nvPr/>
        </p:nvSpPr>
        <p:spPr bwMode="auto">
          <a:xfrm flipH="1">
            <a:off x="44196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1770" name="Picture 2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5410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42672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72" name="Rectangle 28"/>
              <p:cNvSpPr>
                <a:spLocks noChangeArrowheads="1"/>
              </p:cNvSpPr>
              <p:nvPr/>
            </p:nvSpPr>
            <p:spPr bwMode="auto">
              <a:xfrm>
                <a:off x="5638800" y="632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7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6324600"/>
                <a:ext cx="22860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73" name="Rectangle 29"/>
              <p:cNvSpPr>
                <a:spLocks noChangeArrowheads="1"/>
              </p:cNvSpPr>
              <p:nvPr/>
            </p:nvSpPr>
            <p:spPr bwMode="auto">
              <a:xfrm>
                <a:off x="3352800" y="6324600"/>
                <a:ext cx="22860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73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6324600"/>
                <a:ext cx="2286000" cy="381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74" name="Text Box 30"/>
              <p:cNvSpPr txBox="1">
                <a:spLocks noChangeArrowheads="1"/>
              </p:cNvSpPr>
              <p:nvPr/>
            </p:nvSpPr>
            <p:spPr bwMode="auto">
              <a:xfrm rot="5400000">
                <a:off x="5452745" y="4403741"/>
                <a:ext cx="66614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32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74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5452745" y="4403741"/>
                <a:ext cx="666143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77" name="Text Box 33"/>
              <p:cNvSpPr txBox="1">
                <a:spLocks noChangeArrowheads="1"/>
              </p:cNvSpPr>
              <p:nvPr/>
            </p:nvSpPr>
            <p:spPr bwMode="auto">
              <a:xfrm>
                <a:off x="650992" y="2809845"/>
                <a:ext cx="838200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noProof="0" dirty="0"/>
                  <a:t>key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77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992" y="2809845"/>
                <a:ext cx="838200" cy="400110"/>
              </a:xfrm>
              <a:prstGeom prst="rect">
                <a:avLst/>
              </a:prstGeom>
              <a:blipFill>
                <a:blip r:embed="rId16"/>
                <a:stretch>
                  <a:fillRect l="-4478" t="-9091" b="-24242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78" name="Text Box 34"/>
              <p:cNvSpPr txBox="1">
                <a:spLocks noChangeArrowheads="1"/>
              </p:cNvSpPr>
              <p:nvPr/>
            </p:nvSpPr>
            <p:spPr bwMode="auto">
              <a:xfrm>
                <a:off x="2209800" y="3352800"/>
                <a:ext cx="609600" cy="36298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baseline="-25000" noProof="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1778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3352800"/>
                <a:ext cx="609600" cy="3629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79" name="Text Box 35"/>
              <p:cNvSpPr txBox="1">
                <a:spLocks noChangeArrowheads="1"/>
              </p:cNvSpPr>
              <p:nvPr/>
            </p:nvSpPr>
            <p:spPr bwMode="auto">
              <a:xfrm rot="5400000">
                <a:off x="2226048" y="4399826"/>
                <a:ext cx="66614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3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32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79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2226048" y="4399826"/>
                <a:ext cx="66614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80" name="Text Box 36"/>
              <p:cNvSpPr txBox="1">
                <a:spLocks noChangeArrowheads="1"/>
              </p:cNvSpPr>
              <p:nvPr/>
            </p:nvSpPr>
            <p:spPr bwMode="auto">
              <a:xfrm>
                <a:off x="2286000" y="5334000"/>
                <a:ext cx="473075" cy="37306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80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334000"/>
                <a:ext cx="473075" cy="37306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81" name="AutoShape 37"/>
          <p:cNvSpPr>
            <a:spLocks noChangeArrowheads="1"/>
          </p:cNvSpPr>
          <p:nvPr/>
        </p:nvSpPr>
        <p:spPr bwMode="auto">
          <a:xfrm rot="5400000">
            <a:off x="762000" y="3475687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31782" name="AutoShape 38"/>
          <p:cNvSpPr>
            <a:spLocks noChangeArrowheads="1"/>
          </p:cNvSpPr>
          <p:nvPr/>
        </p:nvSpPr>
        <p:spPr bwMode="auto">
          <a:xfrm rot="-3944157">
            <a:off x="895350" y="2900363"/>
            <a:ext cx="2073275" cy="228600"/>
          </a:xfrm>
          <a:prstGeom prst="rightArrow">
            <a:avLst>
              <a:gd name="adj1" fmla="val 50000"/>
              <a:gd name="adj2" fmla="val 22673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31783" name="AutoShape 39"/>
          <p:cNvSpPr>
            <a:spLocks noChangeArrowheads="1"/>
          </p:cNvSpPr>
          <p:nvPr/>
        </p:nvSpPr>
        <p:spPr bwMode="auto">
          <a:xfrm rot="-24414141">
            <a:off x="1257300" y="3695700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31784" name="AutoShape 40"/>
          <p:cNvSpPr>
            <a:spLocks noChangeArrowheads="1"/>
          </p:cNvSpPr>
          <p:nvPr/>
        </p:nvSpPr>
        <p:spPr bwMode="auto">
          <a:xfrm rot="-19456842">
            <a:off x="990600" y="4876800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31785" name="Text Box 41"/>
          <p:cNvSpPr txBox="1">
            <a:spLocks noChangeArrowheads="1"/>
          </p:cNvSpPr>
          <p:nvPr/>
        </p:nvSpPr>
        <p:spPr bwMode="auto">
          <a:xfrm>
            <a:off x="586246" y="3946416"/>
            <a:ext cx="10214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noProof="0" dirty="0"/>
              <a:t>key</a:t>
            </a:r>
            <a:br>
              <a:rPr lang="en-US" noProof="0" dirty="0"/>
            </a:br>
            <a:r>
              <a:rPr lang="en-US" noProof="0" dirty="0"/>
              <a:t>schedule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86" name="Text Box 42"/>
              <p:cNvSpPr txBox="1">
                <a:spLocks noChangeArrowheads="1"/>
              </p:cNvSpPr>
              <p:nvPr/>
            </p:nvSpPr>
            <p:spPr bwMode="auto">
              <a:xfrm>
                <a:off x="2209800" y="1676400"/>
                <a:ext cx="5334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786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1676400"/>
                <a:ext cx="533400" cy="3698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87" name="AutoShape 43"/>
          <p:cNvSpPr>
            <a:spLocks noChangeArrowheads="1"/>
          </p:cNvSpPr>
          <p:nvPr/>
        </p:nvSpPr>
        <p:spPr bwMode="auto">
          <a:xfrm>
            <a:off x="2667000" y="16764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788" name="AutoShape 44"/>
          <p:cNvSpPr>
            <a:spLocks noChangeArrowheads="1"/>
          </p:cNvSpPr>
          <p:nvPr/>
        </p:nvSpPr>
        <p:spPr bwMode="auto">
          <a:xfrm>
            <a:off x="2667000" y="33528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789" name="AutoShape 45"/>
          <p:cNvSpPr>
            <a:spLocks noChangeArrowheads="1"/>
          </p:cNvSpPr>
          <p:nvPr/>
        </p:nvSpPr>
        <p:spPr bwMode="auto">
          <a:xfrm>
            <a:off x="2743200" y="5257800"/>
            <a:ext cx="2514600" cy="228600"/>
          </a:xfrm>
          <a:prstGeom prst="rightArrow">
            <a:avLst>
              <a:gd name="adj1" fmla="val 50000"/>
              <a:gd name="adj2" fmla="val 2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800" name="Line 56"/>
          <p:cNvSpPr>
            <a:spLocks noChangeShapeType="1"/>
          </p:cNvSpPr>
          <p:nvPr/>
        </p:nvSpPr>
        <p:spPr bwMode="auto">
          <a:xfrm>
            <a:off x="4267200" y="5715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801" name="Line 57"/>
          <p:cNvSpPr>
            <a:spLocks noChangeShapeType="1"/>
          </p:cNvSpPr>
          <p:nvPr/>
        </p:nvSpPr>
        <p:spPr bwMode="auto">
          <a:xfrm>
            <a:off x="7010400" y="510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28600"/>
            <a:ext cx="8229600" cy="1143000"/>
          </a:xfrm>
        </p:spPr>
        <p:txBody>
          <a:bodyPr/>
          <a:lstStyle/>
          <a:p>
            <a:r>
              <a:rPr lang="en-US" sz="3600" noProof="0" dirty="0"/>
              <a:t>How to decrypt?</a:t>
            </a:r>
          </a:p>
        </p:txBody>
      </p:sp>
      <p:sp>
        <p:nvSpPr>
          <p:cNvPr id="31803" name="Text Box 59"/>
          <p:cNvSpPr txBox="1">
            <a:spLocks noChangeArrowheads="1"/>
          </p:cNvSpPr>
          <p:nvPr/>
        </p:nvSpPr>
        <p:spPr bwMode="auto">
          <a:xfrm>
            <a:off x="152400" y="587981"/>
            <a:ext cx="47841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noProof="0" dirty="0"/>
              <a:t>Reverse the key schedule (</a:t>
            </a:r>
            <a:r>
              <a:rPr lang="en-US" sz="2000" b="1" noProof="0" dirty="0">
                <a:solidFill>
                  <a:srgbClr val="0070C0"/>
                </a:solidFill>
              </a:rPr>
              <a:t>note</a:t>
            </a:r>
            <a:r>
              <a:rPr lang="en-US" sz="2000" noProof="0" dirty="0"/>
              <a:t>: </a:t>
            </a:r>
            <a:r>
              <a:rPr lang="en-US" sz="2000" b="1" noProof="0" dirty="0">
                <a:solidFill>
                  <a:srgbClr val="FF0000"/>
                </a:solidFill>
              </a:rPr>
              <a:t>symmetry</a:t>
            </a:r>
            <a:r>
              <a:rPr lang="en-US" sz="2000" noProof="0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381024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  <p:bldP spid="31749" grpId="0" animBg="1"/>
      <p:bldP spid="31750" grpId="0" animBg="1"/>
      <p:bldP spid="31751" grpId="0" animBg="1"/>
      <p:bldP spid="31752" grpId="0" animBg="1"/>
      <p:bldP spid="31754" grpId="0" animBg="1"/>
      <p:bldP spid="31755" grpId="0" animBg="1"/>
      <p:bldP spid="31756" grpId="0" animBg="1"/>
      <p:bldP spid="31757" grpId="0" animBg="1"/>
      <p:bldP spid="31758" grpId="0" animBg="1"/>
      <p:bldP spid="31759" grpId="0" animBg="1"/>
      <p:bldP spid="31760" grpId="0" animBg="1"/>
      <p:bldP spid="31762" grpId="0" animBg="1"/>
      <p:bldP spid="31763" grpId="0" animBg="1"/>
      <p:bldP spid="31764" grpId="0" animBg="1"/>
      <p:bldP spid="31765" grpId="0" animBg="1"/>
      <p:bldP spid="31766" grpId="0" animBg="1"/>
      <p:bldP spid="31767" grpId="0" animBg="1"/>
      <p:bldP spid="31768" grpId="0" animBg="1"/>
      <p:bldP spid="31769" grpId="0" animBg="1"/>
      <p:bldP spid="31771" grpId="0" animBg="1"/>
      <p:bldP spid="31772" grpId="0" animBg="1"/>
      <p:bldP spid="31773" grpId="0" animBg="1"/>
      <p:bldP spid="31774" grpId="0"/>
      <p:bldP spid="31777" grpId="0" animBg="1"/>
      <p:bldP spid="31778" grpId="0" animBg="1"/>
      <p:bldP spid="31779" grpId="0"/>
      <p:bldP spid="31780" grpId="0" animBg="1"/>
      <p:bldP spid="31781" grpId="0" animBg="1"/>
      <p:bldP spid="31782" grpId="0" animBg="1"/>
      <p:bldP spid="31783" grpId="0" animBg="1"/>
      <p:bldP spid="31784" grpId="0" animBg="1"/>
      <p:bldP spid="31785" grpId="0" animBg="1"/>
      <p:bldP spid="31786" grpId="0" animBg="1"/>
      <p:bldP spid="31787" grpId="0" animBg="1"/>
      <p:bldP spid="31788" grpId="0" animBg="1"/>
      <p:bldP spid="31789" grpId="0" animBg="1"/>
      <p:bldP spid="31800" grpId="0" animBg="1"/>
      <p:bldP spid="31801" grpId="0" animBg="1"/>
      <p:bldP spid="31803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91" y="365127"/>
            <a:ext cx="8238259" cy="98707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Feistel networks are also studied by the theoreticians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72518" cy="4900634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None/>
                </a:pPr>
                <a:r>
                  <a:rPr lang="en-US" noProof="0" dirty="0"/>
                  <a:t>Suppose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is a pseudorandom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function</a:t>
                </a:r>
                <a:r>
                  <a:rPr lang="en-US" noProof="0" dirty="0"/>
                  <a:t>, and we use it to construct a Feistel network.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>
                  <a:buNone/>
                </a:pPr>
                <a:r>
                  <a:rPr lang="en-US" noProof="0" dirty="0"/>
                  <a:t>Then:</a:t>
                </a:r>
              </a:p>
              <a:p>
                <a:r>
                  <a:rPr lang="en-US" noProof="0" dirty="0"/>
                  <a:t>the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noProof="0" dirty="0"/>
                  <a:t>-round Feistel network is a </a:t>
                </a:r>
                <a:r>
                  <a:rPr lang="en-US" b="1" noProof="0" dirty="0"/>
                  <a:t>pseudorandom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permutation</a:t>
                </a:r>
                <a:r>
                  <a:rPr lang="en-US" noProof="0" dirty="0"/>
                  <a:t>,</a:t>
                </a:r>
              </a:p>
              <a:p>
                <a:r>
                  <a:rPr lang="en-US" noProof="0" dirty="0"/>
                  <a:t>the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noProof="0" dirty="0"/>
                  <a:t>-round Feistel network is a </a:t>
                </a:r>
                <a:r>
                  <a:rPr lang="en-US" b="1" noProof="0" dirty="0">
                    <a:solidFill>
                      <a:srgbClr val="C00000"/>
                    </a:solidFill>
                  </a:rPr>
                  <a:t>strong</a:t>
                </a:r>
                <a:r>
                  <a:rPr lang="en-US" b="1" noProof="0" dirty="0"/>
                  <a:t> pseudorandom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permutation</a:t>
                </a:r>
                <a:r>
                  <a:rPr lang="en-US" noProof="0" dirty="0"/>
                  <a:t>.</a:t>
                </a:r>
                <a:br>
                  <a:rPr lang="en-US" noProof="0" dirty="0"/>
                </a:br>
                <a:br>
                  <a:rPr lang="en-US" noProof="0" dirty="0"/>
                </a:br>
                <a:endParaRPr lang="en-US" sz="2800" noProof="0" dirty="0"/>
              </a:p>
              <a:p>
                <a:pPr>
                  <a:buNone/>
                </a:pPr>
                <a:r>
                  <a:rPr lang="en-US" sz="2800" noProof="0" dirty="0"/>
                  <a:t>see </a:t>
                </a:r>
                <a:r>
                  <a:rPr lang="en-US" sz="2800" b="1" noProof="0" dirty="0">
                    <a:solidFill>
                      <a:srgbClr val="00B050"/>
                    </a:solidFill>
                  </a:rPr>
                  <a:t>M. Luby and C. Rackoff. "How to Construct Pseudorandom Permutations and Pseudorandom Functions." In </a:t>
                </a:r>
                <a:r>
                  <a:rPr lang="en-US" sz="2800" b="1" i="1" noProof="0" dirty="0">
                    <a:solidFill>
                      <a:srgbClr val="00B050"/>
                    </a:solidFill>
                  </a:rPr>
                  <a:t>SIAM J. </a:t>
                </a:r>
                <a:r>
                  <a:rPr lang="en-US" sz="2800" b="1" i="1" noProof="0" dirty="0" err="1">
                    <a:solidFill>
                      <a:srgbClr val="00B050"/>
                    </a:solidFill>
                  </a:rPr>
                  <a:t>Comput</a:t>
                </a:r>
                <a:r>
                  <a:rPr lang="en-US" sz="2800" b="1" i="1" noProof="0" dirty="0">
                    <a:solidFill>
                      <a:srgbClr val="00B050"/>
                    </a:solidFill>
                  </a:rPr>
                  <a:t>.,</a:t>
                </a:r>
                <a:r>
                  <a:rPr lang="en-US" sz="2800" b="1" noProof="0" dirty="0">
                    <a:solidFill>
                      <a:srgbClr val="00B050"/>
                    </a:solidFill>
                  </a:rPr>
                  <a:t> vol. 17, 1988, pp. 373-386</a:t>
                </a:r>
                <a:r>
                  <a:rPr lang="en-US" noProof="0" dirty="0"/>
                  <a:t>.</a:t>
                </a:r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72518" cy="4900634"/>
              </a:xfrm>
              <a:blipFill>
                <a:blip r:embed="rId3"/>
                <a:stretch>
                  <a:fillRect l="-1347" t="-3627" r="-29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773" y="-39232"/>
            <a:ext cx="8840732" cy="1325563"/>
          </a:xfrm>
        </p:spPr>
        <p:txBody>
          <a:bodyPr>
            <a:normAutofit/>
          </a:bodyPr>
          <a:lstStyle/>
          <a:p>
            <a:r>
              <a:rPr lang="en-US" sz="4000" noProof="0" dirty="0"/>
              <a:t>How is the Feistel network used in DES?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060848"/>
                <a:ext cx="8229600" cy="3078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The following needs to be described:</a:t>
                </a:r>
              </a:p>
              <a:p>
                <a:pPr marL="609600" indent="-609600">
                  <a:buFontTx/>
                  <a:buAutoNum type="arabicPeriod"/>
                </a:pPr>
                <a:endParaRPr lang="en-US" noProof="0" dirty="0"/>
              </a:p>
              <a:p>
                <a:pPr marL="609600" indent="-609600">
                  <a:buFontTx/>
                  <a:buAutoNum type="arabicPeriod"/>
                </a:pPr>
                <a:r>
                  <a:rPr lang="en-US" noProof="0" dirty="0"/>
                  <a:t>The concrete parameters</a:t>
                </a:r>
              </a:p>
              <a:p>
                <a:pPr marL="609600" indent="-609600">
                  <a:buFontTx/>
                  <a:buAutoNum type="arabicPeriod"/>
                </a:pPr>
                <a:r>
                  <a:rPr lang="en-US" noProof="0" dirty="0"/>
                  <a:t>The key schedule algorithm.</a:t>
                </a:r>
              </a:p>
              <a:p>
                <a:pPr marL="609600" indent="-609600">
                  <a:buFontTx/>
                  <a:buAutoNum type="arabicPeriod"/>
                </a:pPr>
                <a:r>
                  <a:rPr lang="en-US" noProof="0" dirty="0"/>
                  <a:t>The functions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noProof="0" dirty="0"/>
                  <a:t>.</a:t>
                </a:r>
              </a:p>
            </p:txBody>
          </p:sp>
        </mc:Choice>
        <mc:Fallback>
          <p:sp>
            <p:nvSpPr>
              <p:cNvPr id="92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060848"/>
                <a:ext cx="8229600" cy="3078163"/>
              </a:xfrm>
              <a:blipFill>
                <a:blip r:embed="rId3"/>
                <a:stretch>
                  <a:fillRect l="-1698" t="-329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0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76600" y="18288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noProof="0" dirty="0"/>
              <a:t>initial permutation (</a:t>
            </a:r>
            <a:r>
              <a:rPr lang="en-US" b="1" noProof="0" dirty="0"/>
              <a:t>IP</a:t>
            </a:r>
            <a:r>
              <a:rPr lang="en-US" noProof="0" dirty="0"/>
              <a:t>)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214678" y="2786058"/>
            <a:ext cx="3733800" cy="193899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anchor="ctr" anchorCtr="1">
            <a:spAutoFit/>
          </a:bodyPr>
          <a:lstStyle/>
          <a:p>
            <a:pPr algn="ctr"/>
            <a:endParaRPr lang="en-US" noProof="0" dirty="0"/>
          </a:p>
          <a:p>
            <a:pPr algn="ctr"/>
            <a:endParaRPr lang="en-US" sz="2800" noProof="0" dirty="0"/>
          </a:p>
          <a:p>
            <a:pPr algn="ctr"/>
            <a:r>
              <a:rPr lang="en-US" sz="2800" b="1" noProof="0" dirty="0"/>
              <a:t>“Feistel network”</a:t>
            </a:r>
            <a:endParaRPr lang="en-US" sz="2800" noProof="0" dirty="0"/>
          </a:p>
          <a:p>
            <a:pPr algn="ctr"/>
            <a:r>
              <a:rPr lang="en-US" sz="2800" noProof="0" dirty="0"/>
              <a:t> </a:t>
            </a:r>
          </a:p>
          <a:p>
            <a:pPr algn="ctr"/>
            <a:r>
              <a:rPr lang="en-US" noProof="0" dirty="0"/>
              <a:t> 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3200400" y="53340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noProof="0" dirty="0"/>
              <a:t>final permutation (</a:t>
            </a:r>
            <a:r>
              <a:rPr lang="en-US" b="1" noProof="0" dirty="0"/>
              <a:t>IP</a:t>
            </a:r>
            <a:r>
              <a:rPr lang="en-US" b="1" baseline="30000" noProof="0" dirty="0"/>
              <a:t>-1</a:t>
            </a:r>
            <a:r>
              <a:rPr lang="en-US" noProof="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8" name="Text Box 8"/>
              <p:cNvSpPr txBox="1">
                <a:spLocks noChangeArrowheads="1"/>
              </p:cNvSpPr>
              <p:nvPr/>
            </p:nvSpPr>
            <p:spPr bwMode="auto">
              <a:xfrm>
                <a:off x="1447800" y="2714620"/>
                <a:ext cx="838200" cy="206210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endParaRPr lang="en-US" noProof="0" dirty="0"/>
              </a:p>
              <a:p>
                <a:pPr algn="ctr"/>
                <a:endParaRPr lang="en-US" noProof="0" dirty="0"/>
              </a:p>
              <a:p>
                <a:pPr algn="ctr"/>
                <a:endParaRPr lang="en-US" noProof="0" dirty="0"/>
              </a:p>
              <a:p>
                <a:pPr algn="ctr"/>
                <a:r>
                  <a:rPr lang="en-US" sz="2000" noProof="0" dirty="0"/>
                  <a:t>key</a:t>
                </a:r>
                <a:r>
                  <a:rPr lang="en-US" sz="2000" b="1" noProof="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noProof="0" dirty="0"/>
              </a:p>
              <a:p>
                <a:pPr algn="ctr"/>
                <a:endParaRPr lang="en-US" noProof="0" dirty="0"/>
              </a:p>
              <a:p>
                <a:pPr algn="ctr"/>
                <a:endParaRPr lang="en-US" noProof="0" dirty="0"/>
              </a:p>
            </p:txBody>
          </p:sp>
        </mc:Choice>
        <mc:Fallback>
          <p:sp>
            <p:nvSpPr>
              <p:cNvPr id="512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2714620"/>
                <a:ext cx="838200" cy="2062103"/>
              </a:xfrm>
              <a:prstGeom prst="rect">
                <a:avLst/>
              </a:prstGeom>
              <a:blipFill>
                <a:blip r:embed="rId3"/>
                <a:stretch>
                  <a:fillRect l="-294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3200400" y="9144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b="1" noProof="0" dirty="0"/>
              <a:t>input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200400" y="6248400"/>
            <a:ext cx="37338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b="1" noProof="0" dirty="0"/>
              <a:t>output</a:t>
            </a:r>
          </a:p>
        </p:txBody>
      </p:sp>
      <p:sp>
        <p:nvSpPr>
          <p:cNvPr id="5134" name="AutoShape 14"/>
          <p:cNvSpPr>
            <a:spLocks noChangeArrowheads="1"/>
          </p:cNvSpPr>
          <p:nvPr/>
        </p:nvSpPr>
        <p:spPr bwMode="auto">
          <a:xfrm>
            <a:off x="4114800" y="1371600"/>
            <a:ext cx="19812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135" name="AutoShape 15"/>
          <p:cNvSpPr>
            <a:spLocks noChangeArrowheads="1"/>
          </p:cNvSpPr>
          <p:nvPr/>
        </p:nvSpPr>
        <p:spPr bwMode="auto">
          <a:xfrm>
            <a:off x="4267200" y="2286000"/>
            <a:ext cx="17526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136" name="AutoShape 16"/>
          <p:cNvSpPr>
            <a:spLocks noChangeArrowheads="1"/>
          </p:cNvSpPr>
          <p:nvPr/>
        </p:nvSpPr>
        <p:spPr bwMode="auto">
          <a:xfrm>
            <a:off x="4191000" y="4876800"/>
            <a:ext cx="19050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137" name="AutoShape 17"/>
          <p:cNvSpPr>
            <a:spLocks noChangeArrowheads="1"/>
          </p:cNvSpPr>
          <p:nvPr/>
        </p:nvSpPr>
        <p:spPr bwMode="auto">
          <a:xfrm>
            <a:off x="4191000" y="5791200"/>
            <a:ext cx="1981200" cy="381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138" name="AutoShape 18"/>
          <p:cNvSpPr>
            <a:spLocks noChangeArrowheads="1"/>
          </p:cNvSpPr>
          <p:nvPr/>
        </p:nvSpPr>
        <p:spPr bwMode="auto">
          <a:xfrm rot="16200000">
            <a:off x="1790700" y="3314700"/>
            <a:ext cx="1905000" cy="762000"/>
          </a:xfrm>
          <a:prstGeom prst="downArrow">
            <a:avLst>
              <a:gd name="adj1" fmla="val 50000"/>
              <a:gd name="adj2" fmla="val 5506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5140" name="Line 20"/>
          <p:cNvSpPr>
            <a:spLocks noChangeShapeType="1"/>
          </p:cNvSpPr>
          <p:nvPr/>
        </p:nvSpPr>
        <p:spPr bwMode="auto">
          <a:xfrm>
            <a:off x="5486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5141" name="Line 21"/>
          <p:cNvSpPr>
            <a:spLocks noChangeShapeType="1"/>
          </p:cNvSpPr>
          <p:nvPr/>
        </p:nvSpPr>
        <p:spPr bwMode="auto">
          <a:xfrm flipH="1">
            <a:off x="3200400" y="533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5142" name="Line 22"/>
          <p:cNvSpPr>
            <a:spLocks noChangeShapeType="1"/>
          </p:cNvSpPr>
          <p:nvPr/>
        </p:nvSpPr>
        <p:spPr bwMode="auto">
          <a:xfrm>
            <a:off x="3200400" y="3810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5143" name="Line 23"/>
          <p:cNvSpPr>
            <a:spLocks noChangeShapeType="1"/>
          </p:cNvSpPr>
          <p:nvPr/>
        </p:nvSpPr>
        <p:spPr bwMode="auto">
          <a:xfrm>
            <a:off x="6934200" y="3810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39" name="Text Box 19"/>
              <p:cNvSpPr txBox="1">
                <a:spLocks noChangeArrowheads="1"/>
              </p:cNvSpPr>
              <p:nvPr/>
            </p:nvSpPr>
            <p:spPr bwMode="auto">
              <a:xfrm>
                <a:off x="4648200" y="381000"/>
                <a:ext cx="87716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en-US" noProof="0" dirty="0"/>
                  <a:t> bits</a:t>
                </a:r>
              </a:p>
            </p:txBody>
          </p:sp>
        </mc:Choice>
        <mc:Fallback>
          <p:sp>
            <p:nvSpPr>
              <p:cNvPr id="513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8200" y="381000"/>
                <a:ext cx="877163" cy="369332"/>
              </a:xfrm>
              <a:prstGeom prst="rect">
                <a:avLst/>
              </a:prstGeom>
              <a:blipFill>
                <a:blip r:embed="rId4"/>
                <a:stretch>
                  <a:fillRect t="-10000" r="-5797" b="-23333"/>
                </a:stretch>
              </a:blipFill>
              <a:ln w="31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23528" y="381000"/>
            <a:ext cx="12130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noProof="0" dirty="0"/>
              <a:t>DES:</a:t>
            </a:r>
          </a:p>
        </p:txBody>
      </p:sp>
      <p:grpSp>
        <p:nvGrpSpPr>
          <p:cNvPr id="3" name="Group 2"/>
          <p:cNvGrpSpPr/>
          <p:nvPr/>
        </p:nvGrpSpPr>
        <p:grpSpPr>
          <a:xfrm rot="5400000">
            <a:off x="-64980" y="3607184"/>
            <a:ext cx="2089928" cy="304800"/>
            <a:chOff x="-780959" y="1830977"/>
            <a:chExt cx="3733800" cy="304800"/>
          </a:xfrm>
        </p:grpSpPr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1505041" y="1983377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 flipH="1">
              <a:off x="-780959" y="1983377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-780959" y="183097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2952841" y="183097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510905" y="3574918"/>
            <a:ext cx="867545" cy="369332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i="1" noProof="0" dirty="0">
                <a:solidFill>
                  <a:srgbClr val="FF0000"/>
                </a:solidFill>
              </a:rPr>
              <a:t>56</a:t>
            </a:r>
            <a:r>
              <a:rPr lang="en-US" noProof="0" dirty="0"/>
              <a:t> bits</a:t>
            </a:r>
          </a:p>
        </p:txBody>
      </p:sp>
      <p:sp>
        <p:nvSpPr>
          <p:cNvPr id="4" name="Left Brace 3"/>
          <p:cNvSpPr/>
          <p:nvPr/>
        </p:nvSpPr>
        <p:spPr>
          <a:xfrm flipH="1">
            <a:off x="7092280" y="2644402"/>
            <a:ext cx="504056" cy="2160146"/>
          </a:xfrm>
          <a:prstGeom prst="leftBrace">
            <a:avLst>
              <a:gd name="adj1" fmla="val 38212"/>
              <a:gd name="adj2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740138" y="3378633"/>
            <a:ext cx="9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16</a:t>
            </a:r>
            <a:r>
              <a:rPr lang="en-US" noProof="0" dirty="0">
                <a:solidFill>
                  <a:srgbClr val="FF0000"/>
                </a:solidFill>
              </a:rPr>
              <a:t> </a:t>
            </a:r>
            <a:r>
              <a:rPr lang="en-US" noProof="0" dirty="0"/>
              <a:t>rounds</a:t>
            </a:r>
          </a:p>
        </p:txBody>
      </p:sp>
    </p:spTree>
    <p:extLst>
      <p:ext uri="{BB962C8B-B14F-4D97-AF65-F5344CB8AC3E}">
        <p14:creationId xmlns:p14="http://schemas.microsoft.com/office/powerpoint/2010/main" val="413970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6" grpId="0" animBg="1"/>
      <p:bldP spid="5127" grpId="0" animBg="1"/>
      <p:bldP spid="5128" grpId="0" animBg="1"/>
      <p:bldP spid="5131" grpId="0" animBg="1"/>
      <p:bldP spid="5132" grpId="0" animBg="1"/>
      <p:bldP spid="5134" grpId="0" animBg="1"/>
      <p:bldP spid="5135" grpId="0" animBg="1"/>
      <p:bldP spid="5136" grpId="0" animBg="1"/>
      <p:bldP spid="5137" grpId="0" animBg="1"/>
      <p:bldP spid="5138" grpId="0" animBg="1"/>
      <p:bldP spid="5140" grpId="0" animBg="1"/>
      <p:bldP spid="5141" grpId="0" animBg="1"/>
      <p:bldP spid="5142" grpId="0" animBg="1"/>
      <p:bldP spid="5143" grpId="0" animBg="1"/>
      <p:bldP spid="5139" grpId="0" animBg="1"/>
      <p:bldP spid="4" grpId="0" animBg="1"/>
      <p:bldP spid="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DES</a:t>
            </a:r>
            <a:r>
              <a:rPr lang="en-US" noProof="0" dirty="0"/>
              <a:t> – the conclusion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2143116"/>
            <a:ext cx="8229600" cy="311468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 anchorCtr="0">
            <a:normAutofit/>
          </a:bodyPr>
          <a:lstStyle/>
          <a:p>
            <a:r>
              <a:rPr lang="en-US" noProof="0" dirty="0"/>
              <a:t>The design of </a:t>
            </a:r>
            <a:r>
              <a:rPr lang="en-US" b="1" noProof="0" dirty="0"/>
              <a:t>DES</a:t>
            </a:r>
            <a:r>
              <a:rPr lang="en-US" noProof="0" dirty="0"/>
              <a:t> is extremally good.</a:t>
            </a:r>
          </a:p>
          <a:p>
            <a:r>
              <a:rPr lang="en-US" noProof="0" dirty="0"/>
              <a:t>The only weaknesses: </a:t>
            </a:r>
            <a:r>
              <a:rPr lang="en-US" b="1" noProof="0" dirty="0"/>
              <a:t>short key </a:t>
            </a:r>
            <a:r>
              <a:rPr lang="en-US" noProof="0" dirty="0"/>
              <a:t>and </a:t>
            </a:r>
            <a:r>
              <a:rPr lang="en-US" b="1" noProof="0" dirty="0"/>
              <a:t>block</a:t>
            </a:r>
            <a:r>
              <a:rPr lang="en-US" noProof="0" dirty="0"/>
              <a:t>.</a:t>
            </a:r>
          </a:p>
          <a:p>
            <a:r>
              <a:rPr lang="en-US" noProof="0" dirty="0"/>
              <a:t>Enormous impact on research in cryptography!</a:t>
            </a:r>
          </a:p>
        </p:txBody>
      </p:sp>
    </p:spTree>
    <p:extLst>
      <p:ext uri="{BB962C8B-B14F-4D97-AF65-F5344CB8AC3E}">
        <p14:creationId xmlns:p14="http://schemas.microsoft.com/office/powerpoint/2010/main" val="374037060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One practical weakness of Feistel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05633"/>
            <a:ext cx="7886700" cy="3871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Only </a:t>
            </a:r>
            <a:r>
              <a:rPr lang="en-US" b="1" noProof="0" dirty="0">
                <a:solidFill>
                  <a:srgbClr val="0070C0"/>
                </a:solidFill>
              </a:rPr>
              <a:t>half of the message </a:t>
            </a:r>
            <a:r>
              <a:rPr lang="en-US" noProof="0" dirty="0"/>
              <a:t>is processed at one time.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u="sng" noProof="0" dirty="0"/>
              <a:t>Question</a:t>
            </a:r>
            <a:r>
              <a:rPr lang="en-US" noProof="0" dirty="0"/>
              <a:t>: Is there any alternative construction that does not have this problem?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noProof="0" dirty="0">
                <a:solidFill>
                  <a:srgbClr val="FF0000"/>
                </a:solidFill>
              </a:rPr>
              <a:t>Yes! </a:t>
            </a:r>
            <a:r>
              <a:rPr lang="en-US" noProof="0" dirty="0"/>
              <a:t>(</a:t>
            </a:r>
            <a:r>
              <a:rPr lang="en-US" b="1" noProof="0" dirty="0"/>
              <a:t>substitution-permutation networks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264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noProof="0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Popular construction paradigms</a:t>
            </a:r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Feistel ciphers </a:t>
            </a:r>
          </a:p>
          <a:p>
            <a:pPr marL="1428750" lvl="2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Substitution-permutation networks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1641530" y="5205662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884933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Substitution-permutation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Based on the ideas of </a:t>
            </a:r>
            <a:r>
              <a:rPr lang="en-US" b="1" noProof="0" dirty="0">
                <a:solidFill>
                  <a:srgbClr val="FF0000"/>
                </a:solidFill>
              </a:rPr>
              <a:t>Claude Shannon </a:t>
            </a:r>
            <a:r>
              <a:rPr lang="en-US" noProof="0" dirty="0"/>
              <a:t>(1916– 2001) from</a:t>
            </a:r>
            <a:r>
              <a:rPr lang="en-US" b="1" noProof="0" dirty="0"/>
              <a:t> </a:t>
            </a:r>
            <a:r>
              <a:rPr lang="en-US" b="1" noProof="0" dirty="0">
                <a:solidFill>
                  <a:srgbClr val="00B050"/>
                </a:solidFill>
              </a:rPr>
              <a:t>1949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Used in </a:t>
            </a:r>
            <a:r>
              <a:rPr lang="en-US" b="1" noProof="0" dirty="0">
                <a:solidFill>
                  <a:srgbClr val="0070C0"/>
                </a:solidFill>
              </a:rPr>
              <a:t>AES (Rijndael), 3-Way, SAFER, SHARK, Square</a:t>
            </a:r>
            <a:r>
              <a:rPr lang="en-US" noProof="0" dirty="0"/>
              <a:t>...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6146" name="Picture 2" descr="https://upload.wikimedia.org/wikipedia/en/2/2f/Claude_Elwood_Shannon_(1916-200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636912"/>
            <a:ext cx="1376511" cy="194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75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noProof="0" dirty="0"/>
              <a:t>Advanced Encryption Standard (AES)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736"/>
            <a:ext cx="6257940" cy="5000660"/>
          </a:xfr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anchor="ctr" anchorCtr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noProof="0" dirty="0"/>
              <a:t>Competition for </a:t>
            </a:r>
            <a:r>
              <a:rPr lang="en-US" sz="2400" b="1" noProof="0" dirty="0"/>
              <a:t>AES</a:t>
            </a:r>
            <a:r>
              <a:rPr lang="en-US" sz="2400" noProof="0" dirty="0"/>
              <a:t> announced in </a:t>
            </a:r>
            <a:r>
              <a:rPr lang="en-US" sz="2400" b="1" noProof="0" dirty="0">
                <a:solidFill>
                  <a:srgbClr val="7030A0"/>
                </a:solidFill>
              </a:rPr>
              <a:t>January 1997</a:t>
            </a:r>
            <a:r>
              <a:rPr lang="en-US" sz="2400" noProof="0" dirty="0">
                <a:solidFill>
                  <a:srgbClr val="7030A0"/>
                </a:solidFill>
              </a:rPr>
              <a:t> </a:t>
            </a:r>
            <a:r>
              <a:rPr lang="en-US" sz="2400" noProof="0" dirty="0"/>
              <a:t>by the US </a:t>
            </a:r>
            <a:r>
              <a:rPr lang="en-US" sz="2400" b="1" noProof="0" dirty="0"/>
              <a:t>National Institute of Standards and Technology</a:t>
            </a:r>
            <a:r>
              <a:rPr lang="en-US" sz="2400" noProof="0" dirty="0"/>
              <a:t> (NIST)</a:t>
            </a:r>
          </a:p>
          <a:p>
            <a:pPr>
              <a:lnSpc>
                <a:spcPct val="90000"/>
              </a:lnSpc>
            </a:pPr>
            <a:r>
              <a:rPr lang="en-US" sz="2400" b="1" noProof="0" dirty="0"/>
              <a:t>15</a:t>
            </a:r>
            <a:r>
              <a:rPr lang="en-US" sz="2400" noProof="0" dirty="0"/>
              <a:t> ciphers submitted</a:t>
            </a:r>
          </a:p>
          <a:p>
            <a:pPr>
              <a:lnSpc>
                <a:spcPct val="90000"/>
              </a:lnSpc>
            </a:pPr>
            <a:r>
              <a:rPr lang="en-US" sz="2400" b="1" noProof="0" dirty="0"/>
              <a:t>5</a:t>
            </a:r>
            <a:r>
              <a:rPr lang="en-US" sz="2400" noProof="0" dirty="0"/>
              <a:t> finalists: </a:t>
            </a:r>
            <a:r>
              <a:rPr lang="en-US" sz="2400" b="1" noProof="0" dirty="0">
                <a:solidFill>
                  <a:srgbClr val="0070C0"/>
                </a:solidFill>
              </a:rPr>
              <a:t>MARS, RC6, Rijndael, Serpent</a:t>
            </a:r>
            <a:r>
              <a:rPr lang="en-US" sz="2400" noProof="0" dirty="0"/>
              <a:t>, and </a:t>
            </a:r>
            <a:r>
              <a:rPr lang="en-US" sz="2400" b="1" noProof="0" dirty="0" err="1">
                <a:solidFill>
                  <a:srgbClr val="0070C0"/>
                </a:solidFill>
              </a:rPr>
              <a:t>Twofish</a:t>
            </a:r>
            <a:endParaRPr lang="en-US" sz="2400" b="1" noProof="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b="1" noProof="0" dirty="0">
                <a:solidFill>
                  <a:srgbClr val="7030A0"/>
                </a:solidFill>
              </a:rPr>
              <a:t>October 2, 2000</a:t>
            </a:r>
            <a:r>
              <a:rPr lang="en-US" sz="2400" noProof="0" dirty="0"/>
              <a:t>: </a:t>
            </a:r>
            <a:r>
              <a:rPr lang="en-US" sz="2400" b="1" noProof="0" dirty="0" err="1">
                <a:solidFill>
                  <a:srgbClr val="0070C0"/>
                </a:solidFill>
              </a:rPr>
              <a:t>Rijandel</a:t>
            </a:r>
            <a:r>
              <a:rPr lang="en-US" sz="2400" noProof="0" dirty="0"/>
              <a:t> selected as the winner.</a:t>
            </a:r>
          </a:p>
          <a:p>
            <a:pPr>
              <a:lnSpc>
                <a:spcPct val="90000"/>
              </a:lnSpc>
            </a:pPr>
            <a:r>
              <a:rPr lang="en-US" sz="2400" b="1" noProof="0" dirty="0">
                <a:solidFill>
                  <a:srgbClr val="7030A0"/>
                </a:solidFill>
              </a:rPr>
              <a:t>November 26, 2001</a:t>
            </a:r>
            <a:r>
              <a:rPr lang="en-US" sz="2400" noProof="0" dirty="0"/>
              <a:t>: </a:t>
            </a:r>
            <a:r>
              <a:rPr lang="en-US" sz="2400" b="1" noProof="0" dirty="0"/>
              <a:t>AES</a:t>
            </a:r>
            <a:r>
              <a:rPr lang="en-US" sz="2400" noProof="0" dirty="0"/>
              <a:t> becomes an official standard.</a:t>
            </a:r>
            <a:br>
              <a:rPr lang="en-US" sz="2400" noProof="0" dirty="0"/>
            </a:br>
            <a:endParaRPr lang="en-US" sz="2400" noProof="0" dirty="0"/>
          </a:p>
          <a:p>
            <a:pPr>
              <a:lnSpc>
                <a:spcPct val="90000"/>
              </a:lnSpc>
            </a:pPr>
            <a:r>
              <a:rPr lang="en-US" sz="2400" noProof="0" dirty="0"/>
              <a:t>Authors : </a:t>
            </a:r>
            <a:r>
              <a:rPr lang="en-US" sz="2400" b="1" noProof="0" dirty="0">
                <a:solidFill>
                  <a:srgbClr val="009900"/>
                </a:solidFill>
              </a:rPr>
              <a:t>Vincent </a:t>
            </a:r>
            <a:r>
              <a:rPr lang="en-US" sz="2400" b="1" noProof="0" dirty="0" err="1">
                <a:solidFill>
                  <a:srgbClr val="009900"/>
                </a:solidFill>
              </a:rPr>
              <a:t>Rijmen</a:t>
            </a:r>
            <a:r>
              <a:rPr lang="en-US" sz="2400" noProof="0" dirty="0"/>
              <a:t>, </a:t>
            </a:r>
            <a:r>
              <a:rPr lang="en-US" sz="2400" b="1" noProof="0" dirty="0">
                <a:solidFill>
                  <a:srgbClr val="009900"/>
                </a:solidFill>
              </a:rPr>
              <a:t>Joan Daemen</a:t>
            </a:r>
            <a:r>
              <a:rPr lang="en-US" sz="2400" noProof="0" dirty="0"/>
              <a:t> (from Belgium)</a:t>
            </a:r>
          </a:p>
          <a:p>
            <a:pPr>
              <a:lnSpc>
                <a:spcPct val="90000"/>
              </a:lnSpc>
            </a:pPr>
            <a:r>
              <a:rPr lang="en-US" sz="2400" b="1" noProof="0" dirty="0">
                <a:solidFill>
                  <a:srgbClr val="7030A0"/>
                </a:solidFill>
              </a:rPr>
              <a:t>Key sizes</a:t>
            </a:r>
            <a:r>
              <a:rPr lang="en-US" sz="2400" noProof="0" dirty="0"/>
              <a:t>: </a:t>
            </a:r>
            <a:r>
              <a:rPr lang="en-US" sz="2400" b="1" noProof="0" dirty="0"/>
              <a:t>128</a:t>
            </a:r>
            <a:r>
              <a:rPr lang="en-US" sz="2400" noProof="0" dirty="0"/>
              <a:t>, </a:t>
            </a:r>
            <a:r>
              <a:rPr lang="en-US" sz="2400" b="1" noProof="0" dirty="0"/>
              <a:t>192</a:t>
            </a:r>
            <a:r>
              <a:rPr lang="en-US" sz="2400" noProof="0" dirty="0"/>
              <a:t> or </a:t>
            </a:r>
            <a:r>
              <a:rPr lang="en-US" sz="2400" b="1" noProof="0" dirty="0"/>
              <a:t>256</a:t>
            </a:r>
            <a:r>
              <a:rPr lang="en-US" sz="2400" noProof="0" dirty="0"/>
              <a:t> bit, </a:t>
            </a:r>
            <a:r>
              <a:rPr lang="en-US" sz="2400" b="1" noProof="0" dirty="0">
                <a:solidFill>
                  <a:srgbClr val="7030A0"/>
                </a:solidFill>
              </a:rPr>
              <a:t>block size</a:t>
            </a:r>
            <a:r>
              <a:rPr lang="en-US" sz="2400" noProof="0" dirty="0"/>
              <a:t>: </a:t>
            </a:r>
            <a:r>
              <a:rPr lang="en-US" sz="2400" b="1" noProof="0" dirty="0"/>
              <a:t>128</a:t>
            </a:r>
            <a:r>
              <a:rPr lang="en-US" sz="2400" noProof="0" dirty="0"/>
              <a:t> bits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l="23325" t="18536" r="21052" b="20152"/>
          <a:stretch>
            <a:fillRect/>
          </a:stretch>
        </p:blipFill>
        <p:spPr bwMode="auto">
          <a:xfrm>
            <a:off x="7143768" y="4071942"/>
            <a:ext cx="1623261" cy="2251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 r="25742" b="24285"/>
          <a:stretch>
            <a:fillRect/>
          </a:stretch>
        </p:blipFill>
        <p:spPr bwMode="auto">
          <a:xfrm>
            <a:off x="7143768" y="1593042"/>
            <a:ext cx="1643074" cy="2177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3635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17770"/>
            <a:ext cx="8229600" cy="743769"/>
          </a:xfrm>
        </p:spPr>
        <p:txBody>
          <a:bodyPr>
            <a:normAutofit fontScale="9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noProof="0" dirty="0"/>
              <a:t>Substitution-permutation networks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3"/>
              <p:cNvSpPr txBox="1">
                <a:spLocks noChangeArrowheads="1"/>
              </p:cNvSpPr>
              <p:nvPr/>
            </p:nvSpPr>
            <p:spPr bwMode="auto">
              <a:xfrm>
                <a:off x="3995361" y="3197232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361" y="3197232"/>
                <a:ext cx="611233" cy="369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55"/>
              <p:cNvSpPr txBox="1">
                <a:spLocks noChangeArrowheads="1"/>
              </p:cNvSpPr>
              <p:nvPr/>
            </p:nvSpPr>
            <p:spPr bwMode="auto">
              <a:xfrm>
                <a:off x="3977787" y="5341798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787" y="5341798"/>
                <a:ext cx="5964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3995361" y="1828734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361" y="1828734"/>
                <a:ext cx="611233" cy="369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11"/>
              <p:cNvSpPr txBox="1">
                <a:spLocks noChangeArrowheads="1"/>
              </p:cNvSpPr>
              <p:nvPr/>
            </p:nvSpPr>
            <p:spPr bwMode="auto">
              <a:xfrm>
                <a:off x="5426565" y="1123469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noProof="0" dirty="0"/>
                  <a:t> </a:t>
                </a:r>
              </a:p>
            </p:txBody>
          </p:sp>
        </mc:Choice>
        <mc:Fallback>
          <p:sp>
            <p:nvSpPr>
              <p:cNvPr id="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6565" y="1123469"/>
                <a:ext cx="2480697" cy="369888"/>
              </a:xfrm>
              <a:prstGeom prst="rect">
                <a:avLst/>
              </a:prstGeom>
              <a:blipFill>
                <a:blip r:embed="rId5"/>
                <a:stretch>
                  <a:fillRect t="-3125" b="-2187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5400799" y="6158585"/>
                <a:ext cx="2480697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0799" y="6158585"/>
                <a:ext cx="2480697" cy="369888"/>
              </a:xfrm>
              <a:prstGeom prst="rect">
                <a:avLst/>
              </a:prstGeom>
              <a:blipFill>
                <a:blip r:embed="rId6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396412" y="1854196"/>
            <a:ext cx="2480697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6424597" y="1562460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5426564" y="2564455"/>
                <a:ext cx="2480697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564" y="2564455"/>
                <a:ext cx="2480697" cy="302935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6424597" y="2233636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4685326" y="1882111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6" name="AutoShape 56"/>
          <p:cNvSpPr>
            <a:spLocks noChangeArrowheads="1"/>
          </p:cNvSpPr>
          <p:nvPr/>
        </p:nvSpPr>
        <p:spPr bwMode="auto">
          <a:xfrm>
            <a:off x="4696721" y="3273108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27" name="AutoShape 56"/>
          <p:cNvSpPr>
            <a:spLocks noChangeArrowheads="1"/>
          </p:cNvSpPr>
          <p:nvPr/>
        </p:nvSpPr>
        <p:spPr bwMode="auto">
          <a:xfrm>
            <a:off x="4667752" y="5394897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 rot="5400000">
            <a:off x="6566445" y="4330249"/>
            <a:ext cx="362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noProof="0" dirty="0">
                <a:solidFill>
                  <a:srgbClr val="FF0000"/>
                </a:solidFill>
              </a:rPr>
              <a:t>...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6436657" y="2957960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Rectangle 54"/>
          <p:cNvSpPr/>
          <p:nvPr/>
        </p:nvSpPr>
        <p:spPr>
          <a:xfrm>
            <a:off x="5419328" y="3253208"/>
            <a:ext cx="2480697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 55"/>
              <p:cNvSpPr/>
              <p:nvPr/>
            </p:nvSpPr>
            <p:spPr>
              <a:xfrm>
                <a:off x="5438624" y="3965211"/>
                <a:ext cx="2480697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624" y="3965211"/>
                <a:ext cx="2480697" cy="302935"/>
              </a:xfrm>
              <a:prstGeom prst="rect">
                <a:avLst/>
              </a:prstGeom>
              <a:blipFill>
                <a:blip r:embed="rId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Down Arrow 56"/>
          <p:cNvSpPr/>
          <p:nvPr/>
        </p:nvSpPr>
        <p:spPr>
          <a:xfrm>
            <a:off x="6436657" y="3659799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/>
              <p:cNvSpPr/>
              <p:nvPr/>
            </p:nvSpPr>
            <p:spPr>
              <a:xfrm>
                <a:off x="5421374" y="4704400"/>
                <a:ext cx="2480697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374" y="4704400"/>
                <a:ext cx="2480697" cy="302935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Down Arrow 59"/>
          <p:cNvSpPr/>
          <p:nvPr/>
        </p:nvSpPr>
        <p:spPr>
          <a:xfrm>
            <a:off x="6436657" y="5115539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" name="Rectangle 60"/>
          <p:cNvSpPr/>
          <p:nvPr/>
        </p:nvSpPr>
        <p:spPr>
          <a:xfrm>
            <a:off x="5426564" y="5394897"/>
            <a:ext cx="2480697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62" name="Down Arrow 61"/>
          <p:cNvSpPr/>
          <p:nvPr/>
        </p:nvSpPr>
        <p:spPr>
          <a:xfrm>
            <a:off x="6436656" y="5834044"/>
            <a:ext cx="48463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4157661" y="3773245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3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4157661" y="3773245"/>
                <a:ext cx="43313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ular Callout 2"/>
              <p:cNvSpPr/>
              <p:nvPr/>
            </p:nvSpPr>
            <p:spPr>
              <a:xfrm>
                <a:off x="178889" y="5697832"/>
                <a:ext cx="3749933" cy="867981"/>
              </a:xfrm>
              <a:prstGeom prst="wedgeRectCallout">
                <a:avLst>
                  <a:gd name="adj1" fmla="val 101732"/>
                  <a:gd name="adj2" fmla="val -51524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noProof="0" dirty="0"/>
                  <a:t>simply: </a:t>
                </a:r>
              </a:p>
              <a:p>
                <a:pPr algn="ctr"/>
                <a:r>
                  <a:rPr lang="en-US" sz="2000" b="1" noProof="0" dirty="0" err="1">
                    <a:solidFill>
                      <a:srgbClr val="FF0000"/>
                    </a:solidFill>
                  </a:rPr>
                  <a:t>AddRoundKey</a:t>
                </a:r>
                <a:r>
                  <a:rPr lang="en-US" sz="2000" b="1" noProof="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Rectangular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89" y="5697832"/>
                <a:ext cx="3749933" cy="867981"/>
              </a:xfrm>
              <a:prstGeom prst="wedgeRectCallout">
                <a:avLst>
                  <a:gd name="adj1" fmla="val 101732"/>
                  <a:gd name="adj2" fmla="val -51524"/>
                </a:avLst>
              </a:prstGeom>
              <a:blipFill>
                <a:blip r:embed="rId1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 Box 5"/>
              <p:cNvSpPr txBox="1">
                <a:spLocks noChangeArrowheads="1"/>
              </p:cNvSpPr>
              <p:nvPr/>
            </p:nvSpPr>
            <p:spPr bwMode="auto">
              <a:xfrm>
                <a:off x="704187" y="2600992"/>
                <a:ext cx="1295400" cy="40011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187" y="2600992"/>
                <a:ext cx="129540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AutoShape 9"/>
          <p:cNvSpPr>
            <a:spLocks noChangeArrowheads="1"/>
          </p:cNvSpPr>
          <p:nvPr/>
        </p:nvSpPr>
        <p:spPr bwMode="auto">
          <a:xfrm rot="5400000">
            <a:off x="1058221" y="328833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78" name="AutoShape 10"/>
          <p:cNvSpPr>
            <a:spLocks noChangeArrowheads="1"/>
          </p:cNvSpPr>
          <p:nvPr/>
        </p:nvSpPr>
        <p:spPr bwMode="auto">
          <a:xfrm rot="-24587433">
            <a:off x="1396359" y="2939080"/>
            <a:ext cx="2971800" cy="228600"/>
          </a:xfrm>
          <a:prstGeom prst="rightArrow">
            <a:avLst>
              <a:gd name="adj1" fmla="val 50000"/>
              <a:gd name="adj2" fmla="val 32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79" name="AutoShape 11"/>
          <p:cNvSpPr>
            <a:spLocks noChangeArrowheads="1"/>
          </p:cNvSpPr>
          <p:nvPr/>
        </p:nvSpPr>
        <p:spPr bwMode="auto">
          <a:xfrm rot="-44388809">
            <a:off x="1758309" y="3751880"/>
            <a:ext cx="2274887" cy="260350"/>
          </a:xfrm>
          <a:prstGeom prst="rightArrow">
            <a:avLst>
              <a:gd name="adj1" fmla="val 50000"/>
              <a:gd name="adj2" fmla="val 218445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80" name="AutoShape 12"/>
          <p:cNvSpPr>
            <a:spLocks noChangeArrowheads="1"/>
          </p:cNvSpPr>
          <p:nvPr/>
        </p:nvSpPr>
        <p:spPr bwMode="auto">
          <a:xfrm rot="-19978022">
            <a:off x="1607496" y="4742480"/>
            <a:ext cx="2438400" cy="228600"/>
          </a:xfrm>
          <a:prstGeom prst="rightArrow">
            <a:avLst>
              <a:gd name="adj1" fmla="val 50000"/>
              <a:gd name="adj2" fmla="val 26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81" name="Text Box 13"/>
          <p:cNvSpPr txBox="1">
            <a:spLocks noChangeArrowheads="1"/>
          </p:cNvSpPr>
          <p:nvPr/>
        </p:nvSpPr>
        <p:spPr bwMode="auto">
          <a:xfrm>
            <a:off x="801025" y="3855072"/>
            <a:ext cx="1101725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noProof="0" dirty="0"/>
              <a:t>key</a:t>
            </a:r>
            <a:br>
              <a:rPr lang="en-US" noProof="0" dirty="0"/>
            </a:br>
            <a:r>
              <a:rPr lang="en-US" noProof="0" dirty="0"/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58028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  <p:bldP spid="26" grpId="0" animBg="1"/>
      <p:bldP spid="27" grpId="0" animBg="1"/>
      <p:bldP spid="32" grpId="0"/>
      <p:bldP spid="48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3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4473008" y="1120846"/>
            <a:ext cx="4536920" cy="56886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Rectangle 48"/>
          <p:cNvSpPr/>
          <p:nvPr/>
        </p:nvSpPr>
        <p:spPr>
          <a:xfrm>
            <a:off x="179512" y="1119862"/>
            <a:ext cx="4146147" cy="56886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742" y="189361"/>
                <a:ext cx="8862462" cy="533914"/>
              </a:xfrm>
            </p:spPr>
            <p:txBody>
              <a:bodyPr>
                <a:noAutofit/>
              </a:bodyPr>
              <a:lstStyle/>
              <a:p>
                <a:r>
                  <a:rPr lang="en-US" sz="3000" noProof="0" dirty="0"/>
                  <a:t>To invert: invert the order and 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US" sz="3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3000" noProof="0" dirty="0"/>
                  <a:t> instead of </a:t>
                </a:r>
                <a14:m>
                  <m:oMath xmlns:m="http://schemas.openxmlformats.org/officeDocument/2006/math">
                    <m:r>
                      <a:rPr lang="en-US" sz="3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3000" noProof="0" dirty="0"/>
                  <a:t>.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742" y="189361"/>
                <a:ext cx="8862462" cy="533914"/>
              </a:xfrm>
              <a:blipFill>
                <a:blip r:embed="rId3"/>
                <a:stretch>
                  <a:fillRect l="-1574" t="-15909" r="-1431" b="-2954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3"/>
              <p:cNvSpPr txBox="1">
                <a:spLocks noChangeArrowheads="1"/>
              </p:cNvSpPr>
              <p:nvPr/>
            </p:nvSpPr>
            <p:spPr bwMode="auto">
              <a:xfrm>
                <a:off x="426206" y="3356688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206" y="3356688"/>
                <a:ext cx="611233" cy="369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55"/>
              <p:cNvSpPr txBox="1">
                <a:spLocks noChangeArrowheads="1"/>
              </p:cNvSpPr>
              <p:nvPr/>
            </p:nvSpPr>
            <p:spPr bwMode="auto">
              <a:xfrm>
                <a:off x="408632" y="5501254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632" y="5501254"/>
                <a:ext cx="5964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2"/>
              <p:cNvSpPr txBox="1">
                <a:spLocks noChangeArrowheads="1"/>
              </p:cNvSpPr>
              <p:nvPr/>
            </p:nvSpPr>
            <p:spPr bwMode="auto">
              <a:xfrm>
                <a:off x="426206" y="1988190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206" y="1988190"/>
                <a:ext cx="611233" cy="369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11"/>
              <p:cNvSpPr txBox="1">
                <a:spLocks noChangeArrowheads="1"/>
              </p:cNvSpPr>
              <p:nvPr/>
            </p:nvSpPr>
            <p:spPr bwMode="auto">
              <a:xfrm>
                <a:off x="1827256" y="1282925"/>
                <a:ext cx="201622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noProof="0" dirty="0"/>
                  <a:t> </a:t>
                </a:r>
              </a:p>
            </p:txBody>
          </p:sp>
        </mc:Choice>
        <mc:Fallback>
          <p:sp>
            <p:nvSpPr>
              <p:cNvPr id="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7256" y="1282925"/>
                <a:ext cx="2016223" cy="369888"/>
              </a:xfrm>
              <a:prstGeom prst="rect">
                <a:avLst/>
              </a:prstGeom>
              <a:blipFill>
                <a:blip r:embed="rId7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12"/>
              <p:cNvSpPr txBox="1">
                <a:spLocks noChangeArrowheads="1"/>
              </p:cNvSpPr>
              <p:nvPr/>
            </p:nvSpPr>
            <p:spPr bwMode="auto">
              <a:xfrm>
                <a:off x="1831644" y="6318041"/>
                <a:ext cx="201622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1644" y="6318041"/>
                <a:ext cx="2016223" cy="369888"/>
              </a:xfrm>
              <a:prstGeom prst="rect">
                <a:avLst/>
              </a:prstGeom>
              <a:blipFill>
                <a:blip r:embed="rId8"/>
                <a:stretch>
                  <a:fillRect t="-3125" b="-2187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827257" y="2013652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746754" y="172191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1857409" y="2723911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09" y="2723911"/>
                <a:ext cx="2016223" cy="302935"/>
              </a:xfrm>
              <a:prstGeom prst="rect">
                <a:avLst/>
              </a:prstGeom>
              <a:blipFill>
                <a:blip r:embed="rId9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2746754" y="2393092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1116171" y="2041567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1127566" y="3432564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15" name="AutoShape 56"/>
          <p:cNvSpPr>
            <a:spLocks noChangeArrowheads="1"/>
          </p:cNvSpPr>
          <p:nvPr/>
        </p:nvSpPr>
        <p:spPr bwMode="auto">
          <a:xfrm>
            <a:off x="1098597" y="5554353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2792840" y="4453683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2792840" y="4453683"/>
                <a:ext cx="43313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own Arrow 16"/>
          <p:cNvSpPr/>
          <p:nvPr/>
        </p:nvSpPr>
        <p:spPr>
          <a:xfrm>
            <a:off x="2758814" y="311741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/>
          <p:cNvSpPr/>
          <p:nvPr/>
        </p:nvSpPr>
        <p:spPr>
          <a:xfrm>
            <a:off x="1850173" y="3412664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1869469" y="4124667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469" y="4124667"/>
                <a:ext cx="2016223" cy="302935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Down Arrow 19"/>
          <p:cNvSpPr/>
          <p:nvPr/>
        </p:nvSpPr>
        <p:spPr>
          <a:xfrm>
            <a:off x="2758814" y="3819255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1852219" y="4863856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219" y="4863856"/>
                <a:ext cx="2016223" cy="302935"/>
              </a:xfrm>
              <a:prstGeom prst="rect">
                <a:avLst/>
              </a:prstGeom>
              <a:blipFill>
                <a:blip r:embed="rId1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Down Arrow 21"/>
          <p:cNvSpPr/>
          <p:nvPr/>
        </p:nvSpPr>
        <p:spPr>
          <a:xfrm>
            <a:off x="2758814" y="5274995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/>
          <p:cNvSpPr/>
          <p:nvPr/>
        </p:nvSpPr>
        <p:spPr>
          <a:xfrm>
            <a:off x="1857409" y="5554353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2758813" y="5993500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588506" y="3932701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588506" y="3932701"/>
                <a:ext cx="43313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5446036" y="1298585"/>
                <a:ext cx="2088231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noProof="0" dirty="0"/>
                  <a:t> </a:t>
                </a:r>
              </a:p>
            </p:txBody>
          </p:sp>
        </mc:Choice>
        <mc:Fallback>
          <p:sp>
            <p:nvSpPr>
              <p:cNvPr id="26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6036" y="1298585"/>
                <a:ext cx="2088231" cy="369888"/>
              </a:xfrm>
              <a:prstGeom prst="rect">
                <a:avLst/>
              </a:prstGeom>
              <a:blipFill>
                <a:blip r:embed="rId14"/>
                <a:stretch>
                  <a:fillRect t="-3226" b="-2580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5492278" y="6333701"/>
                <a:ext cx="201622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2278" y="6333701"/>
                <a:ext cx="2016223" cy="369888"/>
              </a:xfrm>
              <a:prstGeom prst="rect">
                <a:avLst/>
              </a:prstGeom>
              <a:blipFill>
                <a:blip r:embed="rId15"/>
                <a:stretch>
                  <a:fillRect t="-6452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5487891" y="2029312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29" name="Down Arrow 28"/>
          <p:cNvSpPr/>
          <p:nvPr/>
        </p:nvSpPr>
        <p:spPr>
          <a:xfrm rot="10800000">
            <a:off x="6350014" y="173757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5482039" y="2739570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039" y="2739570"/>
                <a:ext cx="2016223" cy="3029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Down Arrow 30"/>
          <p:cNvSpPr/>
          <p:nvPr/>
        </p:nvSpPr>
        <p:spPr>
          <a:xfrm rot="10800000">
            <a:off x="6350014" y="2408752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6405424" y="4505365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6405424" y="4505365"/>
                <a:ext cx="43313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Down Arrow 32"/>
          <p:cNvSpPr/>
          <p:nvPr/>
        </p:nvSpPr>
        <p:spPr>
          <a:xfrm rot="10800000">
            <a:off x="6362074" y="3133076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5510807" y="3428324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5530103" y="4140327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103" y="4140327"/>
                <a:ext cx="2016223" cy="302935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Down Arrow 35"/>
          <p:cNvSpPr/>
          <p:nvPr/>
        </p:nvSpPr>
        <p:spPr>
          <a:xfrm rot="10800000">
            <a:off x="6362074" y="3834915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5512853" y="4879516"/>
                <a:ext cx="2016223" cy="30293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853" y="4879516"/>
                <a:ext cx="2016223" cy="302935"/>
              </a:xfrm>
              <a:prstGeom prst="rect">
                <a:avLst/>
              </a:prstGeom>
              <a:blipFill>
                <a:blip r:embed="rId1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Down Arrow 37"/>
          <p:cNvSpPr/>
          <p:nvPr/>
        </p:nvSpPr>
        <p:spPr>
          <a:xfrm rot="10800000">
            <a:off x="6362074" y="5229200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 38"/>
          <p:cNvSpPr/>
          <p:nvPr/>
        </p:nvSpPr>
        <p:spPr>
          <a:xfrm>
            <a:off x="5518043" y="5570013"/>
            <a:ext cx="2016223" cy="302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 err="1">
                <a:solidFill>
                  <a:srgbClr val="FF0000"/>
                </a:solidFill>
              </a:rPr>
              <a:t>AddRoundKey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40" name="Down Arrow 39"/>
          <p:cNvSpPr/>
          <p:nvPr/>
        </p:nvSpPr>
        <p:spPr>
          <a:xfrm rot="10800000">
            <a:off x="6362073" y="6009160"/>
            <a:ext cx="393892" cy="25885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Right Arrow 40"/>
          <p:cNvSpPr/>
          <p:nvPr/>
        </p:nvSpPr>
        <p:spPr>
          <a:xfrm>
            <a:off x="3945641" y="6317170"/>
            <a:ext cx="1405708" cy="37075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 Box 53"/>
              <p:cNvSpPr txBox="1">
                <a:spLocks noChangeArrowheads="1"/>
              </p:cNvSpPr>
              <p:nvPr/>
            </p:nvSpPr>
            <p:spPr bwMode="auto">
              <a:xfrm>
                <a:off x="8291857" y="3372348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2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1857" y="3372348"/>
                <a:ext cx="611233" cy="3698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Box 55"/>
              <p:cNvSpPr txBox="1">
                <a:spLocks noChangeArrowheads="1"/>
              </p:cNvSpPr>
              <p:nvPr/>
            </p:nvSpPr>
            <p:spPr bwMode="auto">
              <a:xfrm>
                <a:off x="8274283" y="5516914"/>
                <a:ext cx="596495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4283" y="5516914"/>
                <a:ext cx="59649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Box 52"/>
              <p:cNvSpPr txBox="1">
                <a:spLocks noChangeArrowheads="1"/>
              </p:cNvSpPr>
              <p:nvPr/>
            </p:nvSpPr>
            <p:spPr bwMode="auto">
              <a:xfrm>
                <a:off x="8291857" y="2003850"/>
                <a:ext cx="61123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4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1857" y="2003850"/>
                <a:ext cx="611233" cy="3698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 Box 54"/>
              <p:cNvSpPr txBox="1">
                <a:spLocks noChangeArrowheads="1"/>
              </p:cNvSpPr>
              <p:nvPr/>
            </p:nvSpPr>
            <p:spPr bwMode="auto">
              <a:xfrm rot="5400000">
                <a:off x="8410061" y="4444043"/>
                <a:ext cx="43313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5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8410061" y="4444043"/>
                <a:ext cx="43313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utoShape 56"/>
          <p:cNvSpPr>
            <a:spLocks noChangeArrowheads="1"/>
          </p:cNvSpPr>
          <p:nvPr/>
        </p:nvSpPr>
        <p:spPr bwMode="auto">
          <a:xfrm rot="10800000">
            <a:off x="7605923" y="2057227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47" name="AutoShape 56"/>
          <p:cNvSpPr>
            <a:spLocks noChangeArrowheads="1"/>
          </p:cNvSpPr>
          <p:nvPr/>
        </p:nvSpPr>
        <p:spPr bwMode="auto">
          <a:xfrm rot="10800000">
            <a:off x="7617318" y="3448224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48" name="AutoShape 56"/>
          <p:cNvSpPr>
            <a:spLocks noChangeArrowheads="1"/>
          </p:cNvSpPr>
          <p:nvPr/>
        </p:nvSpPr>
        <p:spPr bwMode="auto">
          <a:xfrm rot="10800000">
            <a:off x="7588349" y="5570013"/>
            <a:ext cx="635190" cy="263134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869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7" grpId="0" animBg="1"/>
      <p:bldP spid="4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56"/>
          <p:cNvSpPr>
            <a:spLocks noChangeArrowheads="1"/>
          </p:cNvSpPr>
          <p:nvPr/>
        </p:nvSpPr>
        <p:spPr bwMode="auto">
          <a:xfrm rot="5400000">
            <a:off x="4506074" y="4951877"/>
            <a:ext cx="1429446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3970784" cy="1143000"/>
              </a:xfrm>
            </p:spPr>
            <p:txBody>
              <a:bodyPr>
                <a:normAutofit/>
              </a:bodyPr>
              <a:lstStyle/>
              <a:p>
                <a:r>
                  <a:rPr lang="en-US" sz="3600" noProof="0" dirty="0"/>
                  <a:t>A construction of </a:t>
                </a:r>
                <a14:m>
                  <m:oMath xmlns:m="http://schemas.openxmlformats.org/officeDocument/2006/math">
                    <m:r>
                      <a:rPr lang="en-US" sz="36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endParaRPr lang="en-US" sz="36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3970784" cy="1143000"/>
              </a:xfrm>
              <a:blipFill>
                <a:blip r:embed="rId2"/>
                <a:stretch>
                  <a:fillRect l="-479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3923232" y="1873438"/>
                <a:ext cx="2636772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3232" y="1873438"/>
                <a:ext cx="2636772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3961417" y="4572845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permutation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noProof="0" dirty="0"/>
                  <a:t> on bits</a:t>
                </a:r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417" y="4572845"/>
                <a:ext cx="2667882" cy="782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6"/>
              <p:cNvSpPr>
                <a:spLocks noChangeArrowheads="1"/>
              </p:cNvSpPr>
              <p:nvPr/>
            </p:nvSpPr>
            <p:spPr bwMode="auto">
              <a:xfrm>
                <a:off x="3950204" y="3937090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0204" y="3937090"/>
                <a:ext cx="26098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6"/>
              <p:cNvSpPr>
                <a:spLocks noChangeArrowheads="1"/>
              </p:cNvSpPr>
              <p:nvPr/>
            </p:nvSpPr>
            <p:spPr bwMode="auto">
              <a:xfrm>
                <a:off x="3950204" y="5876242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0204" y="5876242"/>
                <a:ext cx="26098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/>
          <p:cNvSpPr/>
          <p:nvPr/>
        </p:nvSpPr>
        <p:spPr>
          <a:xfrm>
            <a:off x="3275160" y="2478610"/>
            <a:ext cx="648072" cy="1148762"/>
          </a:xfrm>
          <a:prstGeom prst="leftBrace">
            <a:avLst>
              <a:gd name="adj1" fmla="val 2244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Left Brace 38"/>
          <p:cNvSpPr/>
          <p:nvPr/>
        </p:nvSpPr>
        <p:spPr>
          <a:xfrm>
            <a:off x="3301130" y="4428095"/>
            <a:ext cx="648072" cy="1080120"/>
          </a:xfrm>
          <a:prstGeom prst="leftBrace">
            <a:avLst>
              <a:gd name="adj1" fmla="val 2244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1804310" y="2890828"/>
            <a:ext cx="1434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noProof="0" dirty="0"/>
              <a:t>substitution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4310" y="4764129"/>
            <a:ext cx="1496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permutation</a:t>
            </a:r>
          </a:p>
        </p:txBody>
      </p:sp>
      <p:sp>
        <p:nvSpPr>
          <p:cNvPr id="42" name="AutoShape 56"/>
          <p:cNvSpPr>
            <a:spLocks noChangeArrowheads="1"/>
          </p:cNvSpPr>
          <p:nvPr/>
        </p:nvSpPr>
        <p:spPr bwMode="auto">
          <a:xfrm rot="5400000">
            <a:off x="4517587" y="2974799"/>
            <a:ext cx="1429446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/>
              <p:cNvSpPr/>
              <p:nvPr/>
            </p:nvSpPr>
            <p:spPr>
              <a:xfrm>
                <a:off x="3923365" y="2622465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transformation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365" y="2622465"/>
                <a:ext cx="2667882" cy="7826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64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1" grpId="0" animBg="1"/>
      <p:bldP spid="32" grpId="0" animBg="1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4714061" y="827736"/>
            <a:ext cx="4040795" cy="58416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" name="Rectangle 52"/>
          <p:cNvSpPr/>
          <p:nvPr/>
        </p:nvSpPr>
        <p:spPr>
          <a:xfrm>
            <a:off x="395536" y="836712"/>
            <a:ext cx="4099184" cy="58416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79920" y="258112"/>
                <a:ext cx="8229600" cy="387196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noProof="0" dirty="0"/>
                  <a:t>How to construct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noProof="0" dirty="0"/>
                  <a:t>?</a:t>
                </a: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9920" y="258112"/>
                <a:ext cx="8229600" cy="387196"/>
              </a:xfrm>
              <a:blipFill>
                <a:blip r:embed="rId2"/>
                <a:stretch>
                  <a:fillRect l="-2619" t="-74194" b="-100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Arrow 27"/>
          <p:cNvSpPr/>
          <p:nvPr/>
        </p:nvSpPr>
        <p:spPr>
          <a:xfrm>
            <a:off x="3888309" y="5937426"/>
            <a:ext cx="1643171" cy="37075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/>
              <p:cNvSpPr/>
              <p:nvPr/>
            </p:nvSpPr>
            <p:spPr>
              <a:xfrm>
                <a:off x="4793516" y="1008011"/>
                <a:ext cx="858377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noProof="0" dirty="0"/>
              </a:p>
            </p:txBody>
          </p:sp>
        </mc:Choice>
        <mc:Fallback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516" y="1008011"/>
                <a:ext cx="85837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395536" y="1007871"/>
                <a:ext cx="4956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07871"/>
                <a:ext cx="4956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AutoShape 56"/>
          <p:cNvSpPr>
            <a:spLocks noChangeArrowheads="1"/>
          </p:cNvSpPr>
          <p:nvPr/>
        </p:nvSpPr>
        <p:spPr bwMode="auto">
          <a:xfrm rot="5400000">
            <a:off x="1694618" y="4907149"/>
            <a:ext cx="1649488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6"/>
              <p:cNvSpPr>
                <a:spLocks noChangeArrowheads="1"/>
              </p:cNvSpPr>
              <p:nvPr/>
            </p:nvSpPr>
            <p:spPr bwMode="auto">
              <a:xfrm>
                <a:off x="1187491" y="1531091"/>
                <a:ext cx="2636772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491" y="1531091"/>
                <a:ext cx="2636772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/>
              <p:cNvSpPr/>
              <p:nvPr/>
            </p:nvSpPr>
            <p:spPr>
              <a:xfrm>
                <a:off x="1220427" y="4578915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permutation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noProof="0" dirty="0"/>
                  <a:t> on bits</a:t>
                </a:r>
              </a:p>
            </p:txBody>
          </p:sp>
        </mc:Choice>
        <mc:Fallback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27" y="4578915"/>
                <a:ext cx="2667882" cy="7826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6"/>
              <p:cNvSpPr>
                <a:spLocks noChangeArrowheads="1"/>
              </p:cNvSpPr>
              <p:nvPr/>
            </p:nvSpPr>
            <p:spPr bwMode="auto">
              <a:xfrm>
                <a:off x="1214463" y="3730605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463" y="3730605"/>
                <a:ext cx="26098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 6"/>
              <p:cNvSpPr>
                <a:spLocks noChangeArrowheads="1"/>
              </p:cNvSpPr>
              <p:nvPr/>
            </p:nvSpPr>
            <p:spPr bwMode="auto">
              <a:xfrm>
                <a:off x="1214463" y="5948100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463" y="5948100"/>
                <a:ext cx="26098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AutoShape 56"/>
          <p:cNvSpPr>
            <a:spLocks noChangeArrowheads="1"/>
          </p:cNvSpPr>
          <p:nvPr/>
        </p:nvSpPr>
        <p:spPr bwMode="auto">
          <a:xfrm rot="5400000">
            <a:off x="1680129" y="2666597"/>
            <a:ext cx="1632880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62"/>
              <p:cNvSpPr/>
              <p:nvPr/>
            </p:nvSpPr>
            <p:spPr>
              <a:xfrm>
                <a:off x="1187624" y="2358290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transformation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358290"/>
                <a:ext cx="2667882" cy="7826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utoShape 56"/>
          <p:cNvSpPr>
            <a:spLocks noChangeArrowheads="1"/>
          </p:cNvSpPr>
          <p:nvPr/>
        </p:nvSpPr>
        <p:spPr bwMode="auto">
          <a:xfrm rot="16200000">
            <a:off x="6060558" y="4856903"/>
            <a:ext cx="1619356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 6"/>
              <p:cNvSpPr>
                <a:spLocks noChangeArrowheads="1"/>
              </p:cNvSpPr>
              <p:nvPr/>
            </p:nvSpPr>
            <p:spPr bwMode="auto">
              <a:xfrm>
                <a:off x="5599077" y="1532905"/>
                <a:ext cx="2636772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9077" y="1532905"/>
                <a:ext cx="2636772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 72"/>
              <p:cNvSpPr/>
              <p:nvPr/>
            </p:nvSpPr>
            <p:spPr>
              <a:xfrm>
                <a:off x="5602531" y="4576479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permutation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noProof="0" dirty="0"/>
                  <a:t> on bits</a:t>
                </a:r>
              </a:p>
            </p:txBody>
          </p:sp>
        </mc:Choice>
        <mc:Fallback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531" y="4576479"/>
                <a:ext cx="2667882" cy="7826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Rectangle 6"/>
              <p:cNvSpPr>
                <a:spLocks noChangeArrowheads="1"/>
              </p:cNvSpPr>
              <p:nvPr/>
            </p:nvSpPr>
            <p:spPr bwMode="auto">
              <a:xfrm>
                <a:off x="5631125" y="3711925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4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1125" y="3711925"/>
                <a:ext cx="26098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angle 6"/>
              <p:cNvSpPr>
                <a:spLocks noChangeArrowheads="1"/>
              </p:cNvSpPr>
              <p:nvPr/>
            </p:nvSpPr>
            <p:spPr bwMode="auto">
              <a:xfrm>
                <a:off x="5631125" y="5932305"/>
                <a:ext cx="2609800" cy="38100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1125" y="5932305"/>
                <a:ext cx="26098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AutoShape 56"/>
          <p:cNvSpPr>
            <a:spLocks noChangeArrowheads="1"/>
          </p:cNvSpPr>
          <p:nvPr/>
        </p:nvSpPr>
        <p:spPr bwMode="auto">
          <a:xfrm rot="16200000">
            <a:off x="6065548" y="2666598"/>
            <a:ext cx="1632879" cy="277369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 76"/>
              <p:cNvSpPr/>
              <p:nvPr/>
            </p:nvSpPr>
            <p:spPr>
              <a:xfrm>
                <a:off x="5573043" y="2358290"/>
                <a:ext cx="2667882" cy="78267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transformation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043" y="2358290"/>
                <a:ext cx="2667882" cy="78267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30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28" grpId="0" animBg="1"/>
      <p:bldP spid="55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5238" y="0"/>
                <a:ext cx="7886700" cy="1325563"/>
              </a:xfrm>
            </p:spPr>
            <p:txBody>
              <a:bodyPr/>
              <a:lstStyle/>
              <a:p>
                <a:r>
                  <a:rPr lang="en-US" noProof="0" dirty="0"/>
                  <a:t>Transformation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in AES</a:t>
                </a: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5238" y="0"/>
                <a:ext cx="7886700" cy="1325563"/>
              </a:xfrm>
              <a:blipFill>
                <a:blip r:embed="rId3"/>
                <a:stretch>
                  <a:fillRect l="-305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56792"/>
                <a:ext cx="8229600" cy="194421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In AES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noProof="0" dirty="0"/>
                  <a:t> is represented as a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noProof="0" dirty="0"/>
                  <a:t>-matrix of bytes.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 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56792"/>
                <a:ext cx="8229600" cy="1944216"/>
              </a:xfrm>
              <a:blipFill>
                <a:blip r:embed="rId4"/>
                <a:stretch>
                  <a:fillRect l="-169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323528" y="3861048"/>
                <a:ext cx="432048" cy="148336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3861048"/>
                <a:ext cx="432048" cy="1483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2826166"/>
                  </p:ext>
                </p:extLst>
              </p:nvPr>
            </p:nvGraphicFramePr>
            <p:xfrm>
              <a:off x="1831857" y="3861048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2826166"/>
                  </p:ext>
                </p:extLst>
              </p:nvPr>
            </p:nvGraphicFramePr>
            <p:xfrm>
              <a:off x="1831857" y="3861048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500" t="-3448" r="-302500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500" t="-3448" r="-202500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7692" t="-3448" r="-107692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3448" r="-5000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500" t="-100000" r="-302500" b="-1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500" t="-100000" r="-202500" b="-1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7692" t="-100000" r="-107692" b="-1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100000" r="-5000" b="-1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500" t="-206897" r="-3025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500" t="-206897" r="-2025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7692" t="-206897" r="-107692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206897" r="-5000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500" t="-306897" r="-3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500" t="-306897" r="-2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7692" t="-306897" r="-10769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306897" r="-5000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AutoShape 56"/>
          <p:cNvSpPr>
            <a:spLocks noChangeArrowheads="1"/>
          </p:cNvSpPr>
          <p:nvPr/>
        </p:nvSpPr>
        <p:spPr bwMode="auto">
          <a:xfrm>
            <a:off x="859602" y="4257528"/>
            <a:ext cx="947655" cy="690395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noProof="0" dirty="0"/>
          </a:p>
        </p:txBody>
      </p:sp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3891184" y="4206682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SubBytes</a:t>
            </a:r>
            <a:endParaRPr lang="en-US" noProof="0" dirty="0"/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5392095" y="4184749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ShiftRows</a:t>
            </a:r>
            <a:endParaRPr lang="en-US" noProof="0" dirty="0"/>
          </a:p>
        </p:txBody>
      </p: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6886909" y="4184749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8398768" y="3839113"/>
                <a:ext cx="432048" cy="1483360"/>
              </a:xfrm>
              <a:prstGeom prst="rect">
                <a:avLst/>
              </a:prstGeom>
              <a:solidFill>
                <a:srgbClr val="FCFFE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i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8768" y="3839113"/>
                <a:ext cx="432048" cy="1483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ular Callout 15"/>
              <p:cNvSpPr/>
              <p:nvPr/>
            </p:nvSpPr>
            <p:spPr>
              <a:xfrm>
                <a:off x="1807257" y="2888360"/>
                <a:ext cx="2520281" cy="612648"/>
              </a:xfrm>
              <a:prstGeom prst="wedgeRoundRectCallout">
                <a:avLst>
                  <a:gd name="adj1" fmla="val -20833"/>
                  <a:gd name="adj2" fmla="val 127469"/>
                  <a:gd name="adj3" fmla="val 16667"/>
                </a:avLst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a byte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noProof="0" dirty="0"/>
                  <a:t>)</a:t>
                </a: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Rounded 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257" y="2888360"/>
                <a:ext cx="2520281" cy="612648"/>
              </a:xfrm>
              <a:prstGeom prst="wedgeRoundRectCallout">
                <a:avLst>
                  <a:gd name="adj1" fmla="val -20833"/>
                  <a:gd name="adj2" fmla="val 127469"/>
                  <a:gd name="adj3" fmla="val 16667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eft Brace 16"/>
          <p:cNvSpPr/>
          <p:nvPr/>
        </p:nvSpPr>
        <p:spPr>
          <a:xfrm rot="16200000">
            <a:off x="2569773" y="4656835"/>
            <a:ext cx="504056" cy="2095215"/>
          </a:xfrm>
          <a:prstGeom prst="leftBrace">
            <a:avLst>
              <a:gd name="adj1" fmla="val 33944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086219" y="6050082"/>
                <a:ext cx="22413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bits</a:t>
                </a: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219" y="6050082"/>
                <a:ext cx="2241319" cy="369332"/>
              </a:xfrm>
              <a:prstGeom prst="rect">
                <a:avLst/>
              </a:prstGeom>
              <a:blipFill>
                <a:blip r:embed="rId9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40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702" y="260648"/>
            <a:ext cx="8229600" cy="1143000"/>
          </a:xfrm>
        </p:spPr>
        <p:txBody>
          <a:bodyPr/>
          <a:lstStyle/>
          <a:p>
            <a:r>
              <a:rPr lang="en-US" noProof="0" dirty="0"/>
              <a:t>Main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996952"/>
            <a:ext cx="8229600" cy="356125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This transformation needs to be </a:t>
            </a:r>
            <a:r>
              <a:rPr lang="en-US" b="1" noProof="0" dirty="0">
                <a:solidFill>
                  <a:srgbClr val="0070C0"/>
                </a:solidFill>
              </a:rPr>
              <a:t>invertible</a:t>
            </a:r>
            <a:r>
              <a:rPr lang="en-US" noProof="0" dirty="0"/>
              <a:t>...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noProof="0" dirty="0">
                <a:solidFill>
                  <a:srgbClr val="00B050"/>
                </a:solidFill>
              </a:rPr>
              <a:t>On the other hand</a:t>
            </a:r>
            <a:r>
              <a:rPr lang="en-US" noProof="0" dirty="0"/>
              <a:t>: it cannot be “too simple”.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noProof="0" dirty="0"/>
              <a:t>AES</a:t>
            </a:r>
            <a:r>
              <a:rPr lang="en-US" noProof="0" dirty="0"/>
              <a:t> idea: use </a:t>
            </a:r>
            <a:r>
              <a:rPr lang="en-US" b="1" noProof="0" dirty="0">
                <a:solidFill>
                  <a:srgbClr val="FF0000"/>
                </a:solidFill>
              </a:rPr>
              <a:t>finite field algebra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SubBytes</a:t>
            </a:r>
            <a:endParaRPr lang="en-US" noProof="0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ShiftRows</a:t>
            </a:r>
            <a:endParaRPr lang="en-US" noProof="0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6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72A7-960F-4880-A220-FBE8B605FF4D}" type="slidenum">
              <a:rPr lang="en-US" noProof="0" smtClean="0"/>
              <a:pPr/>
              <a:t>149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8181" name="Rectangle 5"/>
              <p:cNvSpPr>
                <a:spLocks noChangeArrowheads="1"/>
              </p:cNvSpPr>
              <p:nvPr/>
            </p:nvSpPr>
            <p:spPr bwMode="auto">
              <a:xfrm>
                <a:off x="0" y="1571613"/>
                <a:ext cx="9144000" cy="4449776"/>
              </a:xfrm>
              <a:prstGeom prst="rect">
                <a:avLst/>
              </a:prstGeom>
              <a:solidFill>
                <a:schemeClr val="bg2"/>
              </a:solidFill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457200" anchor="ctr"/>
              <a:lstStyle/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noProof="0" dirty="0">
                    <a:cs typeface="Arial" pitchFamily="34" charset="0"/>
                  </a:rPr>
                  <a:t>[</a:t>
                </a:r>
                <a:r>
                  <a:rPr lang="en-US" sz="2200" b="1" noProof="0" dirty="0">
                    <a:solidFill>
                      <a:srgbClr val="008000"/>
                    </a:solidFill>
                    <a:cs typeface="Arial" pitchFamily="34" charset="0"/>
                  </a:rPr>
                  <a:t>closure</a:t>
                </a:r>
                <a:r>
                  <a:rPr lang="en-US" sz="2200" noProof="0" dirty="0">
                    <a:cs typeface="Arial" pitchFamily="34" charset="0"/>
                  </a:rPr>
                  <a:t>] for all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 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US" sz="22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∘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∈ 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,</a:t>
                </a: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en-US" sz="2200" noProof="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noProof="0" dirty="0">
                    <a:cs typeface="Arial" pitchFamily="34" charset="0"/>
                  </a:rPr>
                  <a:t>there exists an </a:t>
                </a:r>
                <a:r>
                  <a:rPr lang="en-US" sz="2200" b="1" noProof="0" dirty="0">
                    <a:solidFill>
                      <a:srgbClr val="008000"/>
                    </a:solidFill>
                    <a:cs typeface="Arial" pitchFamily="34" charset="0"/>
                  </a:rPr>
                  <a:t>identity</a:t>
                </a:r>
                <a:r>
                  <a:rPr lang="en-US" sz="2200" b="1" noProof="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US" sz="22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such that for all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US" sz="22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we have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∘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= 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∘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= 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,</a:t>
                </a: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en-US" sz="2200" noProof="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noProof="0" dirty="0">
                    <a:cs typeface="Arial" pitchFamily="34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US" sz="22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there exists an </a:t>
                </a:r>
                <a:r>
                  <a:rPr lang="en-US" sz="2200" b="1" noProof="0" dirty="0">
                    <a:solidFill>
                      <a:srgbClr val="008000"/>
                    </a:solidFill>
                    <a:cs typeface="Arial" pitchFamily="34" charset="0"/>
                  </a:rPr>
                  <a:t>inverse of</a:t>
                </a:r>
                <a:r>
                  <a:rPr lang="en-US" sz="2200" noProof="0" dirty="0">
                    <a:cs typeface="Arial" pitchFamily="34" charset="0"/>
                  </a:rPr>
                  <a:t>, that is an element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 such that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𝒆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</m:oMath>
                  </m:oMathPara>
                </a14:m>
                <a:endParaRPr lang="en-US" sz="2200" b="1" noProof="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en-US" sz="2200" noProof="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noProof="0" dirty="0">
                    <a:cs typeface="Arial" pitchFamily="34" charset="0"/>
                  </a:rPr>
                  <a:t>[</a:t>
                </a:r>
                <a:r>
                  <a:rPr lang="en-US" sz="2200" b="1" noProof="0" dirty="0">
                    <a:solidFill>
                      <a:srgbClr val="008000"/>
                    </a:solidFill>
                    <a:cs typeface="Arial" pitchFamily="34" charset="0"/>
                  </a:rPr>
                  <a:t>associativity</a:t>
                </a:r>
                <a:r>
                  <a:rPr lang="en-US" sz="2200" noProof="0" dirty="0">
                    <a:cs typeface="Arial" pitchFamily="34" charset="0"/>
                  </a:rPr>
                  <a:t>] for all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∈ 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US" sz="22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we have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∘(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𝒌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 = (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𝒌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lang="en-US" sz="2200" b="1" noProof="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endParaRPr lang="en-US" sz="2200" noProof="0" dirty="0">
                  <a:cs typeface="Arial" pitchFamily="34" charset="0"/>
                </a:endParaRPr>
              </a:p>
              <a:p>
                <a:pPr marL="285750" indent="-28575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noProof="0" dirty="0">
                    <a:cs typeface="Arial" pitchFamily="34" charset="0"/>
                  </a:rPr>
                  <a:t>[</a:t>
                </a:r>
                <a:r>
                  <a:rPr lang="en-US" sz="2200" b="1" noProof="0" dirty="0">
                    <a:solidFill>
                      <a:srgbClr val="008000"/>
                    </a:solidFill>
                    <a:cs typeface="Arial" pitchFamily="34" charset="0"/>
                  </a:rPr>
                  <a:t>commutativity</a:t>
                </a:r>
                <a:r>
                  <a:rPr lang="en-US" sz="2200" noProof="0" dirty="0">
                    <a:cs typeface="Arial" pitchFamily="34" charset="0"/>
                  </a:rPr>
                  <a:t>] for all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𝒉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US" sz="22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𝑮</m:t>
                    </m:r>
                    <m:r>
                      <a:rPr lang="en-US" sz="22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 </m:t>
                    </m:r>
                  </m:oMath>
                </a14:m>
                <a:r>
                  <a:rPr lang="en-US" sz="2200" noProof="0" dirty="0">
                    <a:cs typeface="Arial" pitchFamily="34" charset="0"/>
                  </a:rPr>
                  <a:t>we have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𝒉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𝒈</m:t>
                      </m:r>
                    </m:oMath>
                  </m:oMathPara>
                </a14:m>
                <a:endParaRPr lang="en-US" sz="2200" b="1" noProof="0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7818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571613"/>
                <a:ext cx="9144000" cy="4449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37748"/>
            <a:ext cx="7772400" cy="836613"/>
          </a:xfrm>
        </p:spPr>
        <p:txBody>
          <a:bodyPr/>
          <a:lstStyle/>
          <a:p>
            <a:r>
              <a:rPr lang="en-US" noProof="0" dirty="0"/>
              <a:t>Groups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81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8625" y="952489"/>
                <a:ext cx="7772400" cy="509575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/>
                  <a:t>A </a:t>
                </a:r>
                <a:r>
                  <a:rPr lang="en-US" sz="2400" b="1" noProof="0" dirty="0">
                    <a:solidFill>
                      <a:srgbClr val="0070C0"/>
                    </a:solidFill>
                  </a:rPr>
                  <a:t>group</a:t>
                </a:r>
                <a:r>
                  <a:rPr lang="en-US" sz="2400" noProof="0" dirty="0"/>
                  <a:t> is a set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noProof="0" dirty="0"/>
                  <a:t> along with a binary operation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400" noProof="0" dirty="0">
                    <a:cs typeface="Arial" pitchFamily="34" charset="0"/>
                  </a:rPr>
                  <a:t> such that:</a:t>
                </a:r>
              </a:p>
            </p:txBody>
          </p:sp>
        </mc:Choice>
        <mc:Fallback>
          <p:sp>
            <p:nvSpPr>
              <p:cNvPr id="1781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625" y="952489"/>
                <a:ext cx="7772400" cy="509575"/>
              </a:xfrm>
              <a:blipFill>
                <a:blip r:embed="rId4"/>
                <a:stretch>
                  <a:fillRect l="-979" t="-952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180" name="AutoShape 4"/>
          <p:cNvSpPr>
            <a:spLocks noChangeArrowheads="1"/>
          </p:cNvSpPr>
          <p:nvPr/>
        </p:nvSpPr>
        <p:spPr bwMode="auto">
          <a:xfrm>
            <a:off x="2994660" y="6021389"/>
            <a:ext cx="5825491" cy="619124"/>
          </a:xfrm>
          <a:prstGeom prst="wedgeRectCallout">
            <a:avLst>
              <a:gd name="adj1" fmla="val -19701"/>
              <a:gd name="adj2" fmla="val -86865"/>
            </a:avLst>
          </a:prstGeom>
          <a:solidFill>
            <a:srgbClr val="E9F7F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r>
              <a:rPr lang="en-US" sz="2400" i="0" noProof="0" dirty="0"/>
              <a:t>if this holds, the group is called </a:t>
            </a:r>
            <a:r>
              <a:rPr lang="en-US" sz="2400" b="1" i="0" noProof="0" dirty="0">
                <a:solidFill>
                  <a:srgbClr val="0070C0"/>
                </a:solidFill>
              </a:rPr>
              <a:t>abelian</a:t>
            </a:r>
          </a:p>
        </p:txBody>
      </p:sp>
    </p:spTree>
    <p:extLst>
      <p:ext uri="{BB962C8B-B14F-4D97-AF65-F5344CB8AC3E}">
        <p14:creationId xmlns:p14="http://schemas.microsoft.com/office/powerpoint/2010/main" val="331824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1" grpId="0" build="p" animBg="1"/>
      <p:bldP spid="17818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624D-4508-409E-BDE0-21A6A2B55BAC}" type="slidenum">
              <a:rPr lang="en-US" noProof="0" smtClean="0"/>
              <a:pPr/>
              <a:t>150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252" name="Rectangle 4"/>
              <p:cNvSpPr>
                <a:spLocks noChangeArrowheads="1"/>
              </p:cNvSpPr>
              <p:nvPr/>
            </p:nvSpPr>
            <p:spPr bwMode="auto">
              <a:xfrm>
                <a:off x="0" y="1700808"/>
                <a:ext cx="9144000" cy="21605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365760" anchor="ctr"/>
              <a:lstStyle/>
              <a:p>
                <a:pPr>
                  <a:lnSpc>
                    <a:spcPct val="80000"/>
                  </a:lnSpc>
                </a:pPr>
                <a:r>
                  <a:rPr lang="en-US" sz="2800" noProof="0" dirty="0"/>
                  <a:t>[</a:t>
                </a:r>
                <a:r>
                  <a:rPr lang="en-US" sz="2800" b="1" noProof="0" dirty="0">
                    <a:solidFill>
                      <a:srgbClr val="0070C0"/>
                    </a:solidFill>
                  </a:rPr>
                  <a:t>additive notation</a:t>
                </a:r>
                <a:r>
                  <a:rPr lang="en-US" sz="2800" noProof="0" dirty="0"/>
                  <a:t>]</a:t>
                </a:r>
                <a:br>
                  <a:rPr lang="en-US" sz="2800" noProof="0" dirty="0"/>
                </a:br>
                <a:r>
                  <a:rPr lang="en-US" sz="2800" noProof="0" dirty="0"/>
                  <a:t>If the groups operation is denoted with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noProof="0" dirty="0"/>
                  <a:t>, then: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 the inverse of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noProof="0" dirty="0"/>
                  <a:t> is denoted with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noProof="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 the neutral element is denoted with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noProof="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+⋯ + 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2400" noProof="0" dirty="0"/>
                  <a:t>times) is denoted with</a:t>
                </a:r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𝒏𝒈</m:t>
                    </m:r>
                  </m:oMath>
                </a14:m>
                <a:r>
                  <a:rPr lang="en-US" sz="2400" noProof="0" dirty="0"/>
                  <a:t>.</a:t>
                </a:r>
              </a:p>
            </p:txBody>
          </p:sp>
        </mc:Choice>
        <mc:Fallback>
          <p:sp>
            <p:nvSpPr>
              <p:cNvPr id="18125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700808"/>
                <a:ext cx="9144000" cy="21605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253" name="Rectangle 5"/>
              <p:cNvSpPr>
                <a:spLocks noChangeArrowheads="1"/>
              </p:cNvSpPr>
              <p:nvPr/>
            </p:nvSpPr>
            <p:spPr bwMode="auto">
              <a:xfrm>
                <a:off x="0" y="4071942"/>
                <a:ext cx="9144000" cy="25923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365760" anchor="ctr"/>
              <a:lstStyle/>
              <a:p>
                <a:pPr>
                  <a:lnSpc>
                    <a:spcPct val="80000"/>
                  </a:lnSpc>
                </a:pPr>
                <a:r>
                  <a:rPr lang="en-US" sz="2800" noProof="0" dirty="0"/>
                  <a:t>[</a:t>
                </a:r>
                <a:r>
                  <a:rPr lang="en-US" sz="2800" b="1" noProof="0" dirty="0">
                    <a:solidFill>
                      <a:srgbClr val="0070C0"/>
                    </a:solidFill>
                  </a:rPr>
                  <a:t>multiplicative notation</a:t>
                </a:r>
                <a:r>
                  <a:rPr lang="en-US" sz="2800" noProof="0" dirty="0"/>
                  <a:t>]</a:t>
                </a:r>
                <a:br>
                  <a:rPr lang="en-US" sz="2800" noProof="0" dirty="0"/>
                </a:br>
                <a:r>
                  <a:rPr lang="en-US" sz="2800" noProof="0" dirty="0"/>
                  <a:t>If the groups operation is denoted “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×</m:t>
                    </m:r>
                  </m:oMath>
                </a14:m>
                <a:r>
                  <a:rPr lang="en-US" sz="2800" noProof="0" dirty="0"/>
                  <a:t>” or “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2800" noProof="0" dirty="0"/>
                  <a:t>”, then: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sometimes we write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𝒈𝒉</m:t>
                    </m:r>
                  </m:oMath>
                </a14:m>
                <a:r>
                  <a:rPr lang="en-US" sz="2400" b="1" noProof="0" dirty="0">
                    <a:solidFill>
                      <a:srgbClr val="993300"/>
                    </a:solidFill>
                  </a:rPr>
                  <a:t> </a:t>
                </a:r>
                <a:r>
                  <a:rPr lang="en-US" sz="2400" noProof="0" dirty="0"/>
                  <a:t>instead of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2400" noProof="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the inverse of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noProof="0" dirty="0"/>
                  <a:t> is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400" noProof="0" dirty="0"/>
                  <a:t>or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noProof="0" dirty="0"/>
                  <a:t>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 the neutral element is denoted with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noProof="0" dirty="0"/>
                  <a:t>,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noProof="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⋅⋯⋅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times) is denoted with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400" noProof="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24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noProof="0" dirty="0"/>
                  <a:t>is denoted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noProof="0" dirty="0"/>
                  <a:t>.</a:t>
                </a:r>
              </a:p>
            </p:txBody>
          </p:sp>
        </mc:Choice>
        <mc:Fallback>
          <p:sp>
            <p:nvSpPr>
              <p:cNvPr id="18125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071942"/>
                <a:ext cx="9144000" cy="2592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8" y="5746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Additive/multiplicative notation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028" y="981055"/>
            <a:ext cx="8062912" cy="561996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800" b="1" noProof="0" dirty="0">
                <a:solidFill>
                  <a:srgbClr val="FF0000"/>
                </a:solidFill>
              </a:rPr>
              <a:t>Convention</a:t>
            </a:r>
            <a:r>
              <a:rPr lang="en-US" sz="2800" noProof="0" dirty="0">
                <a:solidFill>
                  <a:srgbClr val="FF0000"/>
                </a:solidFill>
              </a:rPr>
              <a:t>:</a:t>
            </a:r>
            <a:endParaRPr lang="en-US" sz="2400" noProof="0" dirty="0"/>
          </a:p>
          <a:p>
            <a:pPr lvl="1">
              <a:lnSpc>
                <a:spcPct val="80000"/>
              </a:lnSpc>
              <a:buFontTx/>
              <a:buNone/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79869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build="p" bldLvl="2" animBg="1"/>
      <p:bldP spid="181253" grpId="0" build="p" bldLvl="2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Fields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,+,×)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a </a:t>
                </a:r>
                <a:r>
                  <a:rPr lang="en-US" b="1" noProof="0" dirty="0">
                    <a:solidFill>
                      <a:srgbClr val="7030A0"/>
                    </a:solidFill>
                  </a:rPr>
                  <a:t>field</a:t>
                </a:r>
                <a:r>
                  <a:rPr lang="en-US" noProof="0" dirty="0">
                    <a:solidFill>
                      <a:srgbClr val="7030A0"/>
                    </a:solidFill>
                  </a:rPr>
                  <a:t> </a:t>
                </a:r>
                <a:r>
                  <a:rPr lang="en-US" noProof="0" dirty="0"/>
                  <a:t>if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1" noProof="0" dirty="0">
                  <a:solidFill>
                    <a:srgbClr val="FF0000"/>
                  </a:solidFill>
                </a:endParaRPr>
              </a:p>
              <a:p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,+)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an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additive group</a:t>
                </a:r>
                <a:r>
                  <a:rPr lang="en-US" noProof="0" dirty="0"/>
                  <a:t> with </a:t>
                </a:r>
                <a:r>
                  <a:rPr lang="en-US" b="1" noProof="0" dirty="0">
                    <a:solidFill>
                      <a:srgbClr val="00B050"/>
                    </a:solidFill>
                  </a:rPr>
                  <a:t>neutral element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br>
                  <a:rPr lang="en-US" b="1" noProof="0" dirty="0">
                    <a:solidFill>
                      <a:srgbClr val="FF0000"/>
                    </a:solidFill>
                  </a:rPr>
                </a:br>
                <a:endParaRPr lang="en-US" b="1" noProof="0" dirty="0">
                  <a:solidFill>
                    <a:srgbClr val="FF0000"/>
                  </a:solidFill>
                </a:endParaRPr>
              </a:p>
              <a:p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×)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a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multiplicative group</a:t>
                </a:r>
                <a:br>
                  <a:rPr lang="en-US" b="1" noProof="0" dirty="0">
                    <a:solidFill>
                      <a:srgbClr val="0070C0"/>
                    </a:solidFill>
                  </a:rPr>
                </a:br>
                <a:endParaRPr lang="en-US" b="1" noProof="0" dirty="0">
                  <a:solidFill>
                    <a:srgbClr val="0070C0"/>
                  </a:solidFill>
                </a:endParaRPr>
              </a:p>
              <a:p>
                <a:r>
                  <a:rPr lang="en-US" noProof="0" dirty="0"/>
                  <a:t>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Distributivity of multiplication over addition</a:t>
                </a:r>
                <a:r>
                  <a:rPr lang="en-US" noProof="0" dirty="0"/>
                  <a:t>:</a:t>
                </a:r>
              </a:p>
              <a:p>
                <a:pPr marL="400050" lvl="1" indent="0">
                  <a:buNone/>
                </a:pPr>
                <a:r>
                  <a:rPr lang="en-US" noProof="0" dirty="0"/>
                  <a:t>for all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noProof="0" dirty="0"/>
                  <a:t>, we have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3198" r="-128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57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45" y="159386"/>
            <a:ext cx="840105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How to define a “field over bytes”?</a:t>
            </a:r>
            <a:endParaRPr lang="en-US" sz="3600" b="1" noProof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A very simple additive group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,+)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noProof="0" dirty="0"/>
                  <a:t>where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8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noProof="0" dirty="0"/>
                  <a:t>Extremely efficient to implement.</a:t>
                </a: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08" t="-232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5392663" y="4147939"/>
            <a:ext cx="914400" cy="612648"/>
          </a:xfrm>
          <a:prstGeom prst="wedgeRectCallout">
            <a:avLst>
              <a:gd name="adj1" fmla="val -8480"/>
              <a:gd name="adj2" fmla="val -972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>
                <a:solidFill>
                  <a:srgbClr val="FF0000"/>
                </a:solidFill>
              </a:rPr>
              <a:t>xor</a:t>
            </a:r>
            <a:endParaRPr lang="en-US" sz="24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23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71475" y="-86359"/>
                <a:ext cx="8578215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4000" noProof="0" dirty="0"/>
                  <a:t>How to extend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4000" b="1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000" b="1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4000" b="1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4000" b="1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en-US" sz="4000" b="1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40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</m:oMath>
                </a14:m>
                <a:r>
                  <a:rPr lang="en-US" sz="4000" noProof="0" dirty="0"/>
                  <a:t> to a field? 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1475" y="-86359"/>
                <a:ext cx="8578215" cy="1325563"/>
              </a:xfrm>
              <a:blipFill>
                <a:blip r:embed="rId2"/>
                <a:stretch>
                  <a:fillRect l="-251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noProof="0" dirty="0"/>
                  <a:t>“</a:t>
                </a:r>
                <a:r>
                  <a:rPr lang="en-US" b="1" noProof="0" dirty="0">
                    <a:solidFill>
                      <a:srgbClr val="7030A0"/>
                    </a:solidFill>
                  </a:rPr>
                  <a:t>Galois fields</a:t>
                </a:r>
                <a:r>
                  <a:rPr lang="en-US" noProof="0" dirty="0"/>
                  <a:t>” </a:t>
                </a:r>
                <a14:m>
                  <m:oMath xmlns:m="http://schemas.openxmlformats.org/officeDocument/2006/math">
                    <m:r>
                      <a:rPr lang="en-US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: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noProof="0" dirty="0"/>
                  <a:t>Represent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as a polynomial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noProof="0" dirty="0"/>
                  <a:t>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of degree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noProof="0" dirty="0"/>
                  <a:t>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b="1" u="sng" noProof="0" dirty="0">
                    <a:solidFill>
                      <a:srgbClr val="0070C0"/>
                    </a:solidFill>
                  </a:rPr>
                  <a:t>Note</a:t>
                </a:r>
                <a:r>
                  <a:rPr lang="en-US" noProof="0" dirty="0"/>
                  <a:t>: if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represented as a polynomial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noProof="0" dirty="0"/>
                  <a:t>, then 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b="1" i="1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nary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b="1" u="sng" noProof="0" dirty="0">
                    <a:solidFill>
                      <a:srgbClr val="00B050"/>
                    </a:solidFill>
                  </a:rPr>
                  <a:t>Observe</a:t>
                </a:r>
                <a:r>
                  <a:rPr lang="en-US" noProof="0" dirty="0"/>
                  <a:t>: this is the same as the </a:t>
                </a:r>
                <a:r>
                  <a:rPr lang="en-US" b="1" noProof="0" dirty="0" err="1">
                    <a:solidFill>
                      <a:srgbClr val="FF0000"/>
                    </a:solidFill>
                  </a:rPr>
                  <a:t>xor</a:t>
                </a:r>
                <a:r>
                  <a:rPr lang="en-US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operation on bits.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>
                <a:blip r:embed="rId3"/>
                <a:stretch>
                  <a:fillRect l="-1389" t="-2792" b="-2461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60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noProof="0" dirty="0"/>
              <a:t>How to multiply?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7598"/>
                <a:ext cx="8229600" cy="560181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Suppose:</a:t>
                </a:r>
                <a:endParaRPr lang="en-US" b="1" i="1" noProof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noProof="0" dirty="0"/>
                  <a:t>.</a:t>
                </a:r>
              </a:p>
              <a:p>
                <a:pPr marL="0" indent="0">
                  <a:buNone/>
                </a:pPr>
                <a:r>
                  <a:rPr lang="en-US" noProof="0" dirty="0"/>
                  <a:t>Then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a polynomial of max degree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noProof="0" dirty="0"/>
                  <a:t>.</a:t>
                </a:r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rgbClr val="0070C0"/>
                    </a:solidFill>
                  </a:rPr>
                  <a:t>How to reduce this degree?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Take an 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irreducible polynomial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noProof="0" dirty="0"/>
                  <a:t> of degree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noProof="0" dirty="0"/>
                  <a:t>, and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noProof="0" dirty="0"/>
                  <a:t>Then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a polynomial of degree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noProof="0" dirty="0"/>
                  <a:t>.</a:t>
                </a:r>
              </a:p>
              <a:p>
                <a:pPr marL="0" indent="0">
                  <a:buNone/>
                </a:pPr>
                <a:r>
                  <a:rPr lang="en-US" noProof="0" dirty="0"/>
                  <a:t>Write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noProof="0" dirty="0"/>
                  <a:t>.</a:t>
                </a:r>
              </a:p>
              <a:p>
                <a:pPr marL="0" indent="0">
                  <a:buNone/>
                </a:pPr>
                <a:br>
                  <a:rPr lang="en-US" b="1" noProof="0" dirty="0">
                    <a:solidFill>
                      <a:srgbClr val="00B050"/>
                    </a:solidFill>
                  </a:rPr>
                </a:br>
                <a:r>
                  <a:rPr lang="en-US" b="1" noProof="0" dirty="0">
                    <a:solidFill>
                      <a:srgbClr val="00B050"/>
                    </a:solidFill>
                  </a:rPr>
                  <a:t>Define: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rgbClr val="00B050"/>
                    </a:solidFill>
                  </a:rPr>
                  <a:t>Fact from algebra</a:t>
                </a:r>
                <a:r>
                  <a:rPr lang="en-US" noProof="0" dirty="0"/>
                  <a:t>: this defines a field.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7598"/>
                <a:ext cx="8229600" cy="5601811"/>
              </a:xfrm>
              <a:blipFill>
                <a:blip r:embed="rId2"/>
                <a:stretch>
                  <a:fillRect l="-1235" t="-2715" b="-45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ular Callout 4"/>
              <p:cNvSpPr/>
              <p:nvPr/>
            </p:nvSpPr>
            <p:spPr>
              <a:xfrm>
                <a:off x="539552" y="3016384"/>
                <a:ext cx="8064896" cy="504056"/>
              </a:xfrm>
              <a:prstGeom prst="wedgeRectCallout">
                <a:avLst>
                  <a:gd name="adj1" fmla="val -25235"/>
                  <a:gd name="adj2" fmla="val 6997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noProof="0" dirty="0"/>
                  <a:t>do not exits non-constant polynomials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noProof="0" dirty="0"/>
                  <a:t>such that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016384"/>
                <a:ext cx="8064896" cy="504056"/>
              </a:xfrm>
              <a:prstGeom prst="wedgeRectCallout">
                <a:avLst>
                  <a:gd name="adj1" fmla="val -25235"/>
                  <a:gd name="adj2" fmla="val 69970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4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AES field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16832"/>
                <a:ext cx="8229600" cy="42093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AES uses </a:t>
                </a:r>
                <a14:m>
                  <m:oMath xmlns:m="http://schemas.openxmlformats.org/officeDocument/2006/math">
                    <m:r>
                      <a:rPr lang="en-US" b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, where the polynomial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16832"/>
                <a:ext cx="8229600" cy="4209331"/>
              </a:xfrm>
              <a:blipFill>
                <a:blip r:embed="rId2"/>
                <a:stretch>
                  <a:fillRect l="-1698" t="-1802" r="-30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63523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52" y="48073"/>
            <a:ext cx="7886700" cy="1325563"/>
          </a:xfrm>
        </p:spPr>
        <p:txBody>
          <a:bodyPr/>
          <a:lstStyle/>
          <a:p>
            <a:r>
              <a:rPr lang="en-US" noProof="0" dirty="0"/>
              <a:t>First step of </a:t>
            </a:r>
            <a:r>
              <a:rPr lang="en-US" noProof="0" dirty="0" err="1"/>
              <a:t>SubBytes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037398"/>
                <a:ext cx="8579296" cy="13290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noProof="0" dirty="0"/>
                  <a:t>Invert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sz="28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noProof="0" dirty="0"/>
                  <a:t>(in the multiplicative group of </a:t>
                </a:r>
                <a14:m>
                  <m:oMath xmlns:m="http://schemas.openxmlformats.org/officeDocument/2006/math">
                    <m:r>
                      <a:rPr lang="en-US" sz="28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noProof="0" dirty="0"/>
                  <a:t>).</a:t>
                </a:r>
              </a:p>
              <a:p>
                <a:pPr marL="0" indent="0">
                  <a:buNone/>
                </a:pPr>
                <a:r>
                  <a:rPr lang="en-US" sz="2800" noProof="0" dirty="0"/>
                  <a:t>Convention: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noProof="0" dirty="0"/>
                  <a:t>. </a:t>
                </a:r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037398"/>
                <a:ext cx="8579296" cy="1329011"/>
              </a:xfrm>
              <a:blipFill>
                <a:blip r:embed="rId2"/>
                <a:stretch>
                  <a:fillRect l="-1627" t="-7547" r="-1331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SubBytes</a:t>
            </a:r>
            <a:endParaRPr lang="en-US" noProof="0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ShiftRows</a:t>
            </a:r>
            <a:endParaRPr lang="en-US" noProof="0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1139618"/>
                  </p:ext>
                </p:extLst>
              </p:nvPr>
            </p:nvGraphicFramePr>
            <p:xfrm>
              <a:off x="2051720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1139618"/>
                  </p:ext>
                </p:extLst>
              </p:nvPr>
            </p:nvGraphicFramePr>
            <p:xfrm>
              <a:off x="2051720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" t="-3333" r="-3025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500" t="-3333" r="-2025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500" t="-3333" r="-1025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00" t="-3333" r="-2500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" t="-106897" r="-3025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500" t="-106897" r="-2025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500" t="-106897" r="-1025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00" t="-106897" r="-2500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" t="-200000" r="-3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500" t="-200000" r="-2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500" t="-200000" r="-1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00" t="-200000" r="-25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" t="-310345" r="-3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500" t="-310345" r="-2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500" t="-310345" r="-1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00" t="-310345" r="-2500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4111047" y="3270578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1895080"/>
                  </p:ext>
                </p:extLst>
              </p:nvPr>
            </p:nvGraphicFramePr>
            <p:xfrm>
              <a:off x="5635060" y="2924942"/>
              <a:ext cx="2016224" cy="1538988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1895080"/>
                  </p:ext>
                </p:extLst>
              </p:nvPr>
            </p:nvGraphicFramePr>
            <p:xfrm>
              <a:off x="5635060" y="2924942"/>
              <a:ext cx="2016224" cy="1538988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4747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226" r="-302500" b="-2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226" r="-202500" b="-2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3226" r="-102500" b="-2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226" r="-2500" b="-2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4747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6667" r="-3025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6667" r="-2025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6667" r="-1025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06667" r="-2500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4747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0000" r="-3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0000" r="-2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00000" r="-1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200000" r="-25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4747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10000" r="-3025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10000" r="-2025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310000" r="-1025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10000" r="-25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0577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49006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Another observation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54847"/>
                <a:ext cx="8229600" cy="110600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noProof="0" dirty="0"/>
                  <a:t>We can look 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2400" noProof="0" dirty="0"/>
                  <a:t> as a </a:t>
                </a:r>
                <a:r>
                  <a:rPr lang="en-US" sz="2400" b="1" noProof="0" dirty="0">
                    <a:solidFill>
                      <a:srgbClr val="00B050"/>
                    </a:solidFill>
                  </a:rPr>
                  <a:t>linear space</a:t>
                </a:r>
                <a:r>
                  <a:rPr lang="en-US" sz="2400" noProof="0" dirty="0"/>
                  <a:t>.</a:t>
                </a:r>
              </a:p>
              <a:p>
                <a:pPr marL="0" indent="0">
                  <a:buNone/>
                </a:pPr>
                <a:r>
                  <a:rPr lang="en-US" sz="2400" b="1" noProof="0" dirty="0">
                    <a:solidFill>
                      <a:srgbClr val="FF0000"/>
                    </a:solidFill>
                  </a:rPr>
                  <a:t>AES</a:t>
                </a:r>
                <a:r>
                  <a:rPr lang="en-US" sz="2400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noProof="0" dirty="0"/>
                  <a:t>defines the following affine transformation: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sub>
                          </m:sSub>
                        </m:e>
                      </m:d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54847"/>
                <a:ext cx="8229600" cy="1106002"/>
              </a:xfrm>
              <a:blipFill>
                <a:blip r:embed="rId2"/>
                <a:stretch>
                  <a:fillRect l="-1235" t="-7955" b="-1818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32452"/>
              </p:ext>
            </p:extLst>
          </p:nvPr>
        </p:nvGraphicFramePr>
        <p:xfrm>
          <a:off x="1331640" y="2348880"/>
          <a:ext cx="4320480" cy="223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9658519"/>
                  </p:ext>
                </p:extLst>
              </p:nvPr>
            </p:nvGraphicFramePr>
            <p:xfrm>
              <a:off x="6166520" y="2348880"/>
              <a:ext cx="540060" cy="223266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00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u="none" strike="noStrike" noProof="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9658519"/>
                  </p:ext>
                </p:extLst>
              </p:nvPr>
            </p:nvGraphicFramePr>
            <p:xfrm>
              <a:off x="6166520" y="2348880"/>
              <a:ext cx="540060" cy="223266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00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r="-2273" b="-7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100000" r="-2273" b="-6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200000" r="-2273" b="-5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286957" r="-2273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404545" r="-2273" b="-3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504545" r="-2273" b="-2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604545" r="-2273" b="-1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9083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 marL="4763" marR="4763" marT="4763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3" t="-704545" r="-2273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18206"/>
              </p:ext>
            </p:extLst>
          </p:nvPr>
        </p:nvGraphicFramePr>
        <p:xfrm>
          <a:off x="7241849" y="2348880"/>
          <a:ext cx="540060" cy="223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734432" y="3347700"/>
                <a:ext cx="349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432" y="3347700"/>
                <a:ext cx="3497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810290" y="335699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290" y="3356992"/>
                <a:ext cx="4106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51912" y="4869575"/>
                <a:ext cx="8102842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noProof="0" dirty="0">
                    <a:solidFill>
                      <a:srgbClr val="0070C0"/>
                    </a:solidFill>
                  </a:rPr>
                  <a:t>Advantage</a:t>
                </a:r>
                <a:r>
                  <a:rPr lang="en-US" sz="2000" noProof="0" dirty="0"/>
                  <a:t>: </a:t>
                </a:r>
                <a:r>
                  <a:rPr lang="en-US" sz="2000" b="1" noProof="0" dirty="0" err="1"/>
                  <a:t>SubBytes</a:t>
                </a:r>
                <a:r>
                  <a:rPr lang="en-US" sz="2000" noProof="0" dirty="0"/>
                  <a:t> is not an operation only in </a:t>
                </a:r>
                <a14:m>
                  <m:oMath xmlns:m="http://schemas.openxmlformats.org/officeDocument/2006/math">
                    <m:r>
                      <a:rPr lang="en-US" sz="20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d>
                      <m:d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noProof="0" dirty="0"/>
                  <a:t>.</a:t>
                </a:r>
                <a:br>
                  <a:rPr lang="en-US" sz="2000" noProof="0" dirty="0"/>
                </a:br>
                <a:endParaRPr lang="en-US" sz="2000" noProof="0" dirty="0"/>
              </a:p>
              <a:p>
                <a:r>
                  <a:rPr lang="en-US" sz="2000" noProof="0" dirty="0"/>
                  <a:t>The constant vector is chosen in such a way that there are no</a:t>
                </a:r>
              </a:p>
              <a:p>
                <a:pPr lvl="1"/>
                <a:r>
                  <a:rPr lang="en-US" b="1" noProof="0" dirty="0">
                    <a:solidFill>
                      <a:srgbClr val="00B050"/>
                    </a:solidFill>
                  </a:rPr>
                  <a:t>fixpoints</a:t>
                </a:r>
                <a:r>
                  <a:rPr lang="en-US" noProof="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b="1" noProof="0" dirty="0">
                    <a:solidFill>
                      <a:srgbClr val="00B050"/>
                    </a:solidFill>
                  </a:rPr>
                  <a:t>anti-fixpoints</a:t>
                </a: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bar>
                  </m:oMath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20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noProof="0" dirty="0"/>
                  <a:t>is invertible.</a:t>
                </a:r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12" y="4869575"/>
                <a:ext cx="8102842" cy="1908215"/>
              </a:xfrm>
              <a:prstGeom prst="rect">
                <a:avLst/>
              </a:prstGeom>
              <a:blipFill>
                <a:blip r:embed="rId6"/>
                <a:stretch>
                  <a:fillRect l="-782" t="-1987" b="-397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7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Complete </a:t>
            </a:r>
            <a:r>
              <a:rPr lang="en-US" noProof="0" dirty="0" err="1"/>
              <a:t>SubBytes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037398"/>
                <a:ext cx="8229600" cy="132901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noProof="0" dirty="0"/>
                  <a:t>Observe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bSup>
                        <m:sSubSup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noProof="0" dirty="0"/>
                  <a:t>is invertible (since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Sup>
                      <m:sSubSup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  <m:sup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sz="2400" b="1" noProof="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noProof="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2400" noProof="0" dirty="0"/>
                  <a:t> are invertible)</a:t>
                </a:r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037398"/>
                <a:ext cx="8229600" cy="1329011"/>
              </a:xfrm>
              <a:blipFill>
                <a:blip r:embed="rId2"/>
                <a:stretch>
                  <a:fillRect l="-1235" t="-6604" b="-6604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SubBytes</a:t>
            </a:r>
            <a:endParaRPr lang="en-US" noProof="0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ShiftRows</a:t>
            </a:r>
            <a:endParaRPr lang="en-US" noProof="0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243700"/>
                  </p:ext>
                </p:extLst>
              </p:nvPr>
            </p:nvGraphicFramePr>
            <p:xfrm>
              <a:off x="323528" y="2924944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243700"/>
                  </p:ext>
                </p:extLst>
              </p:nvPr>
            </p:nvGraphicFramePr>
            <p:xfrm>
              <a:off x="323528" y="2924944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3333" r="-3000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778" t="-3333" r="-2000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571" t="-3333" r="-105714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3333" r="-2778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106897" r="-300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778" t="-106897" r="-200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571" t="-106897" r="-105714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6897" r="-277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200000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778" t="-200000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571" t="-200000" r="-1057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200000" r="-277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310345" r="-3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778" t="-310345" r="-2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571" t="-310345" r="-105714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310345" r="-277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2195735" y="3270578"/>
            <a:ext cx="604969" cy="792088"/>
          </a:xfrm>
          <a:prstGeom prst="rightArrow">
            <a:avLst>
              <a:gd name="adj1" fmla="val 50000"/>
              <a:gd name="adj2" fmla="val 5632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0011121"/>
                  </p:ext>
                </p:extLst>
              </p:nvPr>
            </p:nvGraphicFramePr>
            <p:xfrm>
              <a:off x="2872711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0011121"/>
                  </p:ext>
                </p:extLst>
              </p:nvPr>
            </p:nvGraphicFramePr>
            <p:xfrm>
              <a:off x="2872711" y="2924944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00" t="-3333" r="-3025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3333" r="-2025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692" t="-3333" r="-107692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333" r="-5000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00" t="-106897" r="-3025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106897" r="-2025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692" t="-106897" r="-107692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06897" r="-5000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00" t="-200000" r="-3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200000" r="-2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692" t="-200000" r="-10769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200000" r="-5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00" t="-310345" r="-3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310345" r="-2025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692" t="-310345" r="-10769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10345" r="-5000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0567373"/>
                  </p:ext>
                </p:extLst>
              </p:nvPr>
            </p:nvGraphicFramePr>
            <p:xfrm>
              <a:off x="5611060" y="2852936"/>
              <a:ext cx="328142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8203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𝝋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  <m:sup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en-US" sz="1600" b="1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0567373"/>
                  </p:ext>
                </p:extLst>
              </p:nvPr>
            </p:nvGraphicFramePr>
            <p:xfrm>
              <a:off x="5611060" y="2852936"/>
              <a:ext cx="328142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8203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03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333" r="-301538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3333" r="-201538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3333" r="-101538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3333" r="-1538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6897" r="-301538" b="-2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06897" r="-201538" b="-2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6897" r="-101538" b="-2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06897" r="-1538" b="-2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0000" r="-301538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200000" r="-201538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200000" r="-101538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200000" r="-1538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10345" r="-301538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310345" r="-201538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310345" r="-101538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310345" r="-1538" b="-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AutoShape 56"/>
          <p:cNvSpPr>
            <a:spLocks noChangeArrowheads="1"/>
          </p:cNvSpPr>
          <p:nvPr/>
        </p:nvSpPr>
        <p:spPr bwMode="auto">
          <a:xfrm>
            <a:off x="4960942" y="3270578"/>
            <a:ext cx="604969" cy="792088"/>
          </a:xfrm>
          <a:prstGeom prst="rightArrow">
            <a:avLst>
              <a:gd name="adj1" fmla="val 50000"/>
              <a:gd name="adj2" fmla="val 5632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167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2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ShiftRows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575649"/>
                  </p:ext>
                </p:extLst>
              </p:nvPr>
            </p:nvGraphicFramePr>
            <p:xfrm>
              <a:off x="1691680" y="378904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575649"/>
                  </p:ext>
                </p:extLst>
              </p:nvPr>
            </p:nvGraphicFramePr>
            <p:xfrm>
              <a:off x="1691680" y="378904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3333" r="-297222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14" t="-3333" r="-205714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3333" r="-1000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8571" t="-3333" r="-2857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106897" r="-297222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14" t="-106897" r="-205714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6897" r="-100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8571" t="-106897" r="-285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200000" r="-29722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14" t="-200000" r="-2057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00000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8571" t="-200000" r="-285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8" t="-310345" r="-29722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14" t="-310345" r="-205714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310345" r="-1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8571" t="-310345" r="-2857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3451" y="4134674"/>
            <a:ext cx="604969" cy="792088"/>
          </a:xfrm>
          <a:prstGeom prst="rightArrow">
            <a:avLst>
              <a:gd name="adj1" fmla="val 50000"/>
              <a:gd name="adj2" fmla="val 5632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388941"/>
                  </p:ext>
                </p:extLst>
              </p:nvPr>
            </p:nvGraphicFramePr>
            <p:xfrm>
              <a:off x="4499991" y="3789038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388941"/>
                  </p:ext>
                </p:extLst>
              </p:nvPr>
            </p:nvGraphicFramePr>
            <p:xfrm>
              <a:off x="4499991" y="3789038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8" t="-3333" r="-3000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778" t="-3333" r="-200000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571" t="-3333" r="-105714" b="-2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333" r="-2778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8" t="-106897" r="-300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778" t="-106897" r="-200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571" t="-106897" r="-105714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06897" r="-277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8" t="-200000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778" t="-200000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571" t="-200000" r="-1057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200000" r="-277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8" t="-310345" r="-3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778" t="-310345" r="-2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571" t="-310345" r="-105714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10345" r="-277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AutoShape 56"/>
          <p:cNvSpPr>
            <a:spLocks noChangeArrowheads="1"/>
          </p:cNvSpPr>
          <p:nvPr/>
        </p:nvSpPr>
        <p:spPr bwMode="auto">
          <a:xfrm>
            <a:off x="2195736" y="1484784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SubBytes</a:t>
            </a:r>
            <a:endParaRPr lang="en-US" noProof="0" dirty="0"/>
          </a:p>
        </p:txBody>
      </p:sp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3696647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ShiftRows</a:t>
            </a:r>
            <a:endParaRPr lang="en-US" noProof="0" dirty="0"/>
          </a:p>
        </p:txBody>
      </p:sp>
      <p:sp>
        <p:nvSpPr>
          <p:cNvPr id="9" name="AutoShape 56"/>
          <p:cNvSpPr>
            <a:spLocks noChangeArrowheads="1"/>
          </p:cNvSpPr>
          <p:nvPr/>
        </p:nvSpPr>
        <p:spPr bwMode="auto">
          <a:xfrm>
            <a:off x="5191461" y="14628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976285"/>
            <a:ext cx="2699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Cyclic shifts of rows: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6177" y="4118120"/>
            <a:ext cx="150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shift </a:t>
            </a:r>
            <a:r>
              <a:rPr lang="en-US" b="1" noProof="0" dirty="0">
                <a:solidFill>
                  <a:srgbClr val="FF0000"/>
                </a:solidFill>
              </a:rPr>
              <a:t>1</a:t>
            </a:r>
            <a:r>
              <a:rPr lang="en-US" noProof="0" dirty="0"/>
              <a:t> cell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8144" y="4498663"/>
            <a:ext cx="15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shift </a:t>
            </a:r>
            <a:r>
              <a:rPr lang="en-US" b="1" noProof="0" dirty="0">
                <a:solidFill>
                  <a:srgbClr val="FF0000"/>
                </a:solidFill>
              </a:rPr>
              <a:t>2</a:t>
            </a:r>
            <a:r>
              <a:rPr lang="en-US" noProof="0" dirty="0"/>
              <a:t> cells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240" y="4895640"/>
            <a:ext cx="15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shift </a:t>
            </a:r>
            <a:r>
              <a:rPr lang="en-US" b="1" noProof="0" dirty="0">
                <a:solidFill>
                  <a:srgbClr val="FF0000"/>
                </a:solidFill>
              </a:rPr>
              <a:t>3</a:t>
            </a:r>
            <a:r>
              <a:rPr lang="en-US" noProof="0" dirty="0"/>
              <a:t> cells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294" y="5877272"/>
            <a:ext cx="3412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noProof="0" dirty="0">
                <a:solidFill>
                  <a:srgbClr val="00B050"/>
                </a:solidFill>
              </a:rPr>
              <a:t>Clearly</a:t>
            </a:r>
            <a:r>
              <a:rPr lang="en-US" sz="2000" noProof="0" dirty="0"/>
              <a:t>: </a:t>
            </a:r>
            <a:r>
              <a:rPr lang="en-US" sz="2000" b="1" noProof="0" dirty="0" err="1"/>
              <a:t>ShiftRows</a:t>
            </a:r>
            <a:r>
              <a:rPr lang="en-US" sz="2000" noProof="0" dirty="0"/>
              <a:t> is invertible.</a:t>
            </a:r>
          </a:p>
        </p:txBody>
      </p:sp>
    </p:spTree>
    <p:extLst>
      <p:ext uri="{BB962C8B-B14F-4D97-AF65-F5344CB8AC3E}">
        <p14:creationId xmlns:p14="http://schemas.microsoft.com/office/powerpoint/2010/main" val="82534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36" y="-143198"/>
            <a:ext cx="8229600" cy="1143000"/>
          </a:xfrm>
        </p:spPr>
        <p:txBody>
          <a:bodyPr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  <p:sp>
        <p:nvSpPr>
          <p:cNvPr id="4" name="AutoShape 56"/>
          <p:cNvSpPr>
            <a:spLocks noChangeArrowheads="1"/>
          </p:cNvSpPr>
          <p:nvPr/>
        </p:nvSpPr>
        <p:spPr bwMode="auto">
          <a:xfrm>
            <a:off x="2195736" y="1020751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SubBytes</a:t>
            </a:r>
            <a:endParaRPr lang="en-US" noProof="0" dirty="0"/>
          </a:p>
        </p:txBody>
      </p:sp>
      <p:sp>
        <p:nvSpPr>
          <p:cNvPr id="5" name="AutoShape 56"/>
          <p:cNvSpPr>
            <a:spLocks noChangeArrowheads="1"/>
          </p:cNvSpPr>
          <p:nvPr/>
        </p:nvSpPr>
        <p:spPr bwMode="auto">
          <a:xfrm>
            <a:off x="3696647" y="998818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r"/>
            <a:r>
              <a:rPr lang="en-US" noProof="0" dirty="0" err="1"/>
              <a:t>ShiftRows</a:t>
            </a:r>
            <a:endParaRPr lang="en-US" noProof="0" dirty="0"/>
          </a:p>
        </p:txBody>
      </p:sp>
      <p:sp>
        <p:nvSpPr>
          <p:cNvPr id="6" name="AutoShape 56"/>
          <p:cNvSpPr>
            <a:spLocks noChangeArrowheads="1"/>
          </p:cNvSpPr>
          <p:nvPr/>
        </p:nvSpPr>
        <p:spPr bwMode="auto">
          <a:xfrm>
            <a:off x="5191461" y="998818"/>
            <a:ext cx="1451711" cy="792088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noProof="0" dirty="0" err="1"/>
              <a:t>MixColumns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0659901"/>
                  </p:ext>
                </p:extLst>
              </p:nvPr>
            </p:nvGraphicFramePr>
            <p:xfrm>
              <a:off x="3431295" y="227198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0659901"/>
                  </p:ext>
                </p:extLst>
              </p:nvPr>
            </p:nvGraphicFramePr>
            <p:xfrm>
              <a:off x="3431295" y="2271980"/>
              <a:ext cx="180020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00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" r="-3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714" r="-20857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r="-10277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8571" r="-571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" t="-103448" r="-300000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714" t="-103448" r="-208571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3448" r="-102778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8571" t="-103448" r="-5714" b="-2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" t="-196667" r="-300000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714" t="-196667" r="-208571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96667" r="-102778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8571" t="-196667" r="-5714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" t="-306897" r="-300000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714" t="-306897" r="-208571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06897" r="-10277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8571" t="-306897" r="-5714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25856"/>
                  </p:ext>
                </p:extLst>
              </p:nvPr>
            </p:nvGraphicFramePr>
            <p:xfrm>
              <a:off x="5087479" y="4144188"/>
              <a:ext cx="45005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25856"/>
                  </p:ext>
                </p:extLst>
              </p:nvPr>
            </p:nvGraphicFramePr>
            <p:xfrm>
              <a:off x="5087479" y="4144188"/>
              <a:ext cx="450050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450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03" t="-3333" r="-2703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03" t="-106897" r="-2703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03" t="-200000" r="-270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03" t="-310345" r="-2703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72836"/>
              </p:ext>
            </p:extLst>
          </p:nvPr>
        </p:nvGraphicFramePr>
        <p:xfrm>
          <a:off x="2711215" y="4144188"/>
          <a:ext cx="1800200" cy="1483360"/>
        </p:xfrm>
        <a:graphic>
          <a:graphicData uri="http://schemas.openxmlformats.org/drawingml/2006/table">
            <a:tbl>
              <a:tblPr bandRow="1">
                <a:tableStyleId>{69C7853C-536D-4A76-A0AE-DD22124D55A5}</a:tableStyleId>
              </a:tblPr>
              <a:tblGrid>
                <a:gridCol w="45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624559" y="4720252"/>
                <a:ext cx="349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59" y="4720252"/>
                <a:ext cx="3497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736205" y="4701202"/>
                <a:ext cx="471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=:</m:t>
                    </m:r>
                  </m:oMath>
                </a14:m>
                <a:r>
                  <a:rPr lang="en-US" b="1" noProof="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205" y="4701202"/>
                <a:ext cx="4716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6523326"/>
                  </p:ext>
                </p:extLst>
              </p:nvPr>
            </p:nvGraphicFramePr>
            <p:xfrm>
              <a:off x="6302613" y="4144188"/>
              <a:ext cx="513057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13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6523326"/>
                  </p:ext>
                </p:extLst>
              </p:nvPr>
            </p:nvGraphicFramePr>
            <p:xfrm>
              <a:off x="6302613" y="4144188"/>
              <a:ext cx="513057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13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39" t="-3333" r="-4878" b="-2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39" t="-106897" r="-487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39" t="-200000" r="-487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39" t="-310345" r="-487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467041"/>
                  </p:ext>
                </p:extLst>
              </p:nvPr>
            </p:nvGraphicFramePr>
            <p:xfrm>
              <a:off x="6599647" y="2271980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sz="1600" b="1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467041"/>
                  </p:ext>
                </p:extLst>
              </p:nvPr>
            </p:nvGraphicFramePr>
            <p:xfrm>
              <a:off x="6599647" y="2271980"/>
              <a:ext cx="2016224" cy="1483360"/>
            </p:xfrm>
            <a:graphic>
              <a:graphicData uri="http://schemas.openxmlformats.org/drawingml/2006/table">
                <a:tbl>
                  <a:tblPr bandRow="1">
                    <a:tableStyleId>{69C7853C-536D-4A76-A0AE-DD22124D55A5}</a:tableStyleId>
                  </a:tblPr>
                  <a:tblGrid>
                    <a:gridCol w="504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500" r="-3025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500" r="-2025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500" r="-1025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500" r="-25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500" t="-103448" r="-302500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500" t="-103448" r="-202500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500" t="-103448" r="-102500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500" t="-103448" r="-2500" b="-2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500" t="-196667" r="-302500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500" t="-196667" r="-202500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500" t="-196667" r="-102500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500" t="-196667" r="-2500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500" t="-306897" r="-302500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2500" t="-306897" r="-202500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2500" t="-306897" r="-102500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2500" t="-306897" r="-2500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" name="Straight Arrow Connector 19"/>
          <p:cNvCxnSpPr>
            <a:endCxn id="8" idx="0"/>
          </p:cNvCxnSpPr>
          <p:nvPr/>
        </p:nvCxnSpPr>
        <p:spPr>
          <a:xfrm>
            <a:off x="4511415" y="3784148"/>
            <a:ext cx="801089" cy="360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0"/>
          </p:cNvCxnSpPr>
          <p:nvPr/>
        </p:nvCxnSpPr>
        <p:spPr>
          <a:xfrm flipV="1">
            <a:off x="6559141" y="3755340"/>
            <a:ext cx="1192634" cy="388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192083" y="2596426"/>
                <a:ext cx="3107767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/>
                  <a:t>Multiply every column by a matrix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noProof="0" dirty="0"/>
                  <a:t> (in </a:t>
                </a:r>
                <a14:m>
                  <m:oMath xmlns:m="http://schemas.openxmlformats.org/officeDocument/2006/math">
                    <m:r>
                      <a:rPr lang="en-US" sz="20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noProof="0" dirty="0"/>
                  <a:t>):</a:t>
                </a:r>
                <a:endParaRPr lang="en-US" sz="20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3" y="2596426"/>
                <a:ext cx="3107767" cy="714876"/>
              </a:xfrm>
              <a:prstGeom prst="rect">
                <a:avLst/>
              </a:prstGeom>
              <a:blipFill>
                <a:blip r:embed="rId8"/>
                <a:stretch>
                  <a:fillRect l="-2041" t="-5263" r="-4082" b="-1578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978571" y="4124339"/>
                <a:ext cx="54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noProof="0" dirty="0"/>
                  <a:t>:</a:t>
                </a:r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571" y="4124339"/>
                <a:ext cx="546945" cy="461665"/>
              </a:xfrm>
              <a:prstGeom prst="rect">
                <a:avLst/>
              </a:prstGeom>
              <a:blipFill>
                <a:blip r:embed="rId9"/>
                <a:stretch>
                  <a:fillRect l="-4651" t="-10811" r="-16279" b="-2973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323528" y="5939540"/>
                <a:ext cx="68470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noProof="0" dirty="0"/>
                  <a:t>Clearly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b="1" noProof="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noProof="0" dirty="0"/>
                  <a:t>is invertible, so the whole operation also is.</a:t>
                </a:r>
                <a:endParaRPr lang="en-US" sz="2400" b="1" noProof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939540"/>
                <a:ext cx="6847067" cy="461665"/>
              </a:xfrm>
              <a:prstGeom prst="rect">
                <a:avLst/>
              </a:prstGeom>
              <a:blipFill>
                <a:blip r:embed="rId10"/>
                <a:stretch>
                  <a:fillRect l="-1481" t="-10526" r="-4815" b="-2631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9F8C0B24-E0FC-3D6F-0542-7A78C5E238D9}"/>
              </a:ext>
            </a:extLst>
          </p:cNvPr>
          <p:cNvSpPr/>
          <p:nvPr/>
        </p:nvSpPr>
        <p:spPr>
          <a:xfrm>
            <a:off x="150055" y="4515729"/>
            <a:ext cx="1733711" cy="1228268"/>
          </a:xfrm>
          <a:prstGeom prst="wedgeRectCallout">
            <a:avLst>
              <a:gd name="adj1" fmla="val 99302"/>
              <a:gd name="adj2" fmla="val 2042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 bytes treated as polynomial coefficients</a:t>
            </a:r>
          </a:p>
        </p:txBody>
      </p:sp>
    </p:spTree>
    <p:extLst>
      <p:ext uri="{BB962C8B-B14F-4D97-AF65-F5344CB8AC3E}">
        <p14:creationId xmlns:p14="http://schemas.microsoft.com/office/powerpoint/2010/main" val="303060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5" grpId="0"/>
      <p:bldP spid="26" grpId="0"/>
      <p:bldP spid="27" grpId="0"/>
      <p:bldP spid="3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AES construction – more details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u="sng" noProof="0" dirty="0"/>
                  <a:t>Concrete parameters:</a:t>
                </a:r>
              </a:p>
              <a:p>
                <a:pPr marL="400050" lvl="1" indent="0">
                  <a:buNone/>
                </a:pPr>
                <a:r>
                  <a:rPr lang="en-US" b="1" noProof="0" dirty="0">
                    <a:solidFill>
                      <a:srgbClr val="00B050"/>
                    </a:solidFill>
                  </a:rPr>
                  <a:t>key size</a:t>
                </a:r>
                <a:r>
                  <a:rPr lang="en-US" b="1" noProof="0" dirty="0"/>
                  <a:t>: 128</a:t>
                </a:r>
                <a:r>
                  <a:rPr lang="en-US" noProof="0" dirty="0"/>
                  <a:t>, </a:t>
                </a:r>
                <a:r>
                  <a:rPr lang="en-US" b="1" noProof="0" dirty="0"/>
                  <a:t>192</a:t>
                </a:r>
                <a:r>
                  <a:rPr lang="en-US" noProof="0" dirty="0"/>
                  <a:t> or </a:t>
                </a:r>
                <a:r>
                  <a:rPr lang="en-US" b="1" noProof="0" dirty="0"/>
                  <a:t>256</a:t>
                </a:r>
                <a:r>
                  <a:rPr lang="en-US" noProof="0" dirty="0"/>
                  <a:t> bit, </a:t>
                </a:r>
              </a:p>
              <a:p>
                <a:pPr marL="400050" lvl="1" indent="0">
                  <a:buNone/>
                </a:pPr>
                <a:r>
                  <a:rPr lang="en-US" b="1" noProof="0" dirty="0">
                    <a:solidFill>
                      <a:srgbClr val="00B050"/>
                    </a:solidFill>
                  </a:rPr>
                  <a:t>block size</a:t>
                </a:r>
                <a:r>
                  <a:rPr lang="en-US" noProof="0" dirty="0"/>
                  <a:t>: </a:t>
                </a:r>
                <a:r>
                  <a:rPr lang="en-US" b="1" noProof="0" dirty="0"/>
                  <a:t>128</a:t>
                </a:r>
                <a:r>
                  <a:rPr lang="en-US" noProof="0" dirty="0"/>
                  <a:t> bits</a:t>
                </a:r>
              </a:p>
              <a:p>
                <a:pPr marL="400050" lvl="1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We omit the description of the key schedule.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b="1" u="sng" noProof="0" dirty="0"/>
                  <a:t>Security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r>
                  <a:rPr lang="en-US" noProof="0" dirty="0"/>
                  <a:t>best known attack: </a:t>
                </a:r>
                <a:r>
                  <a:rPr lang="en-US" b="1" noProof="0" dirty="0">
                    <a:solidFill>
                      <a:srgbClr val="FF0000"/>
                    </a:solidFill>
                  </a:rPr>
                  <a:t>biclique attacks </a:t>
                </a:r>
                <a:r>
                  <a:rPr lang="en-US" b="1" noProof="0" dirty="0">
                    <a:solidFill>
                      <a:srgbClr val="00B050"/>
                    </a:solidFill>
                  </a:rPr>
                  <a:t>[Bogdanov, </a:t>
                </a:r>
                <a:r>
                  <a:rPr lang="en-US" b="1" noProof="0" dirty="0" err="1">
                    <a:solidFill>
                      <a:srgbClr val="00B050"/>
                    </a:solidFill>
                  </a:rPr>
                  <a:t>Khovratovich</a:t>
                </a:r>
                <a:r>
                  <a:rPr lang="en-US" b="1" noProof="0" dirty="0">
                    <a:solidFill>
                      <a:srgbClr val="00B050"/>
                    </a:solidFill>
                  </a:rPr>
                  <a:t>, and </a:t>
                </a:r>
                <a:r>
                  <a:rPr lang="en-US" b="1" noProof="0" dirty="0" err="1">
                    <a:solidFill>
                      <a:srgbClr val="00B050"/>
                    </a:solidFill>
                  </a:rPr>
                  <a:t>Rechberger</a:t>
                </a:r>
                <a:r>
                  <a:rPr lang="en-US" b="1" noProof="0" dirty="0">
                    <a:solidFill>
                      <a:srgbClr val="00B050"/>
                    </a:solidFill>
                  </a:rPr>
                  <a:t>, 2013]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b="1" noProof="0" dirty="0">
                    <a:solidFill>
                      <a:srgbClr val="0070C0"/>
                    </a:solidFill>
                  </a:rPr>
                  <a:t>AES-128</a:t>
                </a:r>
                <a:r>
                  <a:rPr lang="en-US" noProof="0" dirty="0"/>
                  <a:t> complexity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𝟏𝟐𝟔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noProof="0" dirty="0"/>
                  <a:t>, </a:t>
                </a:r>
              </a:p>
              <a:p>
                <a:r>
                  <a:rPr lang="en-US" b="1" noProof="0" dirty="0">
                    <a:solidFill>
                      <a:srgbClr val="0070C0"/>
                    </a:solidFill>
                  </a:rPr>
                  <a:t>AES-192</a:t>
                </a:r>
                <a:r>
                  <a:rPr lang="en-US" noProof="0" dirty="0"/>
                  <a:t> complexity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𝟏𝟖𝟗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noProof="0" dirty="0"/>
                  <a:t>,</a:t>
                </a:r>
              </a:p>
              <a:p>
                <a:r>
                  <a:rPr lang="en-US" b="1" noProof="0" dirty="0">
                    <a:solidFill>
                      <a:srgbClr val="0070C0"/>
                    </a:solidFill>
                  </a:rPr>
                  <a:t>AES-256</a:t>
                </a:r>
                <a:r>
                  <a:rPr lang="en-US" noProof="0" dirty="0"/>
                  <a:t> complexity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𝟐𝟓𝟒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noProof="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907" r="-1125" b="-872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01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noProof="0" dirty="0"/>
              <a:t>Modes of operation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Popular construction paradigms</a:t>
            </a:r>
          </a:p>
          <a:p>
            <a:pPr marL="971550" lvl="1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noProof="0" dirty="0"/>
              <a:t>Cascade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1228446" y="5101389"/>
            <a:ext cx="1214446" cy="30704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802079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928802"/>
                <a:ext cx="8229600" cy="4572032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US" noProof="0" dirty="0"/>
                  <a:t>The main problem of </a:t>
                </a:r>
                <a:r>
                  <a:rPr lang="en-US" b="1" noProof="0" dirty="0"/>
                  <a:t>DES</a:t>
                </a:r>
                <a:r>
                  <a:rPr lang="en-US" noProof="0" dirty="0"/>
                  <a:t> is the short key!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>
                  <a:buNone/>
                </a:pPr>
                <a:r>
                  <a:rPr lang="en-US" b="1" noProof="0" dirty="0">
                    <a:solidFill>
                      <a:srgbClr val="FF0000"/>
                    </a:solidFill>
                  </a:rPr>
                  <a:t>Maybe we could increase the length of the key?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>
                  <a:buNone/>
                </a:pPr>
                <a:r>
                  <a:rPr lang="en-US" noProof="0" dirty="0"/>
                  <a:t>But how to do it?</a:t>
                </a:r>
              </a:p>
              <a:p>
                <a:pPr>
                  <a:buNone/>
                </a:pPr>
                <a:endParaRPr lang="en-US" noProof="0" dirty="0"/>
              </a:p>
              <a:p>
                <a:pPr algn="ctr">
                  <a:buNone/>
                </a:pPr>
                <a:r>
                  <a:rPr lang="en-US" b="1" u="sng" noProof="0" dirty="0"/>
                  <a:t>Idea</a:t>
                </a:r>
                <a:r>
                  <a:rPr lang="en-US" noProof="0" dirty="0"/>
                  <a:t>: cascade the ciphers!</a:t>
                </a:r>
              </a:p>
              <a:p>
                <a:pPr algn="ctr">
                  <a:buNone/>
                </a:pPr>
                <a:endParaRPr lang="en-US" noProof="0" dirty="0"/>
              </a:p>
              <a:p>
                <a:pPr algn="ctr">
                  <a:buNone/>
                </a:pPr>
                <a:r>
                  <a:rPr lang="en-US" noProof="0" dirty="0"/>
                  <a:t>We now describe it in an abstract way (for any block cipher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noProof="0" dirty="0"/>
                  <a:t>)</a:t>
                </a:r>
              </a:p>
              <a:p>
                <a:pPr algn="ctr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928802"/>
                <a:ext cx="8229600" cy="4572032"/>
              </a:xfrm>
              <a:blipFill>
                <a:blip r:embed="rId3"/>
                <a:stretch>
                  <a:fillRect l="-1387" t="-277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81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/>
          <a:lstStyle/>
          <a:p>
            <a:r>
              <a:rPr lang="en-US" sz="4000" noProof="0" dirty="0"/>
              <a:t>How to increase the key size?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45" name="Rectangle 21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990600"/>
                <a:ext cx="8382000" cy="1524000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sz="2400" b="1" u="sng" noProof="0" dirty="0">
                    <a:solidFill>
                      <a:srgbClr val="7030A0"/>
                    </a:solidFill>
                  </a:rPr>
                  <a:t>Cascade encryption.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/>
                  <a:t>For example, </a:t>
                </a:r>
                <a:r>
                  <a:rPr lang="en-US" sz="2400" b="1" noProof="0" dirty="0"/>
                  <a:t>double encryption</a:t>
                </a:r>
                <a:r>
                  <a:rPr lang="en-US" sz="2400" noProof="0" dirty="0"/>
                  <a:t> is defined as: </a:t>
                </a:r>
                <a:endParaRPr lang="en-US" sz="2400" b="1" i="1" noProof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sSub>
                        <m:sSubPr>
                          <m:ctrlP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  <m:sub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US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400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noProof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noProof="0" dirty="0">
                  <a:solidFill>
                    <a:srgbClr val="80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noProof="0" dirty="0">
                  <a:solidFill>
                    <a:srgbClr val="800000"/>
                  </a:solidFill>
                </a:endParaRPr>
              </a:p>
            </p:txBody>
          </p:sp>
        </mc:Choice>
        <mc:Fallback>
          <p:sp>
            <p:nvSpPr>
              <p:cNvPr id="26645" name="Rectangle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990600"/>
                <a:ext cx="8382000" cy="1524000"/>
              </a:xfrm>
              <a:blipFill>
                <a:blip r:embed="rId3"/>
                <a:stretch>
                  <a:fillRect l="-1210" t="-7438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228600" y="3962400"/>
            <a:ext cx="8229600" cy="338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endParaRPr lang="en-US" sz="3200" b="1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47" name="Text Box 23"/>
              <p:cNvSpPr txBox="1">
                <a:spLocks noChangeArrowheads="1"/>
              </p:cNvSpPr>
              <p:nvPr/>
            </p:nvSpPr>
            <p:spPr bwMode="auto">
              <a:xfrm>
                <a:off x="1643042" y="2714620"/>
                <a:ext cx="1447800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sz="2400" b="1" i="1" noProof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47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042" y="2714620"/>
                <a:ext cx="1447800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648" name="Text Box 24"/>
              <p:cNvSpPr txBox="1">
                <a:spLocks noChangeArrowheads="1"/>
              </p:cNvSpPr>
              <p:nvPr/>
            </p:nvSpPr>
            <p:spPr bwMode="auto">
              <a:xfrm>
                <a:off x="2133600" y="4724400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4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4724400"/>
                <a:ext cx="457200" cy="369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649" name="Text Box 25"/>
              <p:cNvSpPr txBox="1">
                <a:spLocks noChangeArrowheads="1"/>
              </p:cNvSpPr>
              <p:nvPr/>
            </p:nvSpPr>
            <p:spPr bwMode="auto">
              <a:xfrm>
                <a:off x="5410200" y="2743200"/>
                <a:ext cx="1447800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sz="2400" b="1" i="1" noProof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49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0200" y="2743200"/>
                <a:ext cx="1447800" cy="1384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650" name="Text Box 26"/>
              <p:cNvSpPr txBox="1">
                <a:spLocks noChangeArrowheads="1"/>
              </p:cNvSpPr>
              <p:nvPr/>
            </p:nvSpPr>
            <p:spPr bwMode="auto">
              <a:xfrm>
                <a:off x="5863590" y="4724400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50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3590" y="4724400"/>
                <a:ext cx="457200" cy="369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1" name="Line 27"/>
          <p:cNvSpPr>
            <a:spLocks noChangeShapeType="1"/>
          </p:cNvSpPr>
          <p:nvPr/>
        </p:nvSpPr>
        <p:spPr bwMode="auto">
          <a:xfrm flipH="1" flipV="1">
            <a:off x="2354580" y="4099614"/>
            <a:ext cx="7620" cy="624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 flipH="1" flipV="1">
            <a:off x="6122163" y="4113905"/>
            <a:ext cx="4317" cy="6581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53" name="Text Box 29"/>
              <p:cNvSpPr txBox="1">
                <a:spLocks noChangeArrowheads="1"/>
              </p:cNvSpPr>
              <p:nvPr/>
            </p:nvSpPr>
            <p:spPr bwMode="auto">
              <a:xfrm>
                <a:off x="457200" y="3276600"/>
                <a:ext cx="351378" cy="362984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53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276600"/>
                <a:ext cx="351378" cy="362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4" name="Line 30"/>
          <p:cNvSpPr>
            <a:spLocks noChangeShapeType="1"/>
          </p:cNvSpPr>
          <p:nvPr/>
        </p:nvSpPr>
        <p:spPr bwMode="auto">
          <a:xfrm>
            <a:off x="762000" y="3429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26655" name="Line 31"/>
          <p:cNvSpPr>
            <a:spLocks noChangeShapeType="1"/>
          </p:cNvSpPr>
          <p:nvPr/>
        </p:nvSpPr>
        <p:spPr bwMode="auto">
          <a:xfrm>
            <a:off x="3048000" y="3429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56" name="Text Box 32"/>
              <p:cNvSpPr txBox="1">
                <a:spLocks noChangeArrowheads="1"/>
              </p:cNvSpPr>
              <p:nvPr/>
            </p:nvSpPr>
            <p:spPr bwMode="auto">
              <a:xfrm>
                <a:off x="7391400" y="3200400"/>
                <a:ext cx="1271502" cy="369332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56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1400" y="3200400"/>
                <a:ext cx="1271502" cy="369332"/>
              </a:xfrm>
              <a:prstGeom prst="rect">
                <a:avLst/>
              </a:prstGeom>
              <a:blipFill>
                <a:blip r:embed="rId9"/>
                <a:stretch>
                  <a:fillRect r="-990" b="-16667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7" name="Line 33"/>
          <p:cNvSpPr>
            <a:spLocks noChangeShapeType="1"/>
          </p:cNvSpPr>
          <p:nvPr/>
        </p:nvSpPr>
        <p:spPr bwMode="auto">
          <a:xfrm>
            <a:off x="6858000" y="3429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58" name="Text Box 34"/>
              <p:cNvSpPr txBox="1">
                <a:spLocks noChangeArrowheads="1"/>
              </p:cNvSpPr>
              <p:nvPr/>
            </p:nvSpPr>
            <p:spPr bwMode="auto">
              <a:xfrm>
                <a:off x="3810000" y="3276600"/>
                <a:ext cx="773430" cy="369332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658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276600"/>
                <a:ext cx="773430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59" name="Rectangle 35"/>
          <p:cNvSpPr>
            <a:spLocks noChangeArrowheads="1"/>
          </p:cNvSpPr>
          <p:nvPr/>
        </p:nvSpPr>
        <p:spPr bwMode="auto">
          <a:xfrm>
            <a:off x="304800" y="5334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algn="l">
              <a:lnSpc>
                <a:spcPct val="80000"/>
              </a:lnSpc>
              <a:spcBef>
                <a:spcPct val="20000"/>
              </a:spcBef>
            </a:pPr>
            <a:r>
              <a:rPr lang="en-US" sz="2400" b="1" noProof="0" dirty="0"/>
              <a:t>Does it work?</a:t>
            </a:r>
          </a:p>
          <a:p>
            <a:pPr marL="609600" indent="-6096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2400" noProof="0" dirty="0"/>
              <a:t>Double encryption – not really...</a:t>
            </a:r>
          </a:p>
          <a:p>
            <a:pPr marL="609600" indent="-609600" algn="l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2400" noProof="0" dirty="0"/>
              <a:t>Triple encryption is much better!</a:t>
            </a:r>
          </a:p>
        </p:txBody>
      </p:sp>
    </p:spTree>
    <p:extLst>
      <p:ext uri="{BB962C8B-B14F-4D97-AF65-F5344CB8AC3E}">
        <p14:creationId xmlns:p14="http://schemas.microsoft.com/office/powerpoint/2010/main" val="74056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7" grpId="0" animBg="1"/>
      <p:bldP spid="26648" grpId="0" animBg="1"/>
      <p:bldP spid="26649" grpId="0" animBg="1"/>
      <p:bldP spid="26650" grpId="0" animBg="1"/>
      <p:bldP spid="26651" grpId="0" animBg="1"/>
      <p:bldP spid="26652" grpId="0" animBg="1"/>
      <p:bldP spid="26653" grpId="0" animBg="1"/>
      <p:bldP spid="26654" grpId="0" animBg="1"/>
      <p:bldP spid="26655" grpId="0" animBg="1"/>
      <p:bldP spid="26656" grpId="0" animBg="1"/>
      <p:bldP spid="26657" grpId="0" animBg="1"/>
      <p:bldP spid="26658" grpId="0" animBg="1"/>
      <p:bldP spid="26659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noProof="0" dirty="0"/>
              <a:t>Double encryption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21" name="Rectangle 17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Tx/>
                  <a:buNone/>
                </a:pPr>
                <a:r>
                  <a:rPr lang="en-US" noProof="0" dirty="0"/>
                  <a:t>Double encryption can be broken using</a:t>
                </a:r>
                <a:br>
                  <a:rPr lang="en-US" noProof="0" dirty="0"/>
                </a:br>
                <a:endParaRPr lang="en-US" noProof="0" dirty="0"/>
              </a:p>
              <a:p>
                <a:pPr lvl="1"/>
                <a:r>
                  <a:rPr lang="en-US" noProof="0" dirty="0"/>
                  <a:t>time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baseline="30000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noProof="0" dirty="0"/>
                  <a:t>,</a:t>
                </a:r>
              </a:p>
              <a:p>
                <a:pPr lvl="1"/>
                <a:r>
                  <a:rPr lang="en-US" noProof="0" dirty="0"/>
                  <a:t>space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,</a:t>
                </a:r>
                <a:endParaRPr lang="en-US" b="1" noProof="0" dirty="0">
                  <a:solidFill>
                    <a:srgbClr val="800000"/>
                  </a:solidFill>
                </a:endParaRPr>
              </a:p>
              <a:p>
                <a:pPr lvl="1"/>
                <a:r>
                  <a:rPr lang="en-US" noProof="0" dirty="0"/>
                  <a:t>and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noProof="0" dirty="0">
                    <a:solidFill>
                      <a:srgbClr val="0070C0"/>
                    </a:solidFill>
                  </a:rPr>
                  <a:t>(</a:t>
                </a:r>
                <a:r>
                  <a:rPr lang="en-US" b="1" noProof="0" dirty="0" err="1">
                    <a:solidFill>
                      <a:srgbClr val="0070C0"/>
                    </a:solidFill>
                  </a:rPr>
                  <a:t>plaintext,ciphertext</a:t>
                </a:r>
                <a:r>
                  <a:rPr lang="en-US" b="1" noProof="0" dirty="0">
                    <a:solidFill>
                      <a:srgbClr val="0070C0"/>
                    </a:solidFill>
                  </a:rPr>
                  <a:t>)</a:t>
                </a:r>
                <a:r>
                  <a:rPr lang="en-US" noProof="0" dirty="0">
                    <a:solidFill>
                      <a:srgbClr val="0070C0"/>
                    </a:solidFill>
                  </a:rPr>
                  <a:t> </a:t>
                </a:r>
                <a:r>
                  <a:rPr lang="en-US" noProof="0" dirty="0"/>
                  <a:t>pairs.</a:t>
                </a:r>
              </a:p>
              <a:p>
                <a:pPr lvl="1"/>
                <a:endParaRPr lang="en-US" noProof="0" dirty="0"/>
              </a:p>
              <a:p>
                <a:pPr>
                  <a:buFontTx/>
                  <a:buNone/>
                </a:pPr>
                <a:r>
                  <a:rPr lang="en-US" noProof="0" dirty="0"/>
                  <a:t>The attack is called “</a:t>
                </a:r>
                <a:r>
                  <a:rPr lang="en-US" b="1" noProof="0" dirty="0">
                    <a:solidFill>
                      <a:srgbClr val="009900"/>
                    </a:solidFill>
                  </a:rPr>
                  <a:t>meet in the middle</a:t>
                </a:r>
                <a:r>
                  <a:rPr lang="en-US" noProof="0" dirty="0"/>
                  <a:t>”.</a:t>
                </a:r>
              </a:p>
            </p:txBody>
          </p:sp>
        </mc:Choice>
        <mc:Fallback>
          <p:sp>
            <p:nvSpPr>
              <p:cNvPr id="21521" name="Rectangle 1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608" t="-232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22" name="Rectangle 18"/>
              <p:cNvSpPr>
                <a:spLocks noChangeArrowheads="1"/>
              </p:cNvSpPr>
              <p:nvPr/>
            </p:nvSpPr>
            <p:spPr bwMode="auto">
              <a:xfrm>
                <a:off x="4800600" y="1066800"/>
                <a:ext cx="4081463" cy="3841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noProof="0" dirty="0"/>
                  <a:t> = block length = key length</a:t>
                </a:r>
              </a:p>
            </p:txBody>
          </p:sp>
        </mc:Choice>
        <mc:Fallback>
          <p:sp>
            <p:nvSpPr>
              <p:cNvPr id="21522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1066800"/>
                <a:ext cx="4081463" cy="384175"/>
              </a:xfrm>
              <a:prstGeom prst="rect">
                <a:avLst/>
              </a:prstGeom>
              <a:blipFill>
                <a:blip r:embed="rId4"/>
                <a:stretch>
                  <a:fillRect t="-32258" b="-3548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93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65126"/>
            <a:ext cx="8210550" cy="809227"/>
          </a:xfrm>
        </p:spPr>
        <p:txBody>
          <a:bodyPr/>
          <a:lstStyle/>
          <a:p>
            <a:r>
              <a:rPr lang="en-US" sz="4000" noProof="0" dirty="0"/>
              <a:t>Meet-in-the middle attack – the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2" name="Text Box 4"/>
              <p:cNvSpPr txBox="1">
                <a:spLocks noChangeArrowheads="1"/>
              </p:cNvSpPr>
              <p:nvPr/>
            </p:nvSpPr>
            <p:spPr bwMode="auto">
              <a:xfrm>
                <a:off x="228600" y="4495800"/>
                <a:ext cx="777875" cy="369888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3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4495800"/>
                <a:ext cx="777875" cy="369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3" name="Line 5"/>
          <p:cNvSpPr>
            <a:spLocks noChangeShapeType="1"/>
          </p:cNvSpPr>
          <p:nvPr/>
        </p:nvSpPr>
        <p:spPr bwMode="auto">
          <a:xfrm flipV="1">
            <a:off x="990600" y="2743200"/>
            <a:ext cx="13716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4" name="Text Box 6"/>
              <p:cNvSpPr txBox="1">
                <a:spLocks noChangeArrowheads="1"/>
              </p:cNvSpPr>
              <p:nvPr/>
            </p:nvSpPr>
            <p:spPr bwMode="auto">
              <a:xfrm>
                <a:off x="1752600" y="31242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3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3124200"/>
                <a:ext cx="450764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6" name="Line 8"/>
          <p:cNvSpPr>
            <a:spLocks noChangeShapeType="1"/>
          </p:cNvSpPr>
          <p:nvPr/>
        </p:nvSpPr>
        <p:spPr bwMode="auto">
          <a:xfrm flipV="1">
            <a:off x="990600" y="3733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7" name="Text Box 9"/>
              <p:cNvSpPr txBox="1">
                <a:spLocks noChangeArrowheads="1"/>
              </p:cNvSpPr>
              <p:nvPr/>
            </p:nvSpPr>
            <p:spPr bwMode="auto">
              <a:xfrm>
                <a:off x="1752600" y="38100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3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3810000"/>
                <a:ext cx="450764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990600" y="4724400"/>
            <a:ext cx="1371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9" name="Text Box 11"/>
              <p:cNvSpPr txBox="1">
                <a:spLocks noChangeArrowheads="1"/>
              </p:cNvSpPr>
              <p:nvPr/>
            </p:nvSpPr>
            <p:spPr bwMode="auto">
              <a:xfrm>
                <a:off x="1752600" y="5410200"/>
                <a:ext cx="502061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3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5410200"/>
                <a:ext cx="502061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0" name="Text Box 12"/>
              <p:cNvSpPr txBox="1">
                <a:spLocks noChangeArrowheads="1"/>
              </p:cNvSpPr>
              <p:nvPr/>
            </p:nvSpPr>
            <p:spPr bwMode="auto">
              <a:xfrm>
                <a:off x="2362200" y="2590800"/>
                <a:ext cx="838200" cy="39312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2590800"/>
                <a:ext cx="838200" cy="393121"/>
              </a:xfrm>
              <a:prstGeom prst="rect">
                <a:avLst/>
              </a:prstGeom>
              <a:blipFill>
                <a:blip r:embed="rId7"/>
                <a:stretch>
                  <a:fillRect l="-1471" b="-606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1" name="Text Box 13"/>
              <p:cNvSpPr txBox="1">
                <a:spLocks noChangeArrowheads="1"/>
              </p:cNvSpPr>
              <p:nvPr/>
            </p:nvSpPr>
            <p:spPr bwMode="auto">
              <a:xfrm>
                <a:off x="2362200" y="3581400"/>
                <a:ext cx="838200" cy="39312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3581400"/>
                <a:ext cx="838200" cy="393121"/>
              </a:xfrm>
              <a:prstGeom prst="rect">
                <a:avLst/>
              </a:prstGeom>
              <a:blipFill>
                <a:blip r:embed="rId8"/>
                <a:stretch>
                  <a:fillRect l="-1471" b="-606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2" name="Text Box 14"/>
              <p:cNvSpPr txBox="1">
                <a:spLocks noChangeArrowheads="1"/>
              </p:cNvSpPr>
              <p:nvPr/>
            </p:nvSpPr>
            <p:spPr bwMode="auto">
              <a:xfrm>
                <a:off x="2362200" y="5715000"/>
                <a:ext cx="838200" cy="40421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</m:sSub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5715000"/>
                <a:ext cx="838200" cy="404213"/>
              </a:xfrm>
              <a:prstGeom prst="rect">
                <a:avLst/>
              </a:prstGeom>
              <a:blipFill>
                <a:blip r:embed="rId9"/>
                <a:stretch>
                  <a:fillRect l="-4412" r="-1471" b="-294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3" name="Text Box 15"/>
              <p:cNvSpPr txBox="1">
                <a:spLocks noChangeArrowheads="1"/>
              </p:cNvSpPr>
              <p:nvPr/>
            </p:nvSpPr>
            <p:spPr bwMode="auto">
              <a:xfrm>
                <a:off x="8077200" y="4419600"/>
                <a:ext cx="777875" cy="369888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200" y="4419600"/>
                <a:ext cx="777875" cy="369888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4" name="Text Box 16"/>
              <p:cNvSpPr txBox="1">
                <a:spLocks noChangeArrowheads="1"/>
              </p:cNvSpPr>
              <p:nvPr/>
            </p:nvSpPr>
            <p:spPr bwMode="auto">
              <a:xfrm>
                <a:off x="5867400" y="2590800"/>
                <a:ext cx="990600" cy="4256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2590800"/>
                <a:ext cx="990600" cy="425694"/>
              </a:xfrm>
              <a:prstGeom prst="rect">
                <a:avLst/>
              </a:prstGeom>
              <a:blipFill>
                <a:blip r:embed="rId11"/>
                <a:stretch>
                  <a:fillRect b="-27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5" name="Text Box 17"/>
              <p:cNvSpPr txBox="1">
                <a:spLocks noChangeArrowheads="1"/>
              </p:cNvSpPr>
              <p:nvPr/>
            </p:nvSpPr>
            <p:spPr bwMode="auto">
              <a:xfrm>
                <a:off x="5867400" y="3581400"/>
                <a:ext cx="990600" cy="4367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  <m:sup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3581400"/>
                <a:ext cx="990600" cy="436786"/>
              </a:xfrm>
              <a:prstGeom prst="rect">
                <a:avLst/>
              </a:prstGeom>
              <a:blipFill>
                <a:blip r:embed="rId12"/>
                <a:stretch>
                  <a:fillRect b="-27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6" name="Text Box 18"/>
              <p:cNvSpPr txBox="1">
                <a:spLocks noChangeArrowheads="1"/>
              </p:cNvSpPr>
              <p:nvPr/>
            </p:nvSpPr>
            <p:spPr bwMode="auto">
              <a:xfrm>
                <a:off x="5943600" y="5791200"/>
                <a:ext cx="990600" cy="4367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sub>
                        <m:sup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5791200"/>
                <a:ext cx="990600" cy="4367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7" name="Line 19"/>
          <p:cNvSpPr>
            <a:spLocks noChangeShapeType="1"/>
          </p:cNvSpPr>
          <p:nvPr/>
        </p:nvSpPr>
        <p:spPr bwMode="auto">
          <a:xfrm flipH="1" flipV="1">
            <a:off x="6858000" y="2743200"/>
            <a:ext cx="1219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48" name="Text Box 20"/>
              <p:cNvSpPr txBox="1">
                <a:spLocks noChangeArrowheads="1"/>
              </p:cNvSpPr>
              <p:nvPr/>
            </p:nvSpPr>
            <p:spPr bwMode="auto">
              <a:xfrm>
                <a:off x="7162800" y="32004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4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3200400"/>
                <a:ext cx="450764" cy="36298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9" name="Line 21"/>
          <p:cNvSpPr>
            <a:spLocks noChangeShapeType="1"/>
          </p:cNvSpPr>
          <p:nvPr/>
        </p:nvSpPr>
        <p:spPr bwMode="auto">
          <a:xfrm flipH="1" flipV="1">
            <a:off x="6858000" y="3733800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50" name="Text Box 22"/>
              <p:cNvSpPr txBox="1">
                <a:spLocks noChangeArrowheads="1"/>
              </p:cNvSpPr>
              <p:nvPr/>
            </p:nvSpPr>
            <p:spPr bwMode="auto">
              <a:xfrm>
                <a:off x="7162800" y="3886200"/>
                <a:ext cx="450764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5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3886200"/>
                <a:ext cx="450764" cy="3629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1" name="Line 23"/>
          <p:cNvSpPr>
            <a:spLocks noChangeShapeType="1"/>
          </p:cNvSpPr>
          <p:nvPr/>
        </p:nvSpPr>
        <p:spPr bwMode="auto">
          <a:xfrm flipH="1">
            <a:off x="6934200" y="4572000"/>
            <a:ext cx="11430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52" name="Text Box 24"/>
              <p:cNvSpPr txBox="1">
                <a:spLocks noChangeArrowheads="1"/>
              </p:cNvSpPr>
              <p:nvPr/>
            </p:nvSpPr>
            <p:spPr bwMode="auto">
              <a:xfrm>
                <a:off x="7162800" y="5334000"/>
                <a:ext cx="502061" cy="362984"/>
              </a:xfrm>
              <a:prstGeom prst="rect">
                <a:avLst/>
              </a:prstGeom>
              <a:solidFill>
                <a:srgbClr val="CCE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52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5334000"/>
                <a:ext cx="502061" cy="36298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53" name="Text Box 25"/>
              <p:cNvSpPr txBox="1">
                <a:spLocks noChangeArrowheads="1"/>
              </p:cNvSpPr>
              <p:nvPr/>
            </p:nvSpPr>
            <p:spPr bwMode="auto">
              <a:xfrm>
                <a:off x="304800" y="1574800"/>
                <a:ext cx="6237798" cy="6551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 b="1" u="sng" noProof="0" dirty="0"/>
                  <a:t>Goal</a:t>
                </a:r>
                <a:r>
                  <a:rPr lang="en-US" sz="2000" noProof="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noProof="0" dirty="0"/>
                  <a:t>find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sz="2000" noProof="0" dirty="0"/>
                  <a:t>such that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000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d>
                      <m:dPr>
                        <m:ctrlPr>
                          <a:rPr lang="en-US" sz="20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US" sz="2000" b="1" noProof="0" dirty="0">
                  <a:solidFill>
                    <a:srgbClr val="993300"/>
                  </a:solidFill>
                </a:endParaRPr>
              </a:p>
              <a:p>
                <a:pPr algn="l"/>
                <a:endParaRPr lang="en-US" sz="1400" noProof="0" dirty="0"/>
              </a:p>
            </p:txBody>
          </p:sp>
        </mc:Choice>
        <mc:Fallback>
          <p:sp>
            <p:nvSpPr>
              <p:cNvPr id="2255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574800"/>
                <a:ext cx="6237798" cy="655179"/>
              </a:xfrm>
              <a:prstGeom prst="rect">
                <a:avLst/>
              </a:prstGeom>
              <a:blipFill>
                <a:blip r:embed="rId17"/>
                <a:stretch>
                  <a:fillRect l="-101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4" name="Line 26"/>
          <p:cNvSpPr>
            <a:spLocks noChangeShapeType="1"/>
          </p:cNvSpPr>
          <p:nvPr/>
        </p:nvSpPr>
        <p:spPr bwMode="auto">
          <a:xfrm flipH="1" flipV="1">
            <a:off x="3200400" y="3733800"/>
            <a:ext cx="533400" cy="3048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22555" name="Line 27"/>
          <p:cNvSpPr>
            <a:spLocks noChangeShapeType="1"/>
          </p:cNvSpPr>
          <p:nvPr/>
        </p:nvSpPr>
        <p:spPr bwMode="auto">
          <a:xfrm>
            <a:off x="5181600" y="4648200"/>
            <a:ext cx="838200" cy="8382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56" name="Text Box 28"/>
              <p:cNvSpPr txBox="1">
                <a:spLocks noChangeArrowheads="1"/>
              </p:cNvSpPr>
              <p:nvPr/>
            </p:nvSpPr>
            <p:spPr bwMode="auto">
              <a:xfrm>
                <a:off x="3505200" y="3886200"/>
                <a:ext cx="2073275" cy="946669"/>
              </a:xfrm>
              <a:prstGeom prst="rect">
                <a:avLst/>
              </a:prstGeom>
              <a:solidFill>
                <a:srgbClr val="FEFFF3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noProof="0" dirty="0"/>
                  <a:t>just find a pair of equal values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noProof="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55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3886200"/>
                <a:ext cx="2073275" cy="946669"/>
              </a:xfrm>
              <a:prstGeom prst="rect">
                <a:avLst/>
              </a:prstGeom>
              <a:blipFill>
                <a:blip r:embed="rId18"/>
                <a:stretch>
                  <a:fillRect t="-3947" b="-6579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3733800" y="5334000"/>
            <a:ext cx="1597025" cy="644525"/>
          </a:xfrm>
          <a:prstGeom prst="rect">
            <a:avLst/>
          </a:prstGeom>
          <a:solidFill>
            <a:srgbClr val="F0F0F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noProof="0" dirty="0">
                <a:solidFill>
                  <a:srgbClr val="7030A0"/>
                </a:solidFill>
              </a:rPr>
              <a:t>How?</a:t>
            </a:r>
            <a:br>
              <a:rPr lang="en-US" noProof="0" dirty="0"/>
            </a:br>
            <a:r>
              <a:rPr lang="en-US" noProof="0" dirty="0"/>
              <a:t>sort both lists!</a:t>
            </a: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 rot="5400000">
            <a:off x="6103938" y="4183062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noProof="0" dirty="0"/>
              <a:t>. . .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 rot="5400000">
            <a:off x="2522538" y="4259262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noProof="0" dirty="0"/>
              <a:t>. . 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7786710" y="1643050"/>
                <a:ext cx="1074333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30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10" y="1643050"/>
                <a:ext cx="1074333" cy="362984"/>
              </a:xfrm>
              <a:prstGeom prst="rect">
                <a:avLst/>
              </a:prstGeom>
              <a:blipFill>
                <a:blip r:embed="rId19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04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3" grpId="0" animBg="1"/>
      <p:bldP spid="22534" grpId="0" animBg="1"/>
      <p:bldP spid="22536" grpId="0" animBg="1"/>
      <p:bldP spid="22537" grpId="0" animBg="1"/>
      <p:bldP spid="22538" grpId="0" animBg="1"/>
      <p:bldP spid="22539" grpId="0" animBg="1"/>
      <p:bldP spid="22540" grpId="0" animBg="1"/>
      <p:bldP spid="22541" grpId="0" animBg="1"/>
      <p:bldP spid="22542" grpId="0" animBg="1"/>
      <p:bldP spid="22543" grpId="0" animBg="1"/>
      <p:bldP spid="22544" grpId="0" animBg="1"/>
      <p:bldP spid="22545" grpId="0" animBg="1"/>
      <p:bldP spid="22546" grpId="0" animBg="1"/>
      <p:bldP spid="22547" grpId="0" animBg="1"/>
      <p:bldP spid="22548" grpId="0" animBg="1"/>
      <p:bldP spid="22549" grpId="0" animBg="1"/>
      <p:bldP spid="22550" grpId="0" animBg="1"/>
      <p:bldP spid="22551" grpId="0" animBg="1"/>
      <p:bldP spid="22552" grpId="0" animBg="1"/>
      <p:bldP spid="22554" grpId="0" animBg="1"/>
      <p:bldP spid="22555" grpId="0" animBg="1"/>
      <p:bldP spid="22556" grpId="0" animBg="1"/>
      <p:bldP spid="22557" grpId="0" animBg="1"/>
      <p:bldP spid="22558" grpId="0"/>
      <p:bldP spid="22559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50" y="90806"/>
            <a:ext cx="8658255" cy="920749"/>
          </a:xfrm>
        </p:spPr>
        <p:txBody>
          <a:bodyPr>
            <a:normAutofit/>
          </a:bodyPr>
          <a:lstStyle/>
          <a:p>
            <a:r>
              <a:rPr lang="en-US" sz="3600" noProof="0" dirty="0"/>
              <a:t>Meet-in-the middle attack – the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5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75086" y="1255139"/>
                <a:ext cx="8695403" cy="4525963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b="1" u="sng" noProof="0" dirty="0">
                    <a:solidFill>
                      <a:srgbClr val="00B050"/>
                    </a:solidFill>
                  </a:rPr>
                  <a:t>Goal</a:t>
                </a:r>
                <a:r>
                  <a:rPr lang="en-US" noProof="0" dirty="0"/>
                  <a:t>: Given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 find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noProof="0" dirty="0"/>
                  <a:t>such that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𝑭𝒌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𝑭𝒌</m:t>
                    </m:r>
                    <m:r>
                      <a:rPr lang="en-US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noProof="0" dirty="0"/>
                  <a:t>.</a:t>
                </a:r>
              </a:p>
              <a:p>
                <a:pPr marL="609600" indent="-609600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sz="1400" noProof="0" dirty="0"/>
              </a:p>
              <a:p>
                <a:pPr marL="609600" indent="-609600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2400" noProof="0" dirty="0"/>
                  <a:t> </a:t>
                </a:r>
                <a:endParaRPr lang="en-US" sz="1600" noProof="0" dirty="0"/>
              </a:p>
              <a:p>
                <a:pPr marL="609600" indent="-609600" algn="ctr">
                  <a:lnSpc>
                    <a:spcPct val="80000"/>
                  </a:lnSpc>
                  <a:buNone/>
                </a:pPr>
                <a:r>
                  <a:rPr lang="en-US" sz="2700" b="1" u="sng" noProof="0" dirty="0">
                    <a:solidFill>
                      <a:srgbClr val="7030A0"/>
                    </a:solidFill>
                  </a:rPr>
                  <a:t>Algorithm</a:t>
                </a:r>
                <a:r>
                  <a:rPr lang="en-US" sz="2700" noProof="0" dirty="0">
                    <a:solidFill>
                      <a:srgbClr val="7030A0"/>
                    </a:solidFill>
                  </a:rPr>
                  <a:t>: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noProof="0" dirty="0">
                    <a:cs typeface="Arial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 compute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𝑭</m:t>
                    </m:r>
                    <m:r>
                      <a:rPr lang="en-US" sz="2700" b="1" i="1" baseline="-25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and store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in a list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noProof="0" dirty="0">
                    <a:cs typeface="Arial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 compute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Sup>
                      <m:sSubSupPr>
                        <m:ctrlPr>
                          <a:rPr lang="en-US" sz="27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US" sz="27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𝑭</m:t>
                        </m:r>
                      </m:e>
                      <m:sub>
                        <m:r>
                          <a:rPr lang="en-US" sz="27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𝒌</m:t>
                        </m:r>
                      </m:sub>
                      <m:sup>
                        <m:r>
                          <a:rPr lang="en-US" sz="27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7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𝟏</m:t>
                        </m:r>
                      </m:sup>
                    </m:sSubSup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𝒚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and store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in a list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noProof="0" dirty="0">
                    <a:cs typeface="Arial" charset="0"/>
                  </a:rPr>
                  <a:t>Sort </a:t>
                </a:r>
                <a:r>
                  <a:rPr lang="en-US" sz="2700" b="1" i="1" noProof="0" dirty="0">
                    <a:solidFill>
                      <a:srgbClr val="FF0000"/>
                    </a:solidFill>
                    <a:cs typeface="Arial" charset="0"/>
                  </a:rPr>
                  <a:t>L</a:t>
                </a:r>
                <a:r>
                  <a:rPr lang="en-US" sz="2700" noProof="0" dirty="0">
                    <a:cs typeface="Arial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by their first components.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noProof="0" dirty="0">
                    <a:cs typeface="Arial" charset="0"/>
                  </a:rPr>
                  <a:t>Let </a:t>
                </a:r>
                <a:r>
                  <a:rPr lang="en-US" sz="2700" b="1" noProof="0" dirty="0">
                    <a:solidFill>
                      <a:srgbClr val="FF0000"/>
                    </a:solidFill>
                    <a:cs typeface="Arial" charset="0"/>
                  </a:rPr>
                  <a:t>S</a:t>
                </a:r>
                <a:r>
                  <a:rPr lang="en-US" sz="2700" b="1" noProof="0" dirty="0">
                    <a:cs typeface="Arial" charset="0"/>
                  </a:rPr>
                  <a:t> </a:t>
                </a:r>
                <a:r>
                  <a:rPr lang="en-US" sz="2700" noProof="0" dirty="0">
                    <a:cs typeface="Arial" charset="0"/>
                  </a:rPr>
                  <a:t>denote the list of all pairs all pairs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such that for some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 we have</a:t>
                </a:r>
                <a:br>
                  <a:rPr lang="en-US" sz="2700" noProof="0" dirty="0">
                    <a:cs typeface="Arial" charset="0"/>
                  </a:rPr>
                </a:br>
                <a:r>
                  <a:rPr lang="en-US" sz="2700" noProof="0" dirty="0">
                    <a:cs typeface="Arial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)∈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  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and  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𝒛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𝒌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’)∈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𝑳</m:t>
                    </m:r>
                    <m:r>
                      <a:rPr lang="en-US" sz="27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700" noProof="0" dirty="0">
                    <a:cs typeface="Arial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sz="27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𝑺</m:t>
                    </m:r>
                  </m:oMath>
                </a14:m>
                <a:r>
                  <a:rPr lang="en-US" sz="2700" noProof="0" dirty="0">
                    <a:cs typeface="Arial" charset="0"/>
                  </a:rPr>
                  <a:t>.</a:t>
                </a:r>
              </a:p>
            </p:txBody>
          </p:sp>
        </mc:Choice>
        <mc:Fallback>
          <p:sp>
            <p:nvSpPr>
              <p:cNvPr id="23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75086" y="1255139"/>
                <a:ext cx="8695403" cy="4525963"/>
              </a:xfrm>
              <a:blipFill>
                <a:blip r:embed="rId3"/>
                <a:stretch>
                  <a:fillRect l="-1458" t="-2235" r="-2041" b="-14246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60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" y="0"/>
            <a:ext cx="8229600" cy="1143000"/>
          </a:xfrm>
        </p:spPr>
        <p:txBody>
          <a:bodyPr/>
          <a:lstStyle/>
          <a:p>
            <a:r>
              <a:rPr lang="en-US" sz="3200" noProof="0" dirty="0"/>
              <a:t>Meet-in-the middle attack – analysis [1/2]</a:t>
            </a:r>
            <a:r>
              <a:rPr lang="en-US" sz="3600" noProof="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0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7160" y="1341718"/>
                <a:ext cx="7584290" cy="289166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b="1" u="sng" noProof="0" dirty="0">
                    <a:solidFill>
                      <a:srgbClr val="00B050"/>
                    </a:solidFill>
                  </a:rPr>
                  <a:t>Suppose</a:t>
                </a:r>
                <a:r>
                  <a:rPr lang="en-US" sz="2400" noProof="0" dirty="0"/>
                  <a:t>:</a:t>
                </a:r>
                <a:r>
                  <a:rPr lang="en-US" sz="2400" b="1" noProof="0" dirty="0">
                    <a:solidFill>
                      <a:srgbClr val="8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noProof="0" dirty="0"/>
                  <a:t> = block length = key length,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noProof="0" dirty="0"/>
                  <a:t> </a:t>
                </a:r>
                <a:r>
                  <a:rPr lang="en-US" sz="2400" noProof="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noProof="0" dirty="0"/>
                  <a:t> </a:t>
                </a:r>
                <a:r>
                  <a:rPr lang="en-US" sz="2400" noProof="0" dirty="0"/>
                  <a:t>are fixed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noProof="0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2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2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𝐫𝐚𝐧𝐝𝐨𝐦</m:t>
                      </m:r>
                      <m:r>
                        <a:rPr lang="en-US" sz="22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𝐩𝐚𝐢𝐫</m:t>
                      </m:r>
                      <m:r>
                        <a:rPr lang="en-US" sz="2200" i="0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2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𝐬𝐚𝐭𝐢𝐬𝐟𝐢𝐞𝐬</m:t>
                      </m:r>
                      <m:r>
                        <a:rPr lang="en-US" sz="2200" i="0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200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r>
                        <a:rPr lang="en-US" sz="22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2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)))≈</m:t>
                      </m:r>
                      <m:sSup>
                        <m:sSupPr>
                          <m:ctrlPr>
                            <a:rPr lang="en-US" sz="2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US" sz="2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𝟐</m:t>
                          </m:r>
                        </m:e>
                        <m:sup>
                          <m:r>
                            <a:rPr lang="en-US" sz="2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−</m:t>
                          </m:r>
                          <m:r>
                            <a:rPr lang="en-US" sz="22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200" b="1" baseline="30000" noProof="0" dirty="0">
                  <a:solidFill>
                    <a:srgbClr val="FF0000"/>
                  </a:solidFill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b="1" baseline="30000" noProof="0" dirty="0">
                  <a:solidFill>
                    <a:schemeClr val="accent2"/>
                  </a:solidFill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>
                    <a:cs typeface="Arial" charset="0"/>
                  </a:rPr>
                  <a:t>The number of all pairs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sz="2400" noProof="0" dirty="0">
                    <a:cs typeface="Arial" charset="0"/>
                  </a:rPr>
                  <a:t>is equal to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sz="2400" noProof="0" dirty="0">
                    <a:cs typeface="Arial" charset="0"/>
                  </a:rPr>
                  <a:t>. Therefore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noProof="0" dirty="0">
                  <a:cs typeface="Arial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𝑬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(|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𝑺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|) ≈ </m:t>
                    </m:r>
                    <m:sSup>
                      <m:sSupPr>
                        <m:ctrlP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sSup>
                          <m:sSupPr>
                            <m:ctrlP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pPr>
                          <m:e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400" b="1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𝒏</m:t>
                            </m:r>
                          </m:sup>
                        </m:sSup>
                      </m:sup>
                    </m:sSup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· </m:t>
                    </m:r>
                    <m:sSup>
                      <m:sSupPr>
                        <m:ctrlP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400" b="1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𝒏</m:t>
                        </m:r>
                        <m:r>
                          <a:rPr lang="en-US" sz="24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</m:sup>
                    </m:sSup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 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noProof="0" dirty="0"/>
                  <a:t>.</a:t>
                </a:r>
                <a:endParaRPr lang="en-US" sz="2400" b="1" noProof="0" dirty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b="1" noProof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160" y="1341718"/>
                <a:ext cx="7584290" cy="2891661"/>
              </a:xfrm>
              <a:blipFill>
                <a:blip r:embed="rId3"/>
                <a:stretch>
                  <a:fillRect l="-1338" t="-3930" r="-669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698650" y="1275026"/>
                <a:ext cx="1385316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u="sng" noProof="0" dirty="0">
                    <a:solidFill>
                      <a:srgbClr val="7030A0"/>
                    </a:solidFill>
                  </a:rPr>
                  <a:t>why?</a:t>
                </a:r>
              </a:p>
              <a:p>
                <a:pPr algn="ctr"/>
                <a:r>
                  <a:rPr lang="en-US" sz="2000" noProof="0" dirty="0"/>
                  <a:t>because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baseline="-25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𝑭𝒌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b="1" noProof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noProof="0" dirty="0"/>
                  <a:t>can take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𝟐</m:t>
                      </m:r>
                      <m:r>
                        <a:rPr lang="en-US" sz="20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𝒏</m:t>
                      </m:r>
                    </m:oMath>
                  </m:oMathPara>
                </a14:m>
                <a:endParaRPr lang="en-US" sz="2000" b="1" baseline="30000" noProof="0" dirty="0">
                  <a:solidFill>
                    <a:srgbClr val="FF0000"/>
                  </a:solidFill>
                  <a:cs typeface="Arial" charset="0"/>
                </a:endParaRPr>
              </a:p>
              <a:p>
                <a:pPr algn="ctr"/>
                <a:r>
                  <a:rPr lang="en-US" sz="2000" noProof="0" dirty="0">
                    <a:cs typeface="Arial" charset="0"/>
                  </a:rPr>
                  <a:t>values</a:t>
                </a:r>
                <a:r>
                  <a:rPr lang="en-US" sz="2000" noProof="0" dirty="0"/>
                  <a:t> </a:t>
                </a:r>
              </a:p>
              <a:p>
                <a:pPr algn="ctr"/>
                <a:endParaRPr lang="en-US" sz="2000" noProof="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50" y="1275026"/>
                <a:ext cx="1385316" cy="2246769"/>
              </a:xfrm>
              <a:prstGeom prst="rect">
                <a:avLst/>
              </a:prstGeom>
              <a:blipFill>
                <a:blip r:embed="rId4"/>
                <a:stretch>
                  <a:fillRect t="-1685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ular Callout 21"/>
          <p:cNvSpPr/>
          <p:nvPr/>
        </p:nvSpPr>
        <p:spPr>
          <a:xfrm>
            <a:off x="7715272" y="1203588"/>
            <a:ext cx="1214446" cy="2029683"/>
          </a:xfrm>
          <a:prstGeom prst="wedgeRectCallout">
            <a:avLst>
              <a:gd name="adj1" fmla="val -68435"/>
              <a:gd name="adj2" fmla="val -4243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90948" y="4365813"/>
                <a:ext cx="852274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>
                    <a:cs typeface="Arial" charset="0"/>
                  </a:rPr>
                  <a:t>So we have around </a:t>
                </a:r>
                <a14:m>
                  <m:oMath xmlns:m="http://schemas.openxmlformats.org/officeDocument/2006/math"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𝟐</m:t>
                    </m:r>
                    <m:r>
                      <a:rPr lang="en-US" sz="2400" b="1" i="1" baseline="30000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𝒏</m:t>
                    </m:r>
                  </m:oMath>
                </a14:m>
                <a:r>
                  <a:rPr lang="en-US" sz="2400" b="1" baseline="30000" noProof="0" dirty="0">
                    <a:solidFill>
                      <a:schemeClr val="accent2"/>
                    </a:solidFill>
                    <a:cs typeface="Arial" charset="0"/>
                  </a:rPr>
                  <a:t>  </a:t>
                </a:r>
                <a:r>
                  <a:rPr lang="en-US" sz="2400" noProof="0" dirty="0">
                    <a:cs typeface="Arial" charset="0"/>
                  </a:rPr>
                  <a:t>“candidates” for the correct pair </a:t>
                </a:r>
                <a14:m>
                  <m:oMath xmlns:m="http://schemas.openxmlformats.org/officeDocument/2006/math"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sz="2400" noProof="0" dirty="0">
                    <a:cs typeface="Arial" charset="0"/>
                  </a:rPr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noProof="0" dirty="0"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>
                    <a:cs typeface="Arial" charset="0"/>
                  </a:rPr>
                  <a:t>How to eliminate the “false positives”?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noProof="0" dirty="0">
                  <a:cs typeface="Arial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noProof="0" dirty="0">
                    <a:cs typeface="Arial" charset="0"/>
                  </a:rPr>
                  <a:t>For each “positive” check it against another pair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’,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𝒚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’)</m:t>
                    </m:r>
                  </m:oMath>
                </a14:m>
                <a:r>
                  <a:rPr lang="en-US" sz="2400" noProof="0" dirty="0"/>
                  <a:t>.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48" y="4365813"/>
                <a:ext cx="8522746" cy="1569660"/>
              </a:xfrm>
              <a:prstGeom prst="rect">
                <a:avLst/>
              </a:prstGeom>
              <a:blipFill>
                <a:blip r:embed="rId5"/>
                <a:stretch>
                  <a:fillRect l="-1042" t="-6400" b="-8000"/>
                </a:stretch>
              </a:blipFill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28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21" grpId="0"/>
      <p:bldP spid="22" grpId="0" animBg="1"/>
      <p:bldP spid="8" grpId="0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702" name="Rectangle 6"/>
              <p:cNvSpPr>
                <a:spLocks noChangeArrowheads="1"/>
              </p:cNvSpPr>
              <p:nvPr/>
            </p:nvSpPr>
            <p:spPr bwMode="auto">
              <a:xfrm>
                <a:off x="428596" y="4929198"/>
                <a:ext cx="8286776" cy="121444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square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noProof="0" dirty="0">
                    <a:cs typeface="Arial" charset="0"/>
                  </a:rPr>
                  <a:t>An additional pair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’’,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𝒚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’’) </m:t>
                    </m:r>
                  </m:oMath>
                </a14:m>
                <a:r>
                  <a:rPr lang="en-US" sz="2800" noProof="0" dirty="0">
                    <a:cs typeface="Arial" charset="0"/>
                  </a:rPr>
                  <a:t>allows to eliminate the false positive.</a:t>
                </a:r>
              </a:p>
            </p:txBody>
          </p:sp>
        </mc:Choice>
        <mc:Fallback>
          <p:sp>
            <p:nvSpPr>
              <p:cNvPr id="2970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4929198"/>
                <a:ext cx="8286776" cy="12144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701" name="Rectangle 5"/>
              <p:cNvSpPr>
                <a:spLocks noChangeArrowheads="1"/>
              </p:cNvSpPr>
              <p:nvPr/>
            </p:nvSpPr>
            <p:spPr bwMode="auto">
              <a:xfrm>
                <a:off x="428596" y="3286124"/>
                <a:ext cx="8358246" cy="128588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square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noProof="0" dirty="0">
                    <a:cs typeface="Arial" charset="0"/>
                  </a:rPr>
                  <a:t>Hence, the expected number of “false positives” is around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𝟐</m:t>
                      </m:r>
                      <m:r>
                        <a:rPr lang="en-US" sz="28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𝟐</m:t>
                      </m:r>
                      <m:r>
                        <a:rPr lang="en-US" sz="28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𝒏</m:t>
                      </m:r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· </m:t>
                      </m:r>
                      <m:sSup>
                        <m:sSupPr>
                          <m:ctrlP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𝟐</m:t>
                          </m:r>
                        </m:e>
                        <m:sup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−</m:t>
                          </m:r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𝟐</m:t>
                          </m:r>
                          <m:r>
                            <a:rPr lang="en-US" sz="2800" b="1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𝒏</m:t>
                          </m:r>
                        </m:sup>
                      </m:sSup>
                      <m:r>
                        <a:rPr lang="en-US" sz="2800" b="1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= </m:t>
                      </m:r>
                      <m:r>
                        <a:rPr lang="en-US" sz="28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𝟏</m:t>
                      </m:r>
                    </m:oMath>
                  </m:oMathPara>
                </a14:m>
                <a:endParaRPr lang="en-US" sz="2800" b="1" noProof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</mc:Choice>
        <mc:Fallback>
          <p:sp>
            <p:nvSpPr>
              <p:cNvPr id="2970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3286124"/>
                <a:ext cx="8358246" cy="12858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700" name="Rectangle 4"/>
              <p:cNvSpPr>
                <a:spLocks noChangeArrowheads="1"/>
              </p:cNvSpPr>
              <p:nvPr/>
            </p:nvSpPr>
            <p:spPr bwMode="auto">
              <a:xfrm>
                <a:off x="428596" y="1357298"/>
                <a:ext cx="8358246" cy="155733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 wrap="square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noProof="0" dirty="0"/>
                  <a:t>The probability that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sz="2800" noProof="0" dirty="0"/>
                  <a:t>is a false positive for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noProof="0" dirty="0"/>
                  <a:t>and for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’,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 </m:t>
                    </m:r>
                  </m:oMath>
                </a14:m>
                <a:r>
                  <a:rPr lang="en-US" sz="2800" noProof="0" dirty="0"/>
                  <a:t>is around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noProof="0" dirty="0"/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· </m:t>
                    </m:r>
                    <m:sSup>
                      <m:sSupPr>
                        <m:ctrlP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𝒏</m:t>
                        </m:r>
                      </m:sup>
                    </m:sSup>
                    <m:r>
                      <a:rPr lang="en-US" sz="2800" b="1" i="1" baseline="30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  <m:r>
                      <a:rPr lang="en-US" sz="28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 </m:t>
                    </m:r>
                    <m:sSup>
                      <m:sSupPr>
                        <m:ctrlP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pPr>
                      <m:e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−</m:t>
                        </m:r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  <m:r>
                          <a:rPr lang="en-US" sz="280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800" noProof="0" dirty="0">
                    <a:cs typeface="Arial" charset="0"/>
                  </a:rPr>
                  <a:t>.</a:t>
                </a:r>
              </a:p>
            </p:txBody>
          </p:sp>
        </mc:Choice>
        <mc:Fallback>
          <p:sp>
            <p:nvSpPr>
              <p:cNvPr id="2970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1357298"/>
                <a:ext cx="8358246" cy="15573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1465" y="-54158"/>
            <a:ext cx="8229600" cy="1143000"/>
          </a:xfrm>
        </p:spPr>
        <p:txBody>
          <a:bodyPr/>
          <a:lstStyle/>
          <a:p>
            <a:r>
              <a:rPr lang="en-US" sz="3200" noProof="0" dirty="0"/>
              <a:t>Meet-in-the middle attack – analysis [2/2]</a:t>
            </a:r>
          </a:p>
        </p:txBody>
      </p:sp>
    </p:spTree>
    <p:extLst>
      <p:ext uri="{BB962C8B-B14F-4D97-AF65-F5344CB8AC3E}">
        <p14:creationId xmlns:p14="http://schemas.microsoft.com/office/powerpoint/2010/main" val="220083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/>
      <p:bldP spid="29701" grpId="0" animBg="1"/>
      <p:bldP spid="29700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671" name="Rectangle 23"/>
              <p:cNvSpPr>
                <a:spLocks noChangeArrowheads="1"/>
              </p:cNvSpPr>
              <p:nvPr/>
            </p:nvSpPr>
            <p:spPr bwMode="auto">
              <a:xfrm>
                <a:off x="0" y="1295400"/>
                <a:ext cx="9144000" cy="990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342900" indent="-342900" algn="ct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8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8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8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sz="28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71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295400"/>
                <a:ext cx="9144000" cy="990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noProof="0" dirty="0"/>
              <a:t>A much better idea: triple encryption</a:t>
            </a:r>
            <a:br>
              <a:rPr lang="en-US" sz="4000" noProof="0" dirty="0"/>
            </a:br>
            <a:endParaRPr lang="en-US" sz="40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53" name="Text Box 5"/>
              <p:cNvSpPr txBox="1">
                <a:spLocks noChangeArrowheads="1"/>
              </p:cNvSpPr>
              <p:nvPr/>
            </p:nvSpPr>
            <p:spPr bwMode="auto">
              <a:xfrm>
                <a:off x="723900" y="2752209"/>
                <a:ext cx="838200" cy="138499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5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900" y="2752209"/>
                <a:ext cx="838200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54" name="Text Box 6"/>
              <p:cNvSpPr txBox="1">
                <a:spLocks noChangeArrowheads="1"/>
              </p:cNvSpPr>
              <p:nvPr/>
            </p:nvSpPr>
            <p:spPr bwMode="auto">
              <a:xfrm>
                <a:off x="861060" y="4685975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5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060" y="4685975"/>
                <a:ext cx="457200" cy="369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55" name="Text Box 7"/>
              <p:cNvSpPr txBox="1">
                <a:spLocks noChangeArrowheads="1"/>
              </p:cNvSpPr>
              <p:nvPr/>
            </p:nvSpPr>
            <p:spPr bwMode="auto">
              <a:xfrm>
                <a:off x="2954654" y="2814538"/>
                <a:ext cx="914400" cy="129266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5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4654" y="2814538"/>
                <a:ext cx="914400" cy="12926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56" name="Text Box 8"/>
              <p:cNvSpPr txBox="1">
                <a:spLocks noChangeArrowheads="1"/>
              </p:cNvSpPr>
              <p:nvPr/>
            </p:nvSpPr>
            <p:spPr bwMode="auto">
              <a:xfrm>
                <a:off x="3168650" y="4685974"/>
                <a:ext cx="511810" cy="369889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5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8650" y="4685974"/>
                <a:ext cx="511810" cy="3698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7" name="Line 9"/>
          <p:cNvSpPr>
            <a:spLocks noChangeShapeType="1"/>
          </p:cNvSpPr>
          <p:nvPr/>
        </p:nvSpPr>
        <p:spPr bwMode="auto">
          <a:xfrm flipH="1" flipV="1">
            <a:off x="1089660" y="4135946"/>
            <a:ext cx="19050" cy="5500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 flipV="1">
            <a:off x="3412490" y="4107196"/>
            <a:ext cx="1269" cy="5787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59" name="Text Box 11"/>
              <p:cNvSpPr txBox="1">
                <a:spLocks noChangeArrowheads="1"/>
              </p:cNvSpPr>
              <p:nvPr/>
            </p:nvSpPr>
            <p:spPr bwMode="auto">
              <a:xfrm>
                <a:off x="100536" y="3263214"/>
                <a:ext cx="351378" cy="362984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5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536" y="3263214"/>
                <a:ext cx="351378" cy="362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451914" y="3450125"/>
            <a:ext cx="2719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1562100" y="3460869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3869054" y="3452031"/>
            <a:ext cx="1769746" cy="8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63" name="Text Box 15"/>
              <p:cNvSpPr txBox="1">
                <a:spLocks noChangeArrowheads="1"/>
              </p:cNvSpPr>
              <p:nvPr/>
            </p:nvSpPr>
            <p:spPr bwMode="auto">
              <a:xfrm>
                <a:off x="1803092" y="3255472"/>
                <a:ext cx="910570" cy="393121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6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3092" y="3255472"/>
                <a:ext cx="910570" cy="3931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64" name="Text Box 16"/>
              <p:cNvSpPr txBox="1">
                <a:spLocks noChangeArrowheads="1"/>
              </p:cNvSpPr>
              <p:nvPr/>
            </p:nvSpPr>
            <p:spPr bwMode="auto">
              <a:xfrm>
                <a:off x="5638800" y="2895600"/>
                <a:ext cx="914400" cy="129266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en-US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sz="2400" b="1" noProof="0" dirty="0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sz="24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6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2895600"/>
                <a:ext cx="914400" cy="12926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65" name="Text Box 17"/>
              <p:cNvSpPr txBox="1">
                <a:spLocks noChangeArrowheads="1"/>
              </p:cNvSpPr>
              <p:nvPr/>
            </p:nvSpPr>
            <p:spPr bwMode="auto">
              <a:xfrm>
                <a:off x="3962400" y="3207433"/>
                <a:ext cx="1494951" cy="506870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  <m:sup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d>
                        <m:d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6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3207433"/>
                <a:ext cx="1494951" cy="506870"/>
              </a:xfrm>
              <a:prstGeom prst="rect">
                <a:avLst/>
              </a:prstGeom>
              <a:blipFill>
                <a:blip r:embed="rId11"/>
                <a:stretch>
                  <a:fillRect l="-84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66" name="Text Box 18"/>
              <p:cNvSpPr txBox="1">
                <a:spLocks noChangeArrowheads="1"/>
              </p:cNvSpPr>
              <p:nvPr/>
            </p:nvSpPr>
            <p:spPr bwMode="auto">
              <a:xfrm>
                <a:off x="5852160" y="4685975"/>
                <a:ext cx="457200" cy="369888"/>
              </a:xfrm>
              <a:prstGeom prst="rect">
                <a:avLst/>
              </a:prstGeom>
              <a:solidFill>
                <a:srgbClr val="D1DC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baseline="-2500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noProof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66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2160" y="4685975"/>
                <a:ext cx="457200" cy="3698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67" name="Line 19"/>
          <p:cNvSpPr>
            <a:spLocks noChangeShapeType="1"/>
          </p:cNvSpPr>
          <p:nvPr/>
        </p:nvSpPr>
        <p:spPr bwMode="auto">
          <a:xfrm flipH="1" flipV="1">
            <a:off x="6080759" y="4203136"/>
            <a:ext cx="5715" cy="4828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6553200" y="34501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69" name="Text Box 21"/>
              <p:cNvSpPr txBox="1">
                <a:spLocks noChangeArrowheads="1"/>
              </p:cNvSpPr>
              <p:nvPr/>
            </p:nvSpPr>
            <p:spPr bwMode="auto">
              <a:xfrm>
                <a:off x="6934200" y="3160957"/>
                <a:ext cx="2106930" cy="582147"/>
              </a:xfrm>
              <a:prstGeom prst="rect">
                <a:avLst/>
              </a:prstGeom>
              <a:solidFill>
                <a:srgbClr val="FAFFC9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b="1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766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3160957"/>
                <a:ext cx="2106930" cy="582147"/>
              </a:xfrm>
              <a:prstGeom prst="rect">
                <a:avLst/>
              </a:prstGeom>
              <a:blipFill>
                <a:blip r:embed="rId13"/>
                <a:stretch>
                  <a:fillRect l="-599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70" name="Text Box 22"/>
              <p:cNvSpPr txBox="1">
                <a:spLocks noChangeArrowheads="1"/>
              </p:cNvSpPr>
              <p:nvPr/>
            </p:nvSpPr>
            <p:spPr bwMode="auto">
              <a:xfrm>
                <a:off x="593725" y="5780088"/>
                <a:ext cx="280019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400" noProof="0" dirty="0"/>
                  <a:t>Sometimes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baseline="-2500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noProof="0" dirty="0">
                    <a:solidFill>
                      <a:srgbClr val="9933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767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25" y="5780088"/>
                <a:ext cx="2800190" cy="523220"/>
              </a:xfrm>
              <a:prstGeom prst="rect">
                <a:avLst/>
              </a:prstGeom>
              <a:blipFill>
                <a:blip r:embed="rId14"/>
                <a:stretch>
                  <a:fillRect l="-3153" t="-14286" r="-3604" b="-2857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46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/>
              <a:t>Triple DES (3DES) is a standard cipher.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noProof="0" dirty="0"/>
          </a:p>
          <a:p>
            <a:pPr>
              <a:buFontTx/>
              <a:buNone/>
            </a:pPr>
            <a:r>
              <a:rPr lang="en-US" noProof="0" dirty="0"/>
              <a:t>Disadvantages:</a:t>
            </a:r>
          </a:p>
          <a:p>
            <a:pPr>
              <a:buFontTx/>
              <a:buNone/>
            </a:pPr>
            <a:endParaRPr lang="en-US" noProof="0" dirty="0"/>
          </a:p>
          <a:p>
            <a:r>
              <a:rPr lang="en-US" noProof="0" dirty="0"/>
              <a:t>rather slow,</a:t>
            </a:r>
          </a:p>
          <a:p>
            <a:endParaRPr lang="en-US" noProof="0" dirty="0"/>
          </a:p>
          <a:p>
            <a:r>
              <a:rPr lang="en-US" noProof="0" dirty="0"/>
              <a:t>small block size.</a:t>
            </a:r>
          </a:p>
        </p:txBody>
      </p:sp>
    </p:spTree>
    <p:extLst>
      <p:ext uri="{BB962C8B-B14F-4D97-AF65-F5344CB8AC3E}">
        <p14:creationId xmlns:p14="http://schemas.microsoft.com/office/powerpoint/2010/main" val="351857878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71" y="50977"/>
            <a:ext cx="7886700" cy="1325563"/>
          </a:xfrm>
        </p:spPr>
        <p:txBody>
          <a:bodyPr/>
          <a:lstStyle/>
          <a:p>
            <a:r>
              <a:rPr lang="en-US" noProof="0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40" y="912126"/>
            <a:ext cx="6572296" cy="540044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Computational definitions of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If </a:t>
            </a:r>
            <a:r>
              <a:rPr lang="en-US" noProof="0" dirty="0">
                <a:solidFill>
                  <a:schemeClr val="tx1"/>
                </a:solidFill>
              </a:rPr>
              <a:t>semantically-secure encryption exists, then </a:t>
            </a:r>
            <a:r>
              <a:rPr lang="en-US" b="1" noProof="0" dirty="0">
                <a:solidFill>
                  <a:srgbClr val="FF0000"/>
                </a:solidFill>
              </a:rPr>
              <a:t>P ≠ NP </a:t>
            </a:r>
            <a:endParaRPr lang="en-US" noProof="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proof that “the PRGs imply secure encryption”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Theoretical constructions of PRGs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Stream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Pseudorandom functions and permutations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Block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noProof="0" dirty="0"/>
              <a:t>Practical considerations</a:t>
            </a:r>
            <a:endParaRPr lang="en-US" noProof="0" dirty="0"/>
          </a:p>
        </p:txBody>
      </p:sp>
      <p:sp>
        <p:nvSpPr>
          <p:cNvPr id="4" name="Left Arrow 3"/>
          <p:cNvSpPr/>
          <p:nvPr/>
        </p:nvSpPr>
        <p:spPr>
          <a:xfrm flipH="1">
            <a:off x="759214" y="5580411"/>
            <a:ext cx="1214446" cy="575747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3169131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Benchmarks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793792"/>
              </p:ext>
            </p:extLst>
          </p:nvPr>
        </p:nvGraphicFramePr>
        <p:xfrm>
          <a:off x="1907704" y="1052736"/>
          <a:ext cx="6563072" cy="39311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Algorithm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MiB/Second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Cycles Per Byte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Salsa20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2.7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 err="1">
                          <a:effectLst/>
                        </a:rPr>
                        <a:t>Sosemanuk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727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2.4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AES/CTR (128-bit key)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139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12.6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AES/CTR (192-bit key)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113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15.4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AES/CTR (256-bit key)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96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18.2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AES/CBC (128-bit key)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109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16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AES/CBC (192-bit key)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92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18.9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AES/CBC (256-bit key)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80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21.7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DES/CTR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32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54.7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4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DES-EDE3/CTR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13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noProof="0" dirty="0">
                          <a:effectLst/>
                        </a:rPr>
                        <a:t>134.5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638" marR="4638" marT="4638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5517232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Source: </a:t>
            </a:r>
            <a:r>
              <a:rPr lang="en-US" noProof="0" dirty="0" err="1"/>
              <a:t>www.cryptopp.com</a:t>
            </a:r>
            <a:r>
              <a:rPr lang="en-US" noProof="0" dirty="0"/>
              <a:t>/</a:t>
            </a:r>
            <a:r>
              <a:rPr lang="en-US" noProof="0" dirty="0" err="1"/>
              <a:t>benchmarks.html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All algorithms coded in C++, compiled with Microsoft Visual C++ 2005 SP1 (whole program optimization, optimize for speed), and ran on an Intel Core 2 1.83 GHz processor under Windows Vista in 32-bit mode.</a:t>
            </a:r>
          </a:p>
        </p:txBody>
      </p:sp>
      <p:sp>
        <p:nvSpPr>
          <p:cNvPr id="7" name="Left Brace 6"/>
          <p:cNvSpPr/>
          <p:nvPr/>
        </p:nvSpPr>
        <p:spPr>
          <a:xfrm>
            <a:off x="1403648" y="2204864"/>
            <a:ext cx="432048" cy="2922250"/>
          </a:xfrm>
          <a:prstGeom prst="leftBrace">
            <a:avLst>
              <a:gd name="adj1" fmla="val 4319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eft Brace 7"/>
          <p:cNvSpPr/>
          <p:nvPr/>
        </p:nvSpPr>
        <p:spPr>
          <a:xfrm>
            <a:off x="1390923" y="1412776"/>
            <a:ext cx="432048" cy="720080"/>
          </a:xfrm>
          <a:prstGeom prst="leftBrace">
            <a:avLst>
              <a:gd name="adj1" fmla="val 4319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31325" y="1578858"/>
            <a:ext cx="83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444" y="3491716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254059829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Hardware implementations of AES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noProof="0" dirty="0">
                <a:solidFill>
                  <a:srgbClr val="00B050"/>
                </a:solidFill>
              </a:rPr>
              <a:t>(taken from J Daemen, V </a:t>
            </a:r>
            <a:r>
              <a:rPr lang="en-US" b="1" noProof="0" dirty="0" err="1">
                <a:solidFill>
                  <a:srgbClr val="00B050"/>
                </a:solidFill>
              </a:rPr>
              <a:t>Rijmen</a:t>
            </a:r>
            <a:r>
              <a:rPr lang="en-US" b="1" noProof="0" dirty="0">
                <a:solidFill>
                  <a:srgbClr val="00B050"/>
                </a:solidFill>
              </a:rPr>
              <a:t> The design of Rijndael, 2001):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Example of a hardware record:</a:t>
            </a:r>
          </a:p>
          <a:p>
            <a:pPr marL="0" indent="0">
              <a:buNone/>
            </a:pPr>
            <a:r>
              <a:rPr lang="en-US" noProof="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864" t="33623" r="30628" b="55176"/>
          <a:stretch/>
        </p:blipFill>
        <p:spPr>
          <a:xfrm>
            <a:off x="539552" y="4149080"/>
            <a:ext cx="7393296" cy="12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7654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/>
              <a:t>Stream ciphers vs. block ciphers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Stream ciphers are a </a:t>
            </a:r>
            <a:r>
              <a:rPr lang="en-US" b="1" noProof="0" dirty="0">
                <a:solidFill>
                  <a:srgbClr val="008000"/>
                </a:solidFill>
              </a:rPr>
              <a:t>bit more efficient</a:t>
            </a:r>
            <a:r>
              <a:rPr lang="en-US" noProof="0" dirty="0"/>
              <a:t>.</a:t>
            </a:r>
          </a:p>
          <a:p>
            <a:r>
              <a:rPr lang="en-US" noProof="0" dirty="0"/>
              <a:t>But they appear to be “</a:t>
            </a:r>
            <a:r>
              <a:rPr lang="en-US" b="1" noProof="0" dirty="0">
                <a:solidFill>
                  <a:srgbClr val="7030A0"/>
                </a:solidFill>
              </a:rPr>
              <a:t>less secure</a:t>
            </a:r>
            <a:r>
              <a:rPr lang="en-US" noProof="0" dirty="0"/>
              <a:t>”.</a:t>
            </a:r>
          </a:p>
          <a:p>
            <a:r>
              <a:rPr lang="en-US" noProof="0" dirty="0"/>
              <a:t>It is easier to misuse them (use the same stream twice).</a:t>
            </a:r>
          </a:p>
          <a:p>
            <a:r>
              <a:rPr lang="en-US" noProof="0" dirty="0"/>
              <a:t>If you encrypt a stream of data, you can always use a block cipher in a </a:t>
            </a:r>
            <a:r>
              <a:rPr lang="en-US" b="1" noProof="0" dirty="0"/>
              <a:t>CTR</a:t>
            </a:r>
            <a:r>
              <a:rPr lang="en-US" noProof="0" dirty="0"/>
              <a:t> mode.</a:t>
            </a:r>
          </a:p>
          <a:p>
            <a:r>
              <a:rPr lang="en-US" noProof="0" dirty="0"/>
              <a:t>Probably at the moment </a:t>
            </a:r>
            <a:r>
              <a:rPr lang="en-US" b="1" noProof="0" dirty="0">
                <a:solidFill>
                  <a:srgbClr val="FF0000"/>
                </a:solidFill>
              </a:rPr>
              <a:t>block ciphers are a better choice </a:t>
            </a:r>
            <a:r>
              <a:rPr lang="en-US" noProof="0" dirty="0"/>
              <a:t>for most of the applications.</a:t>
            </a:r>
          </a:p>
          <a:p>
            <a:endParaRPr lang="en-US" b="1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0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©</a:t>
            </a: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2026 by Stefan Dziembowski. Permission to make digital or hard copies of part or all of this material is currently granted without fee </a:t>
            </a:r>
            <a:r>
              <a:rPr lang="en-US" i="1" noProof="0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40472</TotalTime>
  <Words>10583</Words>
  <Application>Microsoft Macintosh PowerPoint</Application>
  <PresentationFormat>Pokaz na ekranie (4:3)</PresentationFormat>
  <Paragraphs>2406</Paragraphs>
  <Slides>176</Slides>
  <Notes>137</Notes>
  <HiddenSlides>0</HiddenSlides>
  <MMClips>0</MMClips>
  <ScaleCrop>false</ScaleCrop>
  <HeadingPairs>
    <vt:vector size="6" baseType="variant">
      <vt:variant>
        <vt:lpstr>Używane czcionki</vt:lpstr>
      </vt:variant>
      <vt:variant>
        <vt:i4>11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176</vt:i4>
      </vt:variant>
    </vt:vector>
  </HeadingPairs>
  <TitlesOfParts>
    <vt:vector size="188" baseType="lpstr">
      <vt:lpstr>ＭＳ Ｐゴシック</vt:lpstr>
      <vt:lpstr>Arial</vt:lpstr>
      <vt:lpstr>Calibri</vt:lpstr>
      <vt:lpstr>Cambria</vt:lpstr>
      <vt:lpstr>Cambria Math</vt:lpstr>
      <vt:lpstr>Cmsy10</vt:lpstr>
      <vt:lpstr>Lucida Calligraphy</vt:lpstr>
      <vt:lpstr>Mistral</vt:lpstr>
      <vt:lpstr>SFRM1095</vt:lpstr>
      <vt:lpstr>Symbol</vt:lpstr>
      <vt:lpstr>Times New Roman</vt:lpstr>
      <vt:lpstr>Office Theme</vt:lpstr>
      <vt:lpstr>Chapter 2  Symmetric Encryption</vt:lpstr>
      <vt:lpstr>Plan</vt:lpstr>
      <vt:lpstr>How to change the security definition?</vt:lpstr>
      <vt:lpstr>A game</vt:lpstr>
      <vt:lpstr>Testing the definition</vt:lpstr>
      <vt:lpstr>Multiple messages</vt:lpstr>
      <vt:lpstr>A real-life example</vt:lpstr>
      <vt:lpstr>A chosen-plaintext attack (CPA)</vt:lpstr>
      <vt:lpstr>CPA-security</vt:lpstr>
      <vt:lpstr>Observation</vt:lpstr>
      <vt:lpstr>Other attacks known in the literature</vt:lpstr>
      <vt:lpstr>Plan</vt:lpstr>
      <vt:lpstr>Is it possible to prove security?</vt:lpstr>
      <vt:lpstr>Moral: “If P=NP, then the semantically-secure encryption is broken” </vt:lpstr>
      <vt:lpstr>Prezentacja programu PowerPoint</vt:lpstr>
      <vt:lpstr>What can we prove?</vt:lpstr>
      <vt:lpstr>Research program in cryptography</vt:lpstr>
      <vt:lpstr>Example</vt:lpstr>
      <vt:lpstr>A natural question</vt:lpstr>
      <vt:lpstr>One-way functions</vt:lpstr>
      <vt:lpstr>A real-life analogue: phone book</vt:lpstr>
      <vt:lpstr>One way functions do not “hide all the input”</vt:lpstr>
      <vt:lpstr>One way-functions – main properties</vt:lpstr>
      <vt:lpstr>Why “minimal assumption?</vt:lpstr>
      <vt:lpstr>One-way functions more formally</vt:lpstr>
      <vt:lpstr>Example of a (candidate for) a one-way function</vt:lpstr>
      <vt:lpstr>Plan</vt:lpstr>
      <vt:lpstr>Our tool: pseudorandomness</vt:lpstr>
      <vt:lpstr>Intution</vt:lpstr>
      <vt:lpstr>Pseudorandom generators</vt:lpstr>
      <vt:lpstr>Idea</vt:lpstr>
      <vt:lpstr>“Looks random”</vt:lpstr>
      <vt:lpstr>“Looks random”</vt:lpstr>
      <vt:lpstr>Non-cryptographic PRGs</vt:lpstr>
      <vt:lpstr>How to break an LRS</vt:lpstr>
      <vt:lpstr>PRG – main idea of the definition</vt:lpstr>
      <vt:lpstr>Cryptographic PRG</vt:lpstr>
      <vt:lpstr>Constructions</vt:lpstr>
      <vt:lpstr>Theorem</vt:lpstr>
      <vt:lpstr>Prezentacja programu PowerPoint</vt:lpstr>
      <vt:lpstr>Prezentacja programu PowerPoint</vt:lpstr>
      <vt:lpstr>Prezentacja programu PowerPoint</vt:lpstr>
      <vt:lpstr>Prezentacja programu PowerPoint</vt:lpstr>
      <vt:lpstr>The complexity</vt:lpstr>
      <vt:lpstr>Moral</vt:lpstr>
      <vt:lpstr>A question</vt:lpstr>
      <vt:lpstr>General rule</vt:lpstr>
      <vt:lpstr>Constructions of PRGs</vt:lpstr>
      <vt:lpstr>Plan</vt:lpstr>
      <vt:lpstr>How to encrypt with one-way functions?</vt:lpstr>
      <vt:lpstr>One of the most fundamental results in symmetric cryptography</vt:lpstr>
      <vt:lpstr>Why is this result so important?</vt:lpstr>
      <vt:lpstr>The implication also holds in the other direction</vt:lpstr>
      <vt:lpstr>“Minicrypt”</vt:lpstr>
      <vt:lpstr>Plan</vt:lpstr>
      <vt:lpstr>Stream ciphers</vt:lpstr>
      <vt:lpstr>How to encrypt multiple messages using pseudorandom generators?</vt:lpstr>
      <vt:lpstr>Misuse of RC4 in Microsoft Office [Hongjun Wu 2005]</vt:lpstr>
      <vt:lpstr>What to do?</vt:lpstr>
      <vt:lpstr>How to encrypt several messages</vt:lpstr>
      <vt:lpstr>Unsynchronized mode</vt:lpstr>
      <vt:lpstr>We need an “augmented” PRG</vt:lpstr>
      <vt:lpstr>How to construct such a PRG?</vt:lpstr>
      <vt:lpstr>Popular historical stream ciphers</vt:lpstr>
      <vt:lpstr>RC4</vt:lpstr>
      <vt:lpstr>RC4 – an overview</vt:lpstr>
      <vt:lpstr>RC4</vt:lpstr>
      <vt:lpstr>Problems with RC4</vt:lpstr>
      <vt:lpstr>Use of RC4 in WEP</vt:lpstr>
      <vt:lpstr>RC4 in WEP – problems with the key length</vt:lpstr>
      <vt:lpstr>RC4 in WEP – the weak IVs</vt:lpstr>
      <vt:lpstr>Another attack</vt:lpstr>
      <vt:lpstr>RC4 forbidden in TLS</vt:lpstr>
      <vt:lpstr>Competitions for new stream ciphers</vt:lpstr>
      <vt:lpstr>Salsa 20</vt:lpstr>
      <vt:lpstr>How is H defined?</vt:lpstr>
      <vt:lpstr>Is there an alternative to the stream ciphers?</vt:lpstr>
      <vt:lpstr>Plan</vt:lpstr>
      <vt:lpstr>A common way of constructing “ciphers”</vt:lpstr>
      <vt:lpstr>How to model them formally?</vt:lpstr>
      <vt:lpstr>Random permutations</vt:lpstr>
      <vt:lpstr>Note</vt:lpstr>
      <vt:lpstr>Can this box be simulated in real life?</vt:lpstr>
      <vt:lpstr>That’s why pseudorandom</vt:lpstr>
      <vt:lpstr>Keyed permutations</vt:lpstr>
      <vt:lpstr>Pseudorandom permutations</vt:lpstr>
      <vt:lpstr>Scenario 0</vt:lpstr>
      <vt:lpstr>Scenario 1</vt:lpstr>
      <vt:lpstr>Pseudorandom permutations – the definition</vt:lpstr>
      <vt:lpstr>Strong pseudorandom permutations</vt:lpstr>
      <vt:lpstr>PRFs vs PRP</vt:lpstr>
      <vt:lpstr>Terminology</vt:lpstr>
      <vt:lpstr>Another way to look at the stream ciphers :</vt:lpstr>
      <vt:lpstr>Block ciphers:</vt:lpstr>
      <vt:lpstr>An additional property of the block ciphers </vt:lpstr>
      <vt:lpstr>Popular block ciphers</vt:lpstr>
      <vt:lpstr>How to encrypt using the block ciphers?</vt:lpstr>
      <vt:lpstr>Plan</vt:lpstr>
      <vt:lpstr>Block cipher modes of operation</vt:lpstr>
      <vt:lpstr>Electronic Codebook mode</vt:lpstr>
      <vt:lpstr>This mode was used in the past.</vt:lpstr>
      <vt:lpstr>Cipher-Block Chaining (CBC)</vt:lpstr>
      <vt:lpstr>Cipher-Block Chaining (CBC)</vt:lpstr>
      <vt:lpstr>CBC mode – properties </vt:lpstr>
      <vt:lpstr>CBC mode is secure</vt:lpstr>
      <vt:lpstr>How to convert a pseudorandom permutation into a pseudorandom generator?</vt:lpstr>
      <vt:lpstr>How to “randomize” this?</vt:lpstr>
      <vt:lpstr>CTR mode – properties </vt:lpstr>
      <vt:lpstr>One more member of minicrypt!</vt:lpstr>
      <vt:lpstr>There are many constructions of block ciphers that are believed to be secure</vt:lpstr>
      <vt:lpstr>Plan</vt:lpstr>
      <vt:lpstr>Block ciphers – typical requirements</vt:lpstr>
      <vt:lpstr>Block ciphers – more “informal” requirements </vt:lpstr>
      <vt:lpstr>Block ciphers –advanced security requirements</vt:lpstr>
      <vt:lpstr>A very popular paradigm: iterated ciphers</vt:lpstr>
      <vt:lpstr>Popular types of iterated ciphers</vt:lpstr>
      <vt:lpstr>Plan</vt:lpstr>
      <vt:lpstr>Feistel ciphers</vt:lpstr>
      <vt:lpstr>DES (Digital Encryption Standard)</vt:lpstr>
      <vt:lpstr>History of DES</vt:lpstr>
      <vt:lpstr>Criticism of DES</vt:lpstr>
      <vt:lpstr>Security of DES</vt:lpstr>
      <vt:lpstr>The role of NSA</vt:lpstr>
      <vt:lpstr>Brute-force attacks on DES</vt:lpstr>
      <vt:lpstr>Prezentacja programu PowerPoint</vt:lpstr>
      <vt:lpstr>Theoretical attacks on DES – differential cryptoanalysis  </vt:lpstr>
      <vt:lpstr>Differential cryptoanalysis – an interesting observation</vt:lpstr>
      <vt:lpstr>Prezentacja programu PowerPoint</vt:lpstr>
      <vt:lpstr>Theoretical attacks on DES – linear cryptoanalysis</vt:lpstr>
      <vt:lpstr>Prezentacja programu PowerPoint</vt:lpstr>
      <vt:lpstr>A nice propery of Feistel rounds</vt:lpstr>
      <vt:lpstr>Prezentacja programu PowerPoint</vt:lpstr>
      <vt:lpstr>Prezentacja programu PowerPoint</vt:lpstr>
      <vt:lpstr>How to decrypt?</vt:lpstr>
      <vt:lpstr>Feistel networks are also studied by the theoreticians</vt:lpstr>
      <vt:lpstr>How is the Feistel network used in DES?</vt:lpstr>
      <vt:lpstr>Prezentacja programu PowerPoint</vt:lpstr>
      <vt:lpstr>DES – the conclusion</vt:lpstr>
      <vt:lpstr>One practical weakness of Feistel networks</vt:lpstr>
      <vt:lpstr>Plan</vt:lpstr>
      <vt:lpstr>Substitution-permutation networks</vt:lpstr>
      <vt:lpstr>Advanced Encryption Standard (AES)</vt:lpstr>
      <vt:lpstr>Substitution-permutation networks</vt:lpstr>
      <vt:lpstr>To invert: invert the order and apply F^(-1) instead of F.</vt:lpstr>
      <vt:lpstr>A construction of F</vt:lpstr>
      <vt:lpstr>How to construct F^(-1)?</vt:lpstr>
      <vt:lpstr>Transformation T in AES</vt:lpstr>
      <vt:lpstr>Main challenge</vt:lpstr>
      <vt:lpstr>Groups</vt:lpstr>
      <vt:lpstr>Additive/multiplicative notation</vt:lpstr>
      <vt:lpstr>Fields</vt:lpstr>
      <vt:lpstr>How to define a “field over bytes”?</vt:lpstr>
      <vt:lpstr>How to extend ({0,1}^n,+) to a field? </vt:lpstr>
      <vt:lpstr>How to multiply?</vt:lpstr>
      <vt:lpstr>AES field</vt:lpstr>
      <vt:lpstr>First step of SubBytes</vt:lpstr>
      <vt:lpstr>Another observation</vt:lpstr>
      <vt:lpstr>Complete SubBytes</vt:lpstr>
      <vt:lpstr>ShiftRows</vt:lpstr>
      <vt:lpstr>MixColumns</vt:lpstr>
      <vt:lpstr>AES construction – more details</vt:lpstr>
      <vt:lpstr>Plan</vt:lpstr>
      <vt:lpstr>An idea</vt:lpstr>
      <vt:lpstr>How to increase the key size?</vt:lpstr>
      <vt:lpstr>Double encryption</vt:lpstr>
      <vt:lpstr>Meet-in-the middle attack – the idea</vt:lpstr>
      <vt:lpstr>Meet-in-the middle attack – the algorithm</vt:lpstr>
      <vt:lpstr>Meet-in-the middle attack – analysis [1/2] </vt:lpstr>
      <vt:lpstr>Meet-in-the middle attack – analysis [2/2]</vt:lpstr>
      <vt:lpstr>A much better idea: triple encryption </vt:lpstr>
      <vt:lpstr>Triple DES (3DES) is a standard cipher.</vt:lpstr>
      <vt:lpstr>Plan</vt:lpstr>
      <vt:lpstr>Benchmarks</vt:lpstr>
      <vt:lpstr>Hardware implementations of AES</vt:lpstr>
      <vt:lpstr>Stream ciphers vs. block ciphers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495</cp:revision>
  <cp:lastPrinted>2026-10-19T14:29:48Z</cp:lastPrinted>
  <dcterms:created xsi:type="dcterms:W3CDTF">2015-07-03T16:44:25Z</dcterms:created>
  <dcterms:modified xsi:type="dcterms:W3CDTF">2026-10-26T10:50:29Z</dcterms:modified>
</cp:coreProperties>
</file>